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78" r:id="rId3"/>
    <p:sldId id="277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8BEB-8E73-63B4-D48C-5EF2B2FBF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1A110-AC61-178B-93F6-8C5A61007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2E03-835D-826C-BE0F-ED11B165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CAC3-5D2B-21C0-3599-1B235B8C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53B7F-AFB0-6EC3-D333-397F3D79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9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5E62-50AB-43B3-CE90-AA197F8C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4007E-55C5-BE5E-9E24-4F1076F67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3D1FD-F62F-1E12-929A-D4569A7C2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94DDF-FB59-2AE6-F418-E44C7BD7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7C492-2BA2-468E-6DBC-4AAE5346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0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404FD-6E23-1E4F-BFA7-30ADE6D0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DF0FF-277E-FB79-DDD9-5665A2110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4CDFF-6DBD-C3B0-D2DF-D7B6B3AA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1EBCA-1FA8-1F5C-4B3C-559873D8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E032C-821F-AC29-F0FE-7D4FD651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3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6CAB-864A-DF18-0150-95AC2DDC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FD5E0-348C-C8E0-3F55-935A956C6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66B9F-0469-E357-9FAF-3F7325D63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8FB8-5749-77B5-B28F-C4589AE0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4794C-25BD-150D-1858-1FDA4D72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D6EC9-2FC4-E388-C43D-9B2E9B4EC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74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A3FA-9D3C-A3C0-6A53-5068A0AC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F3635-7A4D-264F-B472-2802ABA99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5242A-7703-69DD-2E56-4D8C4820C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F352EE-C4F8-5709-45B1-7ABEF45F2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3FBE3-740C-6B68-69B6-7FAEDF992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93CCA-6E1E-1039-98AC-F61B332F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9FED9-324A-3C5F-E698-CA35F7192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B7A70-2AEE-C513-5754-448570BF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9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0FDA-2AFF-29BA-F948-1B282228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529445-BF70-BC71-C2CA-C6107B3A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4D0F7-F056-08E6-4E15-D98A2D84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7C8B3-7F78-FD49-91CA-BC43301E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6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3DAC6-C3C9-5F83-691A-2699ADC4D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24DC4-7A4A-F96B-7DFF-C1A4B1B88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F2886-AFDA-4D1E-446A-205A7535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5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9D00-0FCE-FCB6-133B-806EFE7A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279AF-FE38-E4CA-A7BD-E66CC8CD0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16119-9963-698A-964E-84BF296B0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33D5C-C382-AFB1-E4A9-1FC205C8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932D-1636-83A3-8C7C-39D711BDF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5BCF0-96B9-663A-8BAF-B91C8956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5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12BF-55D1-F748-B529-AC59A8B3A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F3E9D-E739-85EB-9FEF-C15ED21EB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63DDD-5CD1-F5BB-4E23-8D206291B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7BC6D-3468-1353-ECF2-144DB372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834A4-0A51-8CDF-3F06-6F4DD31E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FD665-5CA8-D9E3-51ED-0A39371C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2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4FC4-06C3-5A7C-A1C2-B8009A2CC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C3C63-7D4E-EBB0-6075-3B99D4EB9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73D12-90B3-7D5E-2884-64A434FC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321F6-824B-FC44-7670-2E5E40EA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A1243-B667-D68F-A92E-81F96C22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42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A703D-6F34-2070-9522-EB339470A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BF2F7-BCED-DD84-42CA-3ABCF2057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8F0E2-91B9-6741-D5AD-6D50870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347D-3E9D-B64C-F7D6-EE645422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45628-177B-8371-D606-DF97C709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7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BF81A-DDD9-8624-D60F-02666B75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EE3EE-FA58-584D-7095-5839D537C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8588C-1250-9DB7-42C8-14D15D7A8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07055-6C72-47E3-A925-E8058929E99C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CEA9A-8A6B-9FC0-8CEE-41B1A2BBA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26DA-DE49-4D49-FF34-929DB2371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15F6A-9C23-4697-9927-0F1178FFC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1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22FD-CCA9-4406-9618-24339941C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7305" y="2"/>
            <a:ext cx="7516836" cy="16256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br>
              <a:rPr lang="en-US" sz="3600" b="1" dirty="0"/>
            </a:br>
            <a:br>
              <a:rPr lang="en-US" sz="3600" b="1" dirty="0"/>
            </a:br>
            <a:r>
              <a:rPr lang="en-GB" sz="3600" b="1" dirty="0"/>
              <a:t>Triggers</a:t>
            </a:r>
            <a:br>
              <a:rPr lang="en-US" sz="3600" dirty="0"/>
            </a:br>
            <a:br>
              <a:rPr lang="en-IN" sz="2000" dirty="0">
                <a:latin typeface="Lucida Sans Typewriter" panose="020B0509030504030204" pitchFamily="49" charset="0"/>
              </a:rPr>
            </a:br>
            <a:r>
              <a:rPr lang="en-US" sz="2400" b="1" dirty="0"/>
              <a:t>DBMS</a:t>
            </a:r>
            <a:endParaRPr lang="en-IN" sz="4000" b="1" dirty="0">
              <a:latin typeface="Lucida Sans Typewriter" panose="020B05090305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8616" y="2078432"/>
            <a:ext cx="7214214" cy="13129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Shweta </a:t>
            </a:r>
            <a:r>
              <a:rPr lang="en-IN" dirty="0" err="1"/>
              <a:t>Tiwaskar</a:t>
            </a: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Shweta.tiwaskar@viit.ac.in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b="1" dirty="0"/>
              <a:t>Department of Computer Engineering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 txBox="1">
            <a:spLocks/>
          </p:cNvSpPr>
          <p:nvPr/>
        </p:nvSpPr>
        <p:spPr>
          <a:xfrm>
            <a:off x="1773212" y="5361426"/>
            <a:ext cx="8645581" cy="560615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BRACT’S, Vishwakarma Institute of Information Technology, Pune-48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605" y="3361958"/>
            <a:ext cx="1326236" cy="19994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31052" y="5903897"/>
            <a:ext cx="83493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(An Autonomous Institute affiliated to Savitribai Phule Pune University)</a:t>
            </a:r>
          </a:p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(NBA and NAAC accredited, ISO 9001:2015 certified)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Dr.L.A.Bewoor, Dept. of Computer Engg.VIIT Pune</a:t>
            </a:r>
          </a:p>
        </p:txBody>
      </p:sp>
    </p:spTree>
    <p:extLst>
      <p:ext uri="{BB962C8B-B14F-4D97-AF65-F5344CB8AC3E}">
        <p14:creationId xmlns:p14="http://schemas.microsoft.com/office/powerpoint/2010/main" val="264218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BCB5-291C-2D1B-B12F-0B7CA4A7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Trigger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ADF7F-08BE-288E-96DF-0421C23F9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Trigger</a:t>
            </a:r>
            <a:r>
              <a:rPr lang="en-US" dirty="0"/>
              <a:t>: Automatically executes in response to specific events on a table. Useful for enforcing business rules, auditing changes, and maintaining data integrity</a:t>
            </a:r>
          </a:p>
          <a:p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trigger is a stored procedure that is automatically executed or fired when certain events occur. Triggers can be defined to execute before or after INSERT, UPDATE, or DELETE operations on a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2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C78C-37BE-CA69-5260-05C43393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Trigger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29EB-0FDF-DC00-3EAD-E0DE85560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Ex:</a:t>
            </a: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logs changes to the Orders table into a </a:t>
            </a:r>
            <a:r>
              <a:rPr lang="en-US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Orders_Log</a:t>
            </a: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table whenever an order is updated.</a:t>
            </a: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OR REPLACE TRIGGER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trg_orders_update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AFTER UPDATE ON Orders FOR EACH ROW</a:t>
            </a: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BEGIN INSERT INTO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Orders_Log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order_id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old_item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new_item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old_amount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new_amount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old_customer_id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new_customer_id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VALUES (: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OLD.order_id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: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OLD.item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: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NEW.item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: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OLD.amount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: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NEW.amount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: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OLD.customer_id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: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NEW.customer_id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 </a:t>
            </a: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52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F496-198E-35E5-C346-E262CBAA4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Queries on Triggers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255A8-4199-C371-096B-796DB7AEF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 Inserts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Log every insertion into a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Customer_Audit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table.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 Updates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Log every update into a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Customer_Audit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table.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 Deletes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Log every deletion into a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Customer_Audit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table.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Enforce Age Constraint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Ensure that the age of a customer is between 0 and 120.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Prevent Updates from a Specific Country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Prevent updates to customers from a specific country, e.g., "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RestrictedCountry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13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E110E-DE5B-39EE-8458-ADBA00EE3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11" y="138896"/>
            <a:ext cx="10856089" cy="6038067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the </a:t>
            </a:r>
            <a:r>
              <a:rPr lang="en-US" sz="7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Customer_Audit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table to store logs for the first three triggers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</a:t>
            </a:r>
            <a:r>
              <a:rPr lang="en-US" sz="7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Customer_Audit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7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audit_id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NUMBER  AS IDENTITY PRIMARY KEY,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action VARCHAR2(10),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7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customer_id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NUMBER,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7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first_name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VARCHAR2(50),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7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last_name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VARCHAR2(50),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age NUMBER,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country VARCHAR2(50),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7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change_date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TIMESTAMP DEFAULT CURRENT_TIMESTAMP)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135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5E29-4F71-94D4-5E21-4984E576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to Log Inserts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CA0B5-D6D6-8CA0-0235-0AB7B12A9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OR REPLACE TRIGGER </a:t>
            </a:r>
            <a:r>
              <a:rPr lang="en-US" dirty="0" err="1">
                <a:solidFill>
                  <a:srgbClr val="FF0000"/>
                </a:solidFill>
              </a:rPr>
              <a:t>trg_customers_insert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AFTER INSERT ON </a:t>
            </a:r>
            <a:r>
              <a:rPr lang="en-US" dirty="0">
                <a:solidFill>
                  <a:srgbClr val="00B0F0"/>
                </a:solidFill>
              </a:rPr>
              <a:t>Customers</a:t>
            </a:r>
            <a:r>
              <a:rPr lang="en-US" dirty="0"/>
              <a:t> FOR EACH ROW </a:t>
            </a:r>
          </a:p>
          <a:p>
            <a:r>
              <a:rPr lang="en-US" dirty="0"/>
              <a:t>BEGIN INSERT INTO </a:t>
            </a:r>
            <a:r>
              <a:rPr lang="en-US" dirty="0" err="1"/>
              <a:t>Customer_Audit</a:t>
            </a:r>
            <a:r>
              <a:rPr lang="en-US" dirty="0"/>
              <a:t> (action, 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age, country) </a:t>
            </a:r>
          </a:p>
          <a:p>
            <a:r>
              <a:rPr lang="en-US" dirty="0"/>
              <a:t>VALUES ('INSERT', :</a:t>
            </a:r>
            <a:r>
              <a:rPr lang="en-US" dirty="0" err="1"/>
              <a:t>NEW.customer_id</a:t>
            </a:r>
            <a:r>
              <a:rPr lang="en-US" dirty="0"/>
              <a:t>, :</a:t>
            </a:r>
            <a:r>
              <a:rPr lang="en-US" dirty="0" err="1"/>
              <a:t>NEW.first_name</a:t>
            </a:r>
            <a:r>
              <a:rPr lang="en-US" dirty="0"/>
              <a:t>, :</a:t>
            </a:r>
            <a:r>
              <a:rPr lang="en-US" dirty="0" err="1"/>
              <a:t>NEW.last_name</a:t>
            </a:r>
            <a:r>
              <a:rPr lang="en-US" dirty="0"/>
              <a:t>, :</a:t>
            </a:r>
            <a:r>
              <a:rPr lang="en-US" dirty="0" err="1"/>
              <a:t>NEW.age</a:t>
            </a:r>
            <a:r>
              <a:rPr lang="en-US" dirty="0"/>
              <a:t>, :</a:t>
            </a:r>
            <a:r>
              <a:rPr lang="en-US" dirty="0" err="1"/>
              <a:t>NEW.country</a:t>
            </a:r>
            <a:r>
              <a:rPr lang="en-US" dirty="0"/>
              <a:t>); </a:t>
            </a:r>
          </a:p>
          <a:p>
            <a:r>
              <a:rPr lang="en-US" dirty="0"/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507561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1BE6-A84E-E016-254A-19911678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to Log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B01EB-892A-47B0-75F0-32D08D42E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OR REPLACE TRIGGER </a:t>
            </a:r>
            <a:r>
              <a:rPr lang="en-US" dirty="0" err="1">
                <a:solidFill>
                  <a:srgbClr val="FF0000"/>
                </a:solidFill>
              </a:rPr>
              <a:t>trg_customers_update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AFTER UPDATE ON </a:t>
            </a:r>
            <a:r>
              <a:rPr lang="en-US" dirty="0">
                <a:solidFill>
                  <a:srgbClr val="00B0F0"/>
                </a:solidFill>
              </a:rPr>
              <a:t>Customers</a:t>
            </a:r>
          </a:p>
          <a:p>
            <a:r>
              <a:rPr lang="en-US" dirty="0"/>
              <a:t>FOR EACH ROW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INSERT INTO </a:t>
            </a:r>
            <a:r>
              <a:rPr lang="en-US" dirty="0" err="1"/>
              <a:t>Customer_Audit</a:t>
            </a:r>
            <a:r>
              <a:rPr lang="en-US" dirty="0"/>
              <a:t> (action, 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age, country)</a:t>
            </a:r>
          </a:p>
          <a:p>
            <a:r>
              <a:rPr lang="en-US" dirty="0"/>
              <a:t>    VALUES ('UPDATE', :</a:t>
            </a:r>
            <a:r>
              <a:rPr lang="en-US" dirty="0" err="1"/>
              <a:t>NEW.customer_id</a:t>
            </a:r>
            <a:r>
              <a:rPr lang="en-US" dirty="0"/>
              <a:t>, :</a:t>
            </a:r>
            <a:r>
              <a:rPr lang="en-US" dirty="0" err="1"/>
              <a:t>NEW.first_name</a:t>
            </a:r>
            <a:r>
              <a:rPr lang="en-US" dirty="0"/>
              <a:t>, :</a:t>
            </a:r>
            <a:r>
              <a:rPr lang="en-US" dirty="0" err="1"/>
              <a:t>NEW.last_name</a:t>
            </a:r>
            <a:r>
              <a:rPr lang="en-US" dirty="0"/>
              <a:t>, :</a:t>
            </a:r>
            <a:r>
              <a:rPr lang="en-US" dirty="0" err="1"/>
              <a:t>NEW.age</a:t>
            </a:r>
            <a:r>
              <a:rPr lang="en-US" dirty="0"/>
              <a:t>, :</a:t>
            </a:r>
            <a:r>
              <a:rPr lang="en-US" dirty="0" err="1"/>
              <a:t>NEW.country</a:t>
            </a:r>
            <a:r>
              <a:rPr lang="en-US" dirty="0"/>
              <a:t>);</a:t>
            </a:r>
          </a:p>
          <a:p>
            <a:r>
              <a:rPr lang="en-US" dirty="0"/>
              <a:t>END;</a:t>
            </a:r>
          </a:p>
          <a:p>
            <a:r>
              <a:rPr lang="en-US" dirty="0"/>
              <a:t>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37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E12E-9EE2-5E84-4B8C-092F2B304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to Log Deletes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51318-3164-DE6A-9114-85686218D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OR REPLACE TRIGGER </a:t>
            </a:r>
            <a:r>
              <a:rPr lang="en-US" dirty="0" err="1">
                <a:solidFill>
                  <a:srgbClr val="FF0000"/>
                </a:solidFill>
              </a:rPr>
              <a:t>trg_customers_delete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AFTER DELETE ON </a:t>
            </a:r>
            <a:r>
              <a:rPr lang="en-US" dirty="0">
                <a:solidFill>
                  <a:srgbClr val="00B0F0"/>
                </a:solidFill>
              </a:rPr>
              <a:t>Customers</a:t>
            </a:r>
          </a:p>
          <a:p>
            <a:r>
              <a:rPr lang="en-US" dirty="0"/>
              <a:t>FOR EACH ROW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INSERT INTO </a:t>
            </a:r>
            <a:r>
              <a:rPr lang="en-US" dirty="0" err="1"/>
              <a:t>Customer_Audit</a:t>
            </a:r>
            <a:r>
              <a:rPr lang="en-US" dirty="0"/>
              <a:t> (action, 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age, country)</a:t>
            </a:r>
          </a:p>
          <a:p>
            <a:r>
              <a:rPr lang="en-US" dirty="0"/>
              <a:t>    VALUES ('DELETE', :</a:t>
            </a:r>
            <a:r>
              <a:rPr lang="en-US" dirty="0" err="1"/>
              <a:t>OLD.customer_id</a:t>
            </a:r>
            <a:r>
              <a:rPr lang="en-US" dirty="0"/>
              <a:t>, :</a:t>
            </a:r>
            <a:r>
              <a:rPr lang="en-US" dirty="0" err="1"/>
              <a:t>OLD.first_name</a:t>
            </a:r>
            <a:r>
              <a:rPr lang="en-US" dirty="0"/>
              <a:t>, :</a:t>
            </a:r>
            <a:r>
              <a:rPr lang="en-US" dirty="0" err="1"/>
              <a:t>OLD.last_name</a:t>
            </a:r>
            <a:r>
              <a:rPr lang="en-US" dirty="0"/>
              <a:t>, :</a:t>
            </a:r>
            <a:r>
              <a:rPr lang="en-US" dirty="0" err="1"/>
              <a:t>OLD.age</a:t>
            </a:r>
            <a:r>
              <a:rPr lang="en-US" dirty="0"/>
              <a:t>, :</a:t>
            </a:r>
            <a:r>
              <a:rPr lang="en-US" dirty="0" err="1"/>
              <a:t>OLD.country</a:t>
            </a:r>
            <a:r>
              <a:rPr lang="en-US" dirty="0"/>
              <a:t>);</a:t>
            </a:r>
          </a:p>
          <a:p>
            <a:r>
              <a:rPr lang="en-US" dirty="0"/>
              <a:t>END;</a:t>
            </a:r>
          </a:p>
          <a:p>
            <a:r>
              <a:rPr lang="en-US" dirty="0"/>
              <a:t>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471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0458C-F08C-60A0-9EA0-BFC00996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to Enforce Age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35933-FC92-7180-6D58-22B6646D0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OR REPLACE TRIGGER </a:t>
            </a:r>
            <a:r>
              <a:rPr lang="en-US" dirty="0" err="1">
                <a:solidFill>
                  <a:srgbClr val="FF0000"/>
                </a:solidFill>
              </a:rPr>
              <a:t>trg_customers_age_check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BEFORE INSERT OR UPDATE ON </a:t>
            </a:r>
            <a:r>
              <a:rPr lang="en-US" dirty="0">
                <a:solidFill>
                  <a:srgbClr val="00B0F0"/>
                </a:solidFill>
              </a:rPr>
              <a:t>Customers</a:t>
            </a:r>
          </a:p>
          <a:p>
            <a:r>
              <a:rPr lang="en-US" dirty="0"/>
              <a:t>FOR EACH ROW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IF :</a:t>
            </a:r>
            <a:r>
              <a:rPr lang="en-US" dirty="0" err="1"/>
              <a:t>NEW.age</a:t>
            </a:r>
            <a:r>
              <a:rPr lang="en-US" dirty="0"/>
              <a:t> &lt; 0 OR :</a:t>
            </a:r>
            <a:r>
              <a:rPr lang="en-US" dirty="0" err="1"/>
              <a:t>NEW.age</a:t>
            </a:r>
            <a:r>
              <a:rPr lang="en-US" dirty="0"/>
              <a:t> &gt; 120 THEN</a:t>
            </a:r>
          </a:p>
          <a:p>
            <a:r>
              <a:rPr lang="en-US" dirty="0"/>
              <a:t>        RAISE_APPLICATION_ERROR(-20001, 'Age must be between 0 and 120.');</a:t>
            </a:r>
          </a:p>
          <a:p>
            <a:r>
              <a:rPr lang="en-US" dirty="0"/>
              <a:t>    END IF;</a:t>
            </a:r>
          </a:p>
          <a:p>
            <a:r>
              <a:rPr lang="en-US" dirty="0"/>
              <a:t>END;</a:t>
            </a:r>
          </a:p>
          <a:p>
            <a:r>
              <a:rPr lang="en-US" dirty="0"/>
              <a:t>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17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50AF-76F0-1889-724A-9147D74C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to Prevent Updates from a Specific Country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54CAA-CFED-9B12-F22C-6274FC63D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OR REPLACE TRIGGER </a:t>
            </a:r>
            <a:r>
              <a:rPr lang="en-US" dirty="0" err="1">
                <a:solidFill>
                  <a:srgbClr val="FF0000"/>
                </a:solidFill>
              </a:rPr>
              <a:t>trg_customers_restrict_country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BEFORE UPDATE ON </a:t>
            </a:r>
            <a:r>
              <a:rPr lang="en-US" dirty="0">
                <a:solidFill>
                  <a:srgbClr val="00B050"/>
                </a:solidFill>
              </a:rPr>
              <a:t>Customers</a:t>
            </a:r>
          </a:p>
          <a:p>
            <a:r>
              <a:rPr lang="en-US" dirty="0"/>
              <a:t>FOR EACH ROW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IF :</a:t>
            </a:r>
            <a:r>
              <a:rPr lang="en-US" dirty="0" err="1"/>
              <a:t>OLD.country</a:t>
            </a:r>
            <a:r>
              <a:rPr lang="en-US" dirty="0"/>
              <a:t> = '</a:t>
            </a:r>
            <a:r>
              <a:rPr lang="en-US" dirty="0" err="1"/>
              <a:t>RestrictedCountry</a:t>
            </a:r>
            <a:r>
              <a:rPr lang="en-US" dirty="0"/>
              <a:t>' THEN</a:t>
            </a:r>
          </a:p>
          <a:p>
            <a:r>
              <a:rPr lang="en-US" dirty="0"/>
              <a:t>        RAISE_APPLICATION_ERROR(-20002, 'Updates are not allowed for customers from </a:t>
            </a:r>
            <a:r>
              <a:rPr lang="en-US" dirty="0" err="1"/>
              <a:t>RestrictedCountry</a:t>
            </a:r>
            <a:r>
              <a:rPr lang="en-US" dirty="0"/>
              <a:t>.');</a:t>
            </a:r>
          </a:p>
          <a:p>
            <a:r>
              <a:rPr lang="en-US" dirty="0"/>
              <a:t>    END IF;</a:t>
            </a:r>
          </a:p>
          <a:p>
            <a:r>
              <a:rPr lang="en-US" dirty="0"/>
              <a:t>END;</a:t>
            </a:r>
          </a:p>
          <a:p>
            <a:r>
              <a:rPr lang="en-US" dirty="0"/>
              <a:t>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423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30BB-A0A3-B29C-77E0-E0A6396C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Triggers and Cursors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4FC31C-0FF6-91D9-4F0E-F0853E9017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automatic, event-driven procedures that enforce business rules and audit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Cursors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tools for manual, row-by-row processing of query results within procedural code. </a:t>
            </a:r>
          </a:p>
        </p:txBody>
      </p:sp>
    </p:spTree>
    <p:extLst>
      <p:ext uri="{BB962C8B-B14F-4D97-AF65-F5344CB8AC3E}">
        <p14:creationId xmlns:p14="http://schemas.microsoft.com/office/powerpoint/2010/main" val="3641034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819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Lucida Sans Typewriter</vt:lpstr>
      <vt:lpstr>Office Theme</vt:lpstr>
      <vt:lpstr>  Triggers  DBMS</vt:lpstr>
      <vt:lpstr>Trigger</vt:lpstr>
      <vt:lpstr>Example of Trigger</vt:lpstr>
      <vt:lpstr>Queries on Triggers</vt:lpstr>
      <vt:lpstr>PowerPoint Presentation</vt:lpstr>
      <vt:lpstr>Trigger to Log Inserts</vt:lpstr>
      <vt:lpstr>Trigger to Log Updates</vt:lpstr>
      <vt:lpstr>Trigger to Log Deletes</vt:lpstr>
      <vt:lpstr>Trigger to Enforce Age Constraint</vt:lpstr>
      <vt:lpstr>Trigger to Prevent Updates from a Specific Country</vt:lpstr>
      <vt:lpstr>Triggers and Cursors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 TIWASKAR</dc:creator>
  <cp:lastModifiedBy>SHWETA TIWASKAR</cp:lastModifiedBy>
  <cp:revision>53</cp:revision>
  <dcterms:created xsi:type="dcterms:W3CDTF">2024-08-05T09:43:09Z</dcterms:created>
  <dcterms:modified xsi:type="dcterms:W3CDTF">2025-07-29T10:09:59Z</dcterms:modified>
</cp:coreProperties>
</file>