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3.xml" ContentType="application/inkml+xml"/>
  <Override PartName="/ppt/ink/ink4.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01" r:id="rId1"/>
  </p:sldMasterIdLst>
  <p:notesMasterIdLst>
    <p:notesMasterId r:id="rId74"/>
  </p:notesMasterIdLst>
  <p:handoutMasterIdLst>
    <p:handoutMasterId r:id="rId75"/>
  </p:handoutMasterIdLst>
  <p:sldIdLst>
    <p:sldId id="320" r:id="rId2"/>
    <p:sldId id="256" r:id="rId3"/>
    <p:sldId id="257" r:id="rId4"/>
    <p:sldId id="259" r:id="rId5"/>
    <p:sldId id="345" r:id="rId6"/>
    <p:sldId id="260" r:id="rId7"/>
    <p:sldId id="258" r:id="rId8"/>
    <p:sldId id="418" r:id="rId9"/>
    <p:sldId id="261" r:id="rId10"/>
    <p:sldId id="262" r:id="rId11"/>
    <p:sldId id="265" r:id="rId12"/>
    <p:sldId id="382" r:id="rId13"/>
    <p:sldId id="381" r:id="rId14"/>
    <p:sldId id="383" r:id="rId15"/>
    <p:sldId id="385" r:id="rId16"/>
    <p:sldId id="386" r:id="rId17"/>
    <p:sldId id="388" r:id="rId18"/>
    <p:sldId id="266" r:id="rId19"/>
    <p:sldId id="391" r:id="rId20"/>
    <p:sldId id="392" r:id="rId21"/>
    <p:sldId id="393" r:id="rId22"/>
    <p:sldId id="277" r:id="rId23"/>
    <p:sldId id="278" r:id="rId24"/>
    <p:sldId id="279" r:id="rId25"/>
    <p:sldId id="397" r:id="rId26"/>
    <p:sldId id="398" r:id="rId27"/>
    <p:sldId id="399" r:id="rId28"/>
    <p:sldId id="270" r:id="rId29"/>
    <p:sldId id="400" r:id="rId30"/>
    <p:sldId id="271" r:id="rId31"/>
    <p:sldId id="401" r:id="rId32"/>
    <p:sldId id="394" r:id="rId33"/>
    <p:sldId id="373" r:id="rId34"/>
    <p:sldId id="272" r:id="rId35"/>
    <p:sldId id="390" r:id="rId36"/>
    <p:sldId id="273" r:id="rId37"/>
    <p:sldId id="325" r:id="rId38"/>
    <p:sldId id="326" r:id="rId39"/>
    <p:sldId id="329" r:id="rId40"/>
    <p:sldId id="396" r:id="rId41"/>
    <p:sldId id="402" r:id="rId42"/>
    <p:sldId id="395" r:id="rId43"/>
    <p:sldId id="330" r:id="rId44"/>
    <p:sldId id="404" r:id="rId45"/>
    <p:sldId id="275" r:id="rId46"/>
    <p:sldId id="332" r:id="rId47"/>
    <p:sldId id="375" r:id="rId48"/>
    <p:sldId id="407" r:id="rId49"/>
    <p:sldId id="408" r:id="rId50"/>
    <p:sldId id="409" r:id="rId51"/>
    <p:sldId id="410" r:id="rId52"/>
    <p:sldId id="411" r:id="rId53"/>
    <p:sldId id="263" r:id="rId54"/>
    <p:sldId id="264" r:id="rId55"/>
    <p:sldId id="412" r:id="rId56"/>
    <p:sldId id="413" r:id="rId57"/>
    <p:sldId id="267" r:id="rId58"/>
    <p:sldId id="268" r:id="rId59"/>
    <p:sldId id="269" r:id="rId60"/>
    <p:sldId id="414" r:id="rId61"/>
    <p:sldId id="415" r:id="rId62"/>
    <p:sldId id="416" r:id="rId63"/>
    <p:sldId id="417" r:id="rId64"/>
    <p:sldId id="274" r:id="rId65"/>
    <p:sldId id="276" r:id="rId66"/>
    <p:sldId id="334" r:id="rId67"/>
    <p:sldId id="341" r:id="rId68"/>
    <p:sldId id="377" r:id="rId69"/>
    <p:sldId id="282" r:id="rId70"/>
    <p:sldId id="281" r:id="rId71"/>
    <p:sldId id="378" r:id="rId72"/>
    <p:sldId id="379" r:id="rId73"/>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9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619844-71E3-4982-9DD1-7D57BB6D5797}" v="20" dt="2025-11-22T10:13:48.1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725" autoAdjust="0"/>
  </p:normalViewPr>
  <p:slideViewPr>
    <p:cSldViewPr snapToGrid="0">
      <p:cViewPr varScale="1">
        <p:scale>
          <a:sx n="77" d="100"/>
          <a:sy n="77" d="100"/>
        </p:scale>
        <p:origin x="1618" y="67"/>
      </p:cViewPr>
      <p:guideLst>
        <p:guide orient="horz" pos="69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324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ant Ninawe" userId="cce737f2a04d9248" providerId="LiveId" clId="{AD7B96DF-A48F-4E3D-8CBF-A28203563C5A}"/>
    <pc:docChg chg="undo custSel addSld modSld">
      <pc:chgData name="Nishant Ninawe" userId="cce737f2a04d9248" providerId="LiveId" clId="{AD7B96DF-A48F-4E3D-8CBF-A28203563C5A}" dt="2025-11-22T13:15:31.625" v="298" actId="13926"/>
      <pc:docMkLst>
        <pc:docMk/>
      </pc:docMkLst>
      <pc:sldChg chg="addSp modSp mod">
        <pc:chgData name="Nishant Ninawe" userId="cce737f2a04d9248" providerId="LiveId" clId="{AD7B96DF-A48F-4E3D-8CBF-A28203563C5A}" dt="2025-11-22T09:18:43.251" v="57"/>
        <pc:sldMkLst>
          <pc:docMk/>
          <pc:sldMk cId="0" sldId="257"/>
        </pc:sldMkLst>
        <pc:spChg chg="add">
          <ac:chgData name="Nishant Ninawe" userId="cce737f2a04d9248" providerId="LiveId" clId="{AD7B96DF-A48F-4E3D-8CBF-A28203563C5A}" dt="2025-11-22T09:18:30.701" v="51"/>
          <ac:spMkLst>
            <pc:docMk/>
            <pc:sldMk cId="0" sldId="257"/>
            <ac:spMk id="2" creationId="{5323FD57-8BF4-CF91-04F5-8B4F0315DDAC}"/>
          </ac:spMkLst>
        </pc:spChg>
        <pc:spChg chg="add mod">
          <ac:chgData name="Nishant Ninawe" userId="cce737f2a04d9248" providerId="LiveId" clId="{AD7B96DF-A48F-4E3D-8CBF-A28203563C5A}" dt="2025-11-22T09:18:43.251" v="57"/>
          <ac:spMkLst>
            <pc:docMk/>
            <pc:sldMk cId="0" sldId="257"/>
            <ac:spMk id="3" creationId="{2178A19E-3EC0-506F-6231-8D04E3A4259D}"/>
          </ac:spMkLst>
        </pc:spChg>
        <pc:spChg chg="add mod">
          <ac:chgData name="Nishant Ninawe" userId="cce737f2a04d9248" providerId="LiveId" clId="{AD7B96DF-A48F-4E3D-8CBF-A28203563C5A}" dt="2025-11-22T09:18:42.478" v="55"/>
          <ac:spMkLst>
            <pc:docMk/>
            <pc:sldMk cId="0" sldId="257"/>
            <ac:spMk id="4" creationId="{498FC143-3F6C-8179-DE2E-713D5102C89A}"/>
          </ac:spMkLst>
        </pc:spChg>
        <pc:spChg chg="mod">
          <ac:chgData name="Nishant Ninawe" userId="cce737f2a04d9248" providerId="LiveId" clId="{AD7B96DF-A48F-4E3D-8CBF-A28203563C5A}" dt="2025-11-22T09:18:42.856" v="56" actId="20577"/>
          <ac:spMkLst>
            <pc:docMk/>
            <pc:sldMk cId="0" sldId="257"/>
            <ac:spMk id="6147" creationId="{00000000-0000-0000-0000-000000000000}"/>
          </ac:spMkLst>
        </pc:spChg>
      </pc:sldChg>
      <pc:sldChg chg="addSp delSp modSp mod">
        <pc:chgData name="Nishant Ninawe" userId="cce737f2a04d9248" providerId="LiveId" clId="{AD7B96DF-A48F-4E3D-8CBF-A28203563C5A}" dt="2025-11-22T09:31:25.135" v="67" actId="9405"/>
        <pc:sldMkLst>
          <pc:docMk/>
          <pc:sldMk cId="0" sldId="258"/>
        </pc:sldMkLst>
        <pc:spChg chg="mod">
          <ac:chgData name="Nishant Ninawe" userId="cce737f2a04d9248" providerId="LiveId" clId="{AD7B96DF-A48F-4E3D-8CBF-A28203563C5A}" dt="2025-11-22T09:30:28.753" v="63" actId="13926"/>
          <ac:spMkLst>
            <pc:docMk/>
            <pc:sldMk cId="0" sldId="258"/>
            <ac:spMk id="10243" creationId="{00000000-0000-0000-0000-000000000000}"/>
          </ac:spMkLst>
        </pc:spChg>
        <pc:inkChg chg="add">
          <ac:chgData name="Nishant Ninawe" userId="cce737f2a04d9248" providerId="LiveId" clId="{AD7B96DF-A48F-4E3D-8CBF-A28203563C5A}" dt="2025-11-22T09:31:07.734" v="64" actId="9405"/>
          <ac:inkMkLst>
            <pc:docMk/>
            <pc:sldMk cId="0" sldId="258"/>
            <ac:inkMk id="2" creationId="{1299CE1D-C907-7F6D-1E36-A0830E8C4180}"/>
          </ac:inkMkLst>
        </pc:inkChg>
        <pc:inkChg chg="add">
          <ac:chgData name="Nishant Ninawe" userId="cce737f2a04d9248" providerId="LiveId" clId="{AD7B96DF-A48F-4E3D-8CBF-A28203563C5A}" dt="2025-11-22T09:31:10.110" v="65" actId="9405"/>
          <ac:inkMkLst>
            <pc:docMk/>
            <pc:sldMk cId="0" sldId="258"/>
            <ac:inkMk id="3" creationId="{DBCDBD9E-5EA7-928D-572C-9FF84218386E}"/>
          </ac:inkMkLst>
        </pc:inkChg>
        <pc:inkChg chg="add del">
          <ac:chgData name="Nishant Ninawe" userId="cce737f2a04d9248" providerId="LiveId" clId="{AD7B96DF-A48F-4E3D-8CBF-A28203563C5A}" dt="2025-11-22T09:31:25.135" v="67" actId="9405"/>
          <ac:inkMkLst>
            <pc:docMk/>
            <pc:sldMk cId="0" sldId="258"/>
            <ac:inkMk id="4" creationId="{C537C7A5-60C6-7948-1853-B2E64AF5BF6F}"/>
          </ac:inkMkLst>
        </pc:inkChg>
      </pc:sldChg>
      <pc:sldChg chg="modSp mod">
        <pc:chgData name="Nishant Ninawe" userId="cce737f2a04d9248" providerId="LiveId" clId="{AD7B96DF-A48F-4E3D-8CBF-A28203563C5A}" dt="2025-11-22T09:24:12.970" v="59" actId="13926"/>
        <pc:sldMkLst>
          <pc:docMk/>
          <pc:sldMk cId="0" sldId="260"/>
        </pc:sldMkLst>
        <pc:spChg chg="mod">
          <ac:chgData name="Nishant Ninawe" userId="cce737f2a04d9248" providerId="LiveId" clId="{AD7B96DF-A48F-4E3D-8CBF-A28203563C5A}" dt="2025-11-22T09:24:12.970" v="59" actId="13926"/>
          <ac:spMkLst>
            <pc:docMk/>
            <pc:sldMk cId="0" sldId="260"/>
            <ac:spMk id="9219" creationId="{00000000-0000-0000-0000-000000000000}"/>
          </ac:spMkLst>
        </pc:spChg>
      </pc:sldChg>
      <pc:sldChg chg="addSp modSp mod">
        <pc:chgData name="Nishant Ninawe" userId="cce737f2a04d9248" providerId="LiveId" clId="{AD7B96DF-A48F-4E3D-8CBF-A28203563C5A}" dt="2025-11-22T09:34:09.077" v="86" actId="20577"/>
        <pc:sldMkLst>
          <pc:docMk/>
          <pc:sldMk cId="0" sldId="261"/>
        </pc:sldMkLst>
        <pc:spChg chg="mod">
          <ac:chgData name="Nishant Ninawe" userId="cce737f2a04d9248" providerId="LiveId" clId="{AD7B96DF-A48F-4E3D-8CBF-A28203563C5A}" dt="2025-11-22T09:34:09.077" v="86" actId="20577"/>
          <ac:spMkLst>
            <pc:docMk/>
            <pc:sldMk cId="0" sldId="261"/>
            <ac:spMk id="11267" creationId="{00000000-0000-0000-0000-000000000000}"/>
          </ac:spMkLst>
        </pc:spChg>
        <pc:graphicFrameChg chg="add mod modGraphic">
          <ac:chgData name="Nishant Ninawe" userId="cce737f2a04d9248" providerId="LiveId" clId="{AD7B96DF-A48F-4E3D-8CBF-A28203563C5A}" dt="2025-11-22T09:34:07.898" v="85" actId="1076"/>
          <ac:graphicFrameMkLst>
            <pc:docMk/>
            <pc:sldMk cId="0" sldId="261"/>
            <ac:graphicFrameMk id="2" creationId="{076A21FE-3128-BB63-1948-29C24A427AD1}"/>
          </ac:graphicFrameMkLst>
        </pc:graphicFrameChg>
      </pc:sldChg>
      <pc:sldChg chg="addSp modSp mod">
        <pc:chgData name="Nishant Ninawe" userId="cce737f2a04d9248" providerId="LiveId" clId="{AD7B96DF-A48F-4E3D-8CBF-A28203563C5A}" dt="2025-11-22T09:36:46.200" v="98" actId="1076"/>
        <pc:sldMkLst>
          <pc:docMk/>
          <pc:sldMk cId="0" sldId="262"/>
        </pc:sldMkLst>
        <pc:graphicFrameChg chg="add mod modGraphic">
          <ac:chgData name="Nishant Ninawe" userId="cce737f2a04d9248" providerId="LiveId" clId="{AD7B96DF-A48F-4E3D-8CBF-A28203563C5A}" dt="2025-11-22T09:36:46.200" v="98" actId="1076"/>
          <ac:graphicFrameMkLst>
            <pc:docMk/>
            <pc:sldMk cId="0" sldId="262"/>
            <ac:graphicFrameMk id="2" creationId="{7D94D09C-44D0-0690-84FB-F96B65379664}"/>
          </ac:graphicFrameMkLst>
        </pc:graphicFrameChg>
        <pc:picChg chg="mod">
          <ac:chgData name="Nishant Ninawe" userId="cce737f2a04d9248" providerId="LiveId" clId="{AD7B96DF-A48F-4E3D-8CBF-A28203563C5A}" dt="2025-11-22T09:36:42.875" v="97" actId="1076"/>
          <ac:picMkLst>
            <pc:docMk/>
            <pc:sldMk cId="0" sldId="262"/>
            <ac:picMk id="12291" creationId="{00000000-0000-0000-0000-000000000000}"/>
          </ac:picMkLst>
        </pc:picChg>
      </pc:sldChg>
      <pc:sldChg chg="modSp mod">
        <pc:chgData name="Nishant Ninawe" userId="cce737f2a04d9248" providerId="LiveId" clId="{AD7B96DF-A48F-4E3D-8CBF-A28203563C5A}" dt="2025-11-22T09:38:34.562" v="99" actId="13926"/>
        <pc:sldMkLst>
          <pc:docMk/>
          <pc:sldMk cId="0" sldId="265"/>
        </pc:sldMkLst>
        <pc:spChg chg="mod">
          <ac:chgData name="Nishant Ninawe" userId="cce737f2a04d9248" providerId="LiveId" clId="{AD7B96DF-A48F-4E3D-8CBF-A28203563C5A}" dt="2025-11-22T09:38:34.562" v="99" actId="13926"/>
          <ac:spMkLst>
            <pc:docMk/>
            <pc:sldMk cId="0" sldId="265"/>
            <ac:spMk id="13315" creationId="{00000000-0000-0000-0000-000000000000}"/>
          </ac:spMkLst>
        </pc:spChg>
      </pc:sldChg>
      <pc:sldChg chg="modSp mod">
        <pc:chgData name="Nishant Ninawe" userId="cce737f2a04d9248" providerId="LiveId" clId="{AD7B96DF-A48F-4E3D-8CBF-A28203563C5A}" dt="2025-11-22T09:51:49.186" v="260" actId="13926"/>
        <pc:sldMkLst>
          <pc:docMk/>
          <pc:sldMk cId="0" sldId="266"/>
        </pc:sldMkLst>
        <pc:spChg chg="mod">
          <ac:chgData name="Nishant Ninawe" userId="cce737f2a04d9248" providerId="LiveId" clId="{AD7B96DF-A48F-4E3D-8CBF-A28203563C5A}" dt="2025-11-22T09:51:49.186" v="260" actId="13926"/>
          <ac:spMkLst>
            <pc:docMk/>
            <pc:sldMk cId="0" sldId="266"/>
            <ac:spMk id="14339" creationId="{00000000-0000-0000-0000-000000000000}"/>
          </ac:spMkLst>
        </pc:spChg>
      </pc:sldChg>
      <pc:sldChg chg="modSp mod">
        <pc:chgData name="Nishant Ninawe" userId="cce737f2a04d9248" providerId="LiveId" clId="{AD7B96DF-A48F-4E3D-8CBF-A28203563C5A}" dt="2025-11-22T10:23:21.628" v="282" actId="13926"/>
        <pc:sldMkLst>
          <pc:docMk/>
          <pc:sldMk cId="0" sldId="270"/>
        </pc:sldMkLst>
        <pc:spChg chg="mod">
          <ac:chgData name="Nishant Ninawe" userId="cce737f2a04d9248" providerId="LiveId" clId="{AD7B96DF-A48F-4E3D-8CBF-A28203563C5A}" dt="2025-11-22T10:23:21.628" v="282" actId="13926"/>
          <ac:spMkLst>
            <pc:docMk/>
            <pc:sldMk cId="0" sldId="270"/>
            <ac:spMk id="19459" creationId="{00000000-0000-0000-0000-000000000000}"/>
          </ac:spMkLst>
        </pc:spChg>
      </pc:sldChg>
      <pc:sldChg chg="modSp mod">
        <pc:chgData name="Nishant Ninawe" userId="cce737f2a04d9248" providerId="LiveId" clId="{AD7B96DF-A48F-4E3D-8CBF-A28203563C5A}" dt="2025-11-22T10:34:31.352" v="284" actId="13926"/>
        <pc:sldMkLst>
          <pc:docMk/>
          <pc:sldMk cId="0" sldId="271"/>
        </pc:sldMkLst>
        <pc:spChg chg="mod">
          <ac:chgData name="Nishant Ninawe" userId="cce737f2a04d9248" providerId="LiveId" clId="{AD7B96DF-A48F-4E3D-8CBF-A28203563C5A}" dt="2025-11-22T10:34:31.352" v="284" actId="13926"/>
          <ac:spMkLst>
            <pc:docMk/>
            <pc:sldMk cId="0" sldId="271"/>
            <ac:spMk id="21507" creationId="{00000000-0000-0000-0000-000000000000}"/>
          </ac:spMkLst>
        </pc:spChg>
      </pc:sldChg>
      <pc:sldChg chg="modSp mod">
        <pc:chgData name="Nishant Ninawe" userId="cce737f2a04d9248" providerId="LiveId" clId="{AD7B96DF-A48F-4E3D-8CBF-A28203563C5A}" dt="2025-11-22T10:40:35.653" v="287" actId="13926"/>
        <pc:sldMkLst>
          <pc:docMk/>
          <pc:sldMk cId="0" sldId="272"/>
        </pc:sldMkLst>
        <pc:spChg chg="mod">
          <ac:chgData name="Nishant Ninawe" userId="cce737f2a04d9248" providerId="LiveId" clId="{AD7B96DF-A48F-4E3D-8CBF-A28203563C5A}" dt="2025-11-22T10:40:35.653" v="287" actId="13926"/>
          <ac:spMkLst>
            <pc:docMk/>
            <pc:sldMk cId="0" sldId="272"/>
            <ac:spMk id="22531" creationId="{00000000-0000-0000-0000-000000000000}"/>
          </ac:spMkLst>
        </pc:spChg>
      </pc:sldChg>
      <pc:sldChg chg="modSp mod">
        <pc:chgData name="Nishant Ninawe" userId="cce737f2a04d9248" providerId="LiveId" clId="{AD7B96DF-A48F-4E3D-8CBF-A28203563C5A}" dt="2025-11-22T10:12:52.189" v="266" actId="13926"/>
        <pc:sldMkLst>
          <pc:docMk/>
          <pc:sldMk cId="970659745" sldId="277"/>
        </pc:sldMkLst>
        <pc:spChg chg="mod">
          <ac:chgData name="Nishant Ninawe" userId="cce737f2a04d9248" providerId="LiveId" clId="{AD7B96DF-A48F-4E3D-8CBF-A28203563C5A}" dt="2025-11-22T10:12:52.189" v="266" actId="13926"/>
          <ac:spMkLst>
            <pc:docMk/>
            <pc:sldMk cId="970659745" sldId="277"/>
            <ac:spMk id="31747" creationId="{00000000-0000-0000-0000-000000000000}"/>
          </ac:spMkLst>
        </pc:spChg>
      </pc:sldChg>
      <pc:sldChg chg="modSp mod">
        <pc:chgData name="Nishant Ninawe" userId="cce737f2a04d9248" providerId="LiveId" clId="{AD7B96DF-A48F-4E3D-8CBF-A28203563C5A}" dt="2025-11-22T10:13:27.843" v="270" actId="13926"/>
        <pc:sldMkLst>
          <pc:docMk/>
          <pc:sldMk cId="3494808864" sldId="278"/>
        </pc:sldMkLst>
        <pc:spChg chg="mod">
          <ac:chgData name="Nishant Ninawe" userId="cce737f2a04d9248" providerId="LiveId" clId="{AD7B96DF-A48F-4E3D-8CBF-A28203563C5A}" dt="2025-11-22T10:13:27.843" v="270" actId="13926"/>
          <ac:spMkLst>
            <pc:docMk/>
            <pc:sldMk cId="3494808864" sldId="278"/>
            <ac:spMk id="32771" creationId="{00000000-0000-0000-0000-000000000000}"/>
          </ac:spMkLst>
        </pc:spChg>
      </pc:sldChg>
      <pc:sldChg chg="modSp mod">
        <pc:chgData name="Nishant Ninawe" userId="cce737f2a04d9248" providerId="LiveId" clId="{AD7B96DF-A48F-4E3D-8CBF-A28203563C5A}" dt="2025-11-22T10:14:30.763" v="275" actId="13926"/>
        <pc:sldMkLst>
          <pc:docMk/>
          <pc:sldMk cId="1000051" sldId="279"/>
        </pc:sldMkLst>
        <pc:spChg chg="mod">
          <ac:chgData name="Nishant Ninawe" userId="cce737f2a04d9248" providerId="LiveId" clId="{AD7B96DF-A48F-4E3D-8CBF-A28203563C5A}" dt="2025-11-22T10:14:30.763" v="275" actId="13926"/>
          <ac:spMkLst>
            <pc:docMk/>
            <pc:sldMk cId="1000051" sldId="279"/>
            <ac:spMk id="33795" creationId="{00000000-0000-0000-0000-000000000000}"/>
          </ac:spMkLst>
        </pc:spChg>
      </pc:sldChg>
      <pc:sldChg chg="modSp mod">
        <pc:chgData name="Nishant Ninawe" userId="cce737f2a04d9248" providerId="LiveId" clId="{AD7B96DF-A48F-4E3D-8CBF-A28203563C5A}" dt="2025-11-22T11:10:10.794" v="289" actId="13926"/>
        <pc:sldMkLst>
          <pc:docMk/>
          <pc:sldMk cId="315685961" sldId="329"/>
        </pc:sldMkLst>
        <pc:spChg chg="mod">
          <ac:chgData name="Nishant Ninawe" userId="cce737f2a04d9248" providerId="LiveId" clId="{AD7B96DF-A48F-4E3D-8CBF-A28203563C5A}" dt="2025-11-22T11:10:10.794" v="289" actId="13926"/>
          <ac:spMkLst>
            <pc:docMk/>
            <pc:sldMk cId="315685961" sldId="329"/>
            <ac:spMk id="29699" creationId="{00000000-0000-0000-0000-000000000000}"/>
          </ac:spMkLst>
        </pc:spChg>
      </pc:sldChg>
      <pc:sldChg chg="modSp mod">
        <pc:chgData name="Nishant Ninawe" userId="cce737f2a04d9248" providerId="LiveId" clId="{AD7B96DF-A48F-4E3D-8CBF-A28203563C5A}" dt="2025-11-22T13:07:19.077" v="293" actId="13926"/>
        <pc:sldMkLst>
          <pc:docMk/>
          <pc:sldMk cId="2681566137" sldId="332"/>
        </pc:sldMkLst>
        <pc:spChg chg="mod">
          <ac:chgData name="Nishant Ninawe" userId="cce737f2a04d9248" providerId="LiveId" clId="{AD7B96DF-A48F-4E3D-8CBF-A28203563C5A}" dt="2025-11-22T13:07:19.077" v="293" actId="13926"/>
          <ac:spMkLst>
            <pc:docMk/>
            <pc:sldMk cId="2681566137" sldId="332"/>
            <ac:spMk id="34819" creationId="{00000000-0000-0000-0000-000000000000}"/>
          </ac:spMkLst>
        </pc:spChg>
      </pc:sldChg>
      <pc:sldChg chg="modSp mod">
        <pc:chgData name="Nishant Ninawe" userId="cce737f2a04d9248" providerId="LiveId" clId="{AD7B96DF-A48F-4E3D-8CBF-A28203563C5A}" dt="2025-11-22T10:38:37.545" v="285" actId="13926"/>
        <pc:sldMkLst>
          <pc:docMk/>
          <pc:sldMk cId="0" sldId="373"/>
        </pc:sldMkLst>
        <pc:spChg chg="mod">
          <ac:chgData name="Nishant Ninawe" userId="cce737f2a04d9248" providerId="LiveId" clId="{AD7B96DF-A48F-4E3D-8CBF-A28203563C5A}" dt="2025-11-22T10:38:37.545" v="285" actId="13926"/>
          <ac:spMkLst>
            <pc:docMk/>
            <pc:sldMk cId="0" sldId="373"/>
            <ac:spMk id="20483" creationId="{00000000-0000-0000-0000-000000000000}"/>
          </ac:spMkLst>
        </pc:spChg>
      </pc:sldChg>
      <pc:sldChg chg="modSp mod">
        <pc:chgData name="Nishant Ninawe" userId="cce737f2a04d9248" providerId="LiveId" clId="{AD7B96DF-A48F-4E3D-8CBF-A28203563C5A}" dt="2025-11-22T13:10:06.654" v="296" actId="13926"/>
        <pc:sldMkLst>
          <pc:docMk/>
          <pc:sldMk cId="3407807394" sldId="375"/>
        </pc:sldMkLst>
        <pc:spChg chg="mod">
          <ac:chgData name="Nishant Ninawe" userId="cce737f2a04d9248" providerId="LiveId" clId="{AD7B96DF-A48F-4E3D-8CBF-A28203563C5A}" dt="2025-11-22T13:10:06.654" v="296" actId="13926"/>
          <ac:spMkLst>
            <pc:docMk/>
            <pc:sldMk cId="3407807394" sldId="375"/>
            <ac:spMk id="35843" creationId="{00000000-0000-0000-0000-000000000000}"/>
          </ac:spMkLst>
        </pc:spChg>
      </pc:sldChg>
      <pc:sldChg chg="modSp mod">
        <pc:chgData name="Nishant Ninawe" userId="cce737f2a04d9248" providerId="LiveId" clId="{AD7B96DF-A48F-4E3D-8CBF-A28203563C5A}" dt="2025-11-22T09:46:04.056" v="256" actId="13926"/>
        <pc:sldMkLst>
          <pc:docMk/>
          <pc:sldMk cId="473403141" sldId="381"/>
        </pc:sldMkLst>
        <pc:spChg chg="mod">
          <ac:chgData name="Nishant Ninawe" userId="cce737f2a04d9248" providerId="LiveId" clId="{AD7B96DF-A48F-4E3D-8CBF-A28203563C5A}" dt="2025-11-22T09:46:04.056" v="256" actId="13926"/>
          <ac:spMkLst>
            <pc:docMk/>
            <pc:sldMk cId="473403141" sldId="381"/>
            <ac:spMk id="3" creationId="{00000000-0000-0000-0000-000000000000}"/>
          </ac:spMkLst>
        </pc:spChg>
        <pc:picChg chg="mod">
          <ac:chgData name="Nishant Ninawe" userId="cce737f2a04d9248" providerId="LiveId" clId="{AD7B96DF-A48F-4E3D-8CBF-A28203563C5A}" dt="2025-11-22T09:45:59.119" v="255" actId="1076"/>
          <ac:picMkLst>
            <pc:docMk/>
            <pc:sldMk cId="473403141" sldId="381"/>
            <ac:picMk id="1026" creationId="{00000000-0000-0000-0000-000000000000}"/>
          </ac:picMkLst>
        </pc:picChg>
      </pc:sldChg>
      <pc:sldChg chg="modSp mod">
        <pc:chgData name="Nishant Ninawe" userId="cce737f2a04d9248" providerId="LiveId" clId="{AD7B96DF-A48F-4E3D-8CBF-A28203563C5A}" dt="2025-11-22T09:40:32.219" v="122" actId="5793"/>
        <pc:sldMkLst>
          <pc:docMk/>
          <pc:sldMk cId="3494783775" sldId="382"/>
        </pc:sldMkLst>
        <pc:spChg chg="mod">
          <ac:chgData name="Nishant Ninawe" userId="cce737f2a04d9248" providerId="LiveId" clId="{AD7B96DF-A48F-4E3D-8CBF-A28203563C5A}" dt="2025-11-22T09:40:32.219" v="122" actId="5793"/>
          <ac:spMkLst>
            <pc:docMk/>
            <pc:sldMk cId="3494783775" sldId="382"/>
            <ac:spMk id="3" creationId="{00000000-0000-0000-0000-000000000000}"/>
          </ac:spMkLst>
        </pc:spChg>
      </pc:sldChg>
      <pc:sldChg chg="modSp mod">
        <pc:chgData name="Nishant Ninawe" userId="cce737f2a04d9248" providerId="LiveId" clId="{AD7B96DF-A48F-4E3D-8CBF-A28203563C5A}" dt="2025-11-22T09:49:37.592" v="257" actId="13926"/>
        <pc:sldMkLst>
          <pc:docMk/>
          <pc:sldMk cId="934108188" sldId="385"/>
        </pc:sldMkLst>
        <pc:spChg chg="mod">
          <ac:chgData name="Nishant Ninawe" userId="cce737f2a04d9248" providerId="LiveId" clId="{AD7B96DF-A48F-4E3D-8CBF-A28203563C5A}" dt="2025-11-22T09:49:37.592" v="257" actId="13926"/>
          <ac:spMkLst>
            <pc:docMk/>
            <pc:sldMk cId="934108188" sldId="385"/>
            <ac:spMk id="3" creationId="{00000000-0000-0000-0000-000000000000}"/>
          </ac:spMkLst>
        </pc:spChg>
      </pc:sldChg>
      <pc:sldChg chg="modSp mod">
        <pc:chgData name="Nishant Ninawe" userId="cce737f2a04d9248" providerId="LiveId" clId="{AD7B96DF-A48F-4E3D-8CBF-A28203563C5A}" dt="2025-11-22T09:50:09.310" v="258" actId="13926"/>
        <pc:sldMkLst>
          <pc:docMk/>
          <pc:sldMk cId="3028675601" sldId="386"/>
        </pc:sldMkLst>
        <pc:spChg chg="mod">
          <ac:chgData name="Nishant Ninawe" userId="cce737f2a04d9248" providerId="LiveId" clId="{AD7B96DF-A48F-4E3D-8CBF-A28203563C5A}" dt="2025-11-22T09:50:09.310" v="258" actId="13926"/>
          <ac:spMkLst>
            <pc:docMk/>
            <pc:sldMk cId="3028675601" sldId="386"/>
            <ac:spMk id="3" creationId="{00000000-0000-0000-0000-000000000000}"/>
          </ac:spMkLst>
        </pc:spChg>
      </pc:sldChg>
      <pc:sldChg chg="modSp mod">
        <pc:chgData name="Nishant Ninawe" userId="cce737f2a04d9248" providerId="LiveId" clId="{AD7B96DF-A48F-4E3D-8CBF-A28203563C5A}" dt="2025-11-22T09:51:33.248" v="259" actId="13926"/>
        <pc:sldMkLst>
          <pc:docMk/>
          <pc:sldMk cId="977446809" sldId="388"/>
        </pc:sldMkLst>
        <pc:spChg chg="mod">
          <ac:chgData name="Nishant Ninawe" userId="cce737f2a04d9248" providerId="LiveId" clId="{AD7B96DF-A48F-4E3D-8CBF-A28203563C5A}" dt="2025-11-22T09:51:33.248" v="259" actId="13926"/>
          <ac:spMkLst>
            <pc:docMk/>
            <pc:sldMk cId="977446809" sldId="388"/>
            <ac:spMk id="3" creationId="{00000000-0000-0000-0000-000000000000}"/>
          </ac:spMkLst>
        </pc:spChg>
      </pc:sldChg>
      <pc:sldChg chg="modSp mod">
        <pc:chgData name="Nishant Ninawe" userId="cce737f2a04d9248" providerId="LiveId" clId="{AD7B96DF-A48F-4E3D-8CBF-A28203563C5A}" dt="2025-11-22T09:52:25.802" v="262" actId="1076"/>
        <pc:sldMkLst>
          <pc:docMk/>
          <pc:sldMk cId="0" sldId="391"/>
        </pc:sldMkLst>
        <pc:picChg chg="mod">
          <ac:chgData name="Nishant Ninawe" userId="cce737f2a04d9248" providerId="LiveId" clId="{AD7B96DF-A48F-4E3D-8CBF-A28203563C5A}" dt="2025-11-22T09:52:25.802" v="262" actId="1076"/>
          <ac:picMkLst>
            <pc:docMk/>
            <pc:sldMk cId="0" sldId="391"/>
            <ac:picMk id="139" creationId="{00000000-0000-0000-0000-000000000000}"/>
          </ac:picMkLst>
        </pc:picChg>
      </pc:sldChg>
      <pc:sldChg chg="modSp mod">
        <pc:chgData name="Nishant Ninawe" userId="cce737f2a04d9248" providerId="LiveId" clId="{AD7B96DF-A48F-4E3D-8CBF-A28203563C5A}" dt="2025-11-22T10:15:05.652" v="281" actId="1076"/>
        <pc:sldMkLst>
          <pc:docMk/>
          <pc:sldMk cId="1686190625" sldId="397"/>
        </pc:sldMkLst>
        <pc:spChg chg="mod">
          <ac:chgData name="Nishant Ninawe" userId="cce737f2a04d9248" providerId="LiveId" clId="{AD7B96DF-A48F-4E3D-8CBF-A28203563C5A}" dt="2025-11-22T10:14:56.555" v="279" actId="1076"/>
          <ac:spMkLst>
            <pc:docMk/>
            <pc:sldMk cId="1686190625" sldId="397"/>
            <ac:spMk id="4" creationId="{E85F8F0D-B119-05C7-386F-9061B7BD0001}"/>
          </ac:spMkLst>
        </pc:spChg>
        <pc:spChg chg="mod">
          <ac:chgData name="Nishant Ninawe" userId="cce737f2a04d9248" providerId="LiveId" clId="{AD7B96DF-A48F-4E3D-8CBF-A28203563C5A}" dt="2025-11-22T10:15:05.652" v="281" actId="1076"/>
          <ac:spMkLst>
            <pc:docMk/>
            <pc:sldMk cId="1686190625" sldId="397"/>
            <ac:spMk id="8" creationId="{229A6E4C-8AB4-E5DE-D21D-900EEF31FBAA}"/>
          </ac:spMkLst>
        </pc:spChg>
        <pc:graphicFrameChg chg="mod">
          <ac:chgData name="Nishant Ninawe" userId="cce737f2a04d9248" providerId="LiveId" clId="{AD7B96DF-A48F-4E3D-8CBF-A28203563C5A}" dt="2025-11-22T10:14:51.039" v="278" actId="1076"/>
          <ac:graphicFrameMkLst>
            <pc:docMk/>
            <pc:sldMk cId="1686190625" sldId="397"/>
            <ac:graphicFrameMk id="7" creationId="{5D53548F-62FE-37EC-6FD3-8AB9EE99ADB5}"/>
          </ac:graphicFrameMkLst>
        </pc:graphicFrameChg>
      </pc:sldChg>
      <pc:sldChg chg="modSp mod">
        <pc:chgData name="Nishant Ninawe" userId="cce737f2a04d9248" providerId="LiveId" clId="{AD7B96DF-A48F-4E3D-8CBF-A28203563C5A}" dt="2025-11-22T12:50:41.548" v="292" actId="13926"/>
        <pc:sldMkLst>
          <pc:docMk/>
          <pc:sldMk cId="801128443" sldId="404"/>
        </pc:sldMkLst>
        <pc:spChg chg="mod">
          <ac:chgData name="Nishant Ninawe" userId="cce737f2a04d9248" providerId="LiveId" clId="{AD7B96DF-A48F-4E3D-8CBF-A28203563C5A}" dt="2025-11-22T12:50:41.548" v="292" actId="13926"/>
          <ac:spMkLst>
            <pc:docMk/>
            <pc:sldMk cId="801128443" sldId="404"/>
            <ac:spMk id="25603" creationId="{00000000-0000-0000-0000-000000000000}"/>
          </ac:spMkLst>
        </pc:spChg>
      </pc:sldChg>
      <pc:sldChg chg="modSp mod">
        <pc:chgData name="Nishant Ninawe" userId="cce737f2a04d9248" providerId="LiveId" clId="{AD7B96DF-A48F-4E3D-8CBF-A28203563C5A}" dt="2025-11-22T13:15:31.625" v="298" actId="13926"/>
        <pc:sldMkLst>
          <pc:docMk/>
          <pc:sldMk cId="0" sldId="414"/>
        </pc:sldMkLst>
        <pc:spChg chg="mod">
          <ac:chgData name="Nishant Ninawe" userId="cce737f2a04d9248" providerId="LiveId" clId="{AD7B96DF-A48F-4E3D-8CBF-A28203563C5A}" dt="2025-11-22T13:15:31.625" v="298" actId="13926"/>
          <ac:spMkLst>
            <pc:docMk/>
            <pc:sldMk cId="0" sldId="414"/>
            <ac:spMk id="173" creationId="{00000000-0000-0000-0000-000000000000}"/>
          </ac:spMkLst>
        </pc:spChg>
      </pc:sldChg>
      <pc:sldChg chg="delSp modSp new mod">
        <pc:chgData name="Nishant Ninawe" userId="cce737f2a04d9248" providerId="LiveId" clId="{AD7B96DF-A48F-4E3D-8CBF-A28203563C5A}" dt="2025-11-22T09:28:58.004" v="62" actId="478"/>
        <pc:sldMkLst>
          <pc:docMk/>
          <pc:sldMk cId="3564469306" sldId="418"/>
        </pc:sldMkLst>
        <pc:spChg chg="del">
          <ac:chgData name="Nishant Ninawe" userId="cce737f2a04d9248" providerId="LiveId" clId="{AD7B96DF-A48F-4E3D-8CBF-A28203563C5A}" dt="2025-11-22T09:28:58.004" v="62" actId="478"/>
          <ac:spMkLst>
            <pc:docMk/>
            <pc:sldMk cId="3564469306" sldId="418"/>
            <ac:spMk id="2" creationId="{88D4B9FB-F263-C44E-1CF7-1DC0B2209FC8}"/>
          </ac:spMkLst>
        </pc:spChg>
        <pc:spChg chg="mod">
          <ac:chgData name="Nishant Ninawe" userId="cce737f2a04d9248" providerId="LiveId" clId="{AD7B96DF-A48F-4E3D-8CBF-A28203563C5A}" dt="2025-11-22T09:28:51.585" v="61"/>
          <ac:spMkLst>
            <pc:docMk/>
            <pc:sldMk cId="3564469306" sldId="418"/>
            <ac:spMk id="3" creationId="{7CE586BD-3CC8-84E5-C47C-804A005CBC5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8514"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448515" name="Rectangle 3"/>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448516" name="Rectangle 4"/>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448517" name="Rectangle 5"/>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fld id="{29E57153-A580-4B5E-9B53-6B87B5A1FB9A}" type="slidenum">
              <a:rPr lang="en-US" altLang="en-US"/>
              <a:pPr/>
              <a:t>‹#›</a:t>
            </a:fld>
            <a:endParaRPr lang="en-US" altLang="en-US"/>
          </a:p>
        </p:txBody>
      </p:sp>
    </p:spTree>
    <p:extLst>
      <p:ext uri="{BB962C8B-B14F-4D97-AF65-F5344CB8AC3E}">
        <p14:creationId xmlns:p14="http://schemas.microsoft.com/office/powerpoint/2010/main" val="91260371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9:31:07.73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2486,'0'11,"0"0,1 0,0-1,1 1,0-1,0 1,1-1,0 0,1 1,0-2,6 11,5 6,0-1,2 0,1 0,22 22,-23-28,24 25,55 46,-94-89,0 1,1-1,-1 1,1-1,0 0,-1 0,1 0,0 0,0 0,-1-1,1 1,0-1,0 0,0 1,0-1,0-1,0 1,0 0,-1-1,1 0,0 1,0-1,0 0,3-2,7-4,-1 0,1-1,19-16,-30 23,206-184,-108 90,839-746,-17 17,-250 239,-435 384,-157 121,-38 37,-24 27,-3 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9:31:10.10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5-09-22T18:42:26.022"/>
    </inkml:context>
    <inkml:brush xml:id="br0">
      <inkml:brushProperty name="width" value="0.05292" units="cm"/>
      <inkml:brushProperty name="height" value="0.05292" units="cm"/>
      <inkml:brushProperty name="color" value="#FF0000"/>
    </inkml:brush>
  </inkml:definitions>
  <inkml:trace contextRef="#ctx0" brushRef="#br0">3810 13159 0,'0'53'219,"0"-36"-203,0 18-16,0-17 15,0 17-15,0-17 16,0 0-16,0-1 31,0 1-15,0 0-16,0-1 15,0 18 1,0 1 0,0-1-1,0 0 1,0-17 15,0 0-15</inkml:trace>
  <inkml:trace contextRef="#ctx0" brushRef="#br0" timeOffset="1355.99">3475 13176 0,'124'-35'157,"-54"17"-142,-35 18 1,-17-17 0,17 17-16,-17 0 46,70 0-30,-35-18-16,0 18 16,53 0-1,-36 0-15,-52 0 16,17 0 0,-17-18-1,0 18 1,-1 0-1,19 0 17,17 0-17,-1 0 1,-34 0 0,0 0-1</inkml:trace>
  <inkml:trace contextRef="#ctx0" brushRef="#br0" timeOffset="2576.92">4163 13406 0,'0'35'219,"0"18"-203,0 35-1,0-18 1,0-52-16,0 17 16,0 1-1,0-19 32,0 1-16,0 0 16,0-1-15</inkml:trace>
  <inkml:trace contextRef="#ctx0" brushRef="#br0" timeOffset="3893.47">10037 13035 0,'17'0'62,"1"53"-46,-18-18-16,0 54 16,0 16-1,0-69 1,0-19-16,0 54 15,0-54 1,0 36 15,0-35 1,0 0 61,0-1-61,0 1 30,-18-18 47,-17-53-93,35 35-16</inkml:trace>
  <inkml:trace contextRef="#ctx0" brushRef="#br0" timeOffset="4950.42">9719 13088 0,'36'0'156,"-19"0"-140,19-18 15,-19 18-15,18 0 15,159-35-16,142 18 1,-107-36 0,-123 53-1</inkml:trace>
  <inkml:trace contextRef="#ctx0" brushRef="#br0" timeOffset="6892.82">10443 13388 0,'35'0'156,"-18"-18"-140,1 18 15,35 0 32,-18 53-32,-35-18 0,0 54 1,0-54-1,-53 18 0,36-36-15,-19 1-1,19 0 1,-18 17 0,-1-17-1,19 17 1,-1-35-1,-17 35 1,-18 18 15,35-35-31,-17-1 16,17 1-16,1 0 31,17-1-15,35-17 203,18 0-204,0 0-15,17 0 16,54 0-1,-54 0-15,-17 0 32,-35 0-17,0 0 1,17 0 15,-18 0 0</inkml:trace>
  <inkml:trace contextRef="#ctx0" brushRef="#br0" timeOffset="7967.81">13159 14517 0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5-09-22T18:49:56.830"/>
    </inkml:context>
    <inkml:brush xml:id="br0">
      <inkml:brushProperty name="width" value="0.05292" units="cm"/>
      <inkml:brushProperty name="height" value="0.05292" units="cm"/>
      <inkml:brushProperty name="color" value="#FF0000"/>
    </inkml:brush>
  </inkml:definitions>
  <inkml:trace contextRef="#ctx0" brushRef="#br0">16387 15434 0,'0'53'109,"0"88"-93,17 18-1,1-53 1,0-36 0,-1-52-1</inkml:trace>
  <inkml:trace contextRef="#ctx0" brushRef="#br0" timeOffset="1041.41">15911 15575 0,'70'-35'63,"54"0"-32,-89 17-15,282-123-1,-87 88 16,-160 35-15,-52 18 0</inkml:trace>
  <inkml:trace contextRef="#ctx0" brushRef="#br0" timeOffset="4006.14">16828 15734 0,'0'106'156,"0"-18"-140,0 18-1,0-71-15,0 36 16,0 17 0,0-53-1</inkml:trace>
  <inkml:trace contextRef="#ctx0" brushRef="#br0" timeOffset="5317.41">22049 15416 0,'18'0'78,"17"53"-47,18 0-15,0-17-16,0 34 15,-36-35 1,-17 1-1,18-1 17,-18-17 46,0-1-16,18 1-46,-1 35 0,-17-36-1,0 1 16,0 0 16,0-1 47</inkml:trace>
  <inkml:trace contextRef="#ctx0" brushRef="#br0" timeOffset="6556.84">21890 15575 0,'18'-53'110,"194"-106"-79,-89 71 0,-88 71 1,-35-1 14,36 18-14,-36-18-1,17 18-15</inkml:trace>
  <inkml:trace contextRef="#ctx0" brushRef="#br0" timeOffset="7891.13">22578 15646 0,'18'0'31,"-1"0"0,1 0 32,0 0-16,17 88-16,18-18-15,-36 36-1,-17-70 1,0-1 0,0-18-1,0 1 1,0 17-1,-17-35 32,-1 0-15,18 18-17,18-18 126,299-106-110,-158 53 0</inkml:trace>
  <inkml:trace contextRef="#ctx0" brushRef="#br0" timeOffset="9734.32">21290 15822 0,'-52'0'141,"-54"18"-110,-53-18-15,0 0 0,36 0-1,17 0 1,35 0-1,18 0 1,18 0-16,18 0 16,-1 0-16,-35 0 15,-35 0 1,17 0-16,-264-18 31,88 18-15,-35 0-1,-18 0 17,88 0-17,71 0 1,71 0 0,52 0-1,0 0 1,-34 0 31,34 0-32,-53-18 1,-17 18 0,35 0-16,18 0 15,-53-17 1,70 17-1,0 0 32,1 0-15,-18 0-17,-1 0 1,19 0-1,17-35 282</inkml:trace>
  <inkml:trace contextRef="#ctx0" brushRef="#br0" timeOffset="11578.62">18204 15610 0,'-89'0'109,"72"0"-93,-18 0 0,17 18-1,18 0-15,-18-18 32,1 17 46,-1-17-47,0 0 141,18 18-157,-17-18 32,-1 18-15,18-1-1,-18-17-16,1 0 48,17 18 156,70 17-204,-34-17-15,-1-1 16,0 19-16,36-1 31,-54-17-15,-17-1 31,18-17-16,0 18-15,-18 0-1,17-18 1,1 17-1,0 1 17,-1-18-17,1 0 1,0 17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6147" name="Rectangle 3"/>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lvl1pPr algn="r" defTabSz="930275">
              <a:defRPr sz="1300">
                <a:latin typeface="Times New Roman" charset="0"/>
                <a:ea typeface="+mn-ea"/>
                <a:cs typeface="+mn-cs"/>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6151"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atin typeface="Times New Roman" panose="02020603050405020304" pitchFamily="18" charset="0"/>
              </a:defRPr>
            </a:lvl1pPr>
          </a:lstStyle>
          <a:p>
            <a:fld id="{5B7CC90F-195F-4DEF-A4DA-F5B0A181CF9F}" type="slidenum">
              <a:rPr lang="en-US" altLang="en-US"/>
              <a:pPr/>
              <a:t>‹#›</a:t>
            </a:fld>
            <a:endParaRPr lang="en-US" altLang="en-US"/>
          </a:p>
        </p:txBody>
      </p:sp>
    </p:spTree>
    <p:extLst>
      <p:ext uri="{BB962C8B-B14F-4D97-AF65-F5344CB8AC3E}">
        <p14:creationId xmlns:p14="http://schemas.microsoft.com/office/powerpoint/2010/main" val="26677081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79FD97-3E05-4AF7-9FA7-5D40E8EC0B1C}" type="slidenum">
              <a:rPr lang="en-US" altLang="en-US" sz="1300">
                <a:latin typeface="Times New Roman" panose="02020603050405020304" pitchFamily="18" charset="0"/>
              </a:rPr>
              <a:pPr/>
              <a:t>1</a:t>
            </a:fld>
            <a:endParaRPr lang="en-US" altLang="en-US" sz="130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017DEB3-15EC-4046-B6FC-7059E5DE6572}" type="slidenum">
              <a:rPr lang="en-US" altLang="en-US" sz="1300">
                <a:latin typeface="Times New Roman" panose="02020603050405020304" pitchFamily="18" charset="0"/>
              </a:rPr>
              <a:pPr/>
              <a:t>2</a:t>
            </a:fld>
            <a:endParaRPr lang="en-US" altLang="en-US" sz="1300">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A90F1DB-8581-4412-BE09-331FFC345D8A}" type="slidenum">
              <a:rPr lang="en-US" altLang="en-US" sz="1300">
                <a:latin typeface="Times New Roman" panose="02020603050405020304" pitchFamily="18" charset="0"/>
              </a:rPr>
              <a:pPr/>
              <a:t>3</a:t>
            </a:fld>
            <a:endParaRPr lang="en-US" altLang="en-US" sz="1300">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357C7EE-1394-4754-ABAC-F51DB6C77C16}" type="slidenum">
              <a:rPr lang="en-US" altLang="en-US" sz="1300">
                <a:latin typeface="Times New Roman" panose="02020603050405020304" pitchFamily="18" charset="0"/>
              </a:rPr>
              <a:pPr/>
              <a:t>4</a:t>
            </a:fld>
            <a:endParaRPr lang="en-US" altLang="en-US" sz="13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96B228-294A-4543-9668-830A4BA10FD0}" type="slidenum">
              <a:rPr lang="en-US" altLang="en-US" sz="1300">
                <a:latin typeface="Times New Roman" panose="02020603050405020304" pitchFamily="18" charset="0"/>
              </a:rPr>
              <a:pPr/>
              <a:t>5</a:t>
            </a:fld>
            <a:endParaRPr lang="en-US" altLang="en-US" sz="1300">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B368A3B-2500-44E1-A876-1D192EB39441}" type="slidenum">
              <a:rPr lang="en-US" altLang="en-US" sz="1300">
                <a:latin typeface="Times New Roman" panose="02020603050405020304" pitchFamily="18" charset="0"/>
              </a:rPr>
              <a:pPr/>
              <a:t>6</a:t>
            </a:fld>
            <a:endParaRPr lang="en-US" altLang="en-US" sz="13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C7B586B-FBE3-4075-88E9-19535EAEDE53}" type="slidenum">
              <a:rPr lang="en-US" altLang="en-US" sz="1300">
                <a:latin typeface="Times New Roman" panose="02020603050405020304" pitchFamily="18" charset="0"/>
              </a:rPr>
              <a:pPr/>
              <a:t>7</a:t>
            </a:fld>
            <a:endParaRPr lang="en-US" altLang="en-US" sz="1300">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09CAF58-8E40-42E6-AEEE-83BAC72A0401}" type="slidenum">
              <a:rPr lang="en-US" altLang="en-US" sz="1300">
                <a:latin typeface="Times New Roman" panose="02020603050405020304" pitchFamily="18" charset="0"/>
              </a:rPr>
              <a:pPr/>
              <a:t>9</a:t>
            </a:fld>
            <a:endParaRPr lang="en-US" altLang="en-US" sz="1300">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6D1BF8E-E101-475A-9CDD-3A67C3D2CCFD}" type="slidenum">
              <a:rPr lang="en-US" altLang="en-US" sz="1300">
                <a:latin typeface="Times New Roman" panose="02020603050405020304" pitchFamily="18" charset="0"/>
              </a:rPr>
              <a:pPr/>
              <a:t>10</a:t>
            </a:fld>
            <a:endParaRPr lang="en-US" altLang="en-US" sz="1300">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5C1AAF5-6AEA-4D14-8684-0B8539C0EA31}" type="slidenum">
              <a:rPr lang="en-US" altLang="en-US" sz="1300">
                <a:latin typeface="Times New Roman" panose="02020603050405020304" pitchFamily="18" charset="0"/>
              </a:rPr>
              <a:pPr/>
              <a:t>11</a:t>
            </a:fld>
            <a:endParaRPr lang="en-US" altLang="en-US" sz="130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181E236-F3CF-4317-8D23-91C03DF91DAA}" type="slidenum">
              <a:rPr lang="en-US" altLang="en-US" sz="1300">
                <a:latin typeface="Times New Roman" panose="02020603050405020304" pitchFamily="18" charset="0"/>
              </a:rPr>
              <a:pPr/>
              <a:t>18</a:t>
            </a:fld>
            <a:endParaRPr lang="en-US" altLang="en-US" sz="1300">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78FB941-5722-4BA5-84DF-FC78527A2BB7}" type="slidenum">
              <a:rPr lang="en-US" altLang="en-US" sz="1300">
                <a:latin typeface="Times New Roman" panose="02020603050405020304" pitchFamily="18" charset="0"/>
              </a:rPr>
              <a:pPr/>
              <a:t>22</a:t>
            </a:fld>
            <a:endParaRPr lang="en-US" altLang="en-US" sz="1300">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32311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37B947-B885-486A-9E0E-5DB5F2D174C2}" type="slidenum">
              <a:rPr lang="en-US" altLang="en-US" sz="1300">
                <a:latin typeface="Times New Roman" panose="02020603050405020304" pitchFamily="18" charset="0"/>
              </a:rPr>
              <a:pPr/>
              <a:t>23</a:t>
            </a:fld>
            <a:endParaRPr lang="en-US" altLang="en-US" sz="1300">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51371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8F6C2F6-402D-422C-BB49-ADCD5F850701}" type="slidenum">
              <a:rPr lang="en-US" altLang="en-US" sz="1300">
                <a:latin typeface="Times New Roman" panose="02020603050405020304" pitchFamily="18" charset="0"/>
              </a:rPr>
              <a:pPr/>
              <a:t>24</a:t>
            </a:fld>
            <a:endParaRPr lang="en-US" altLang="en-US" sz="1300">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759537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181FFE9-0679-4531-AB67-8E0EAB444F99}" type="slidenum">
              <a:rPr lang="en-US" altLang="en-US" sz="1300">
                <a:latin typeface="Times New Roman" panose="02020603050405020304" pitchFamily="18" charset="0"/>
              </a:rPr>
              <a:pPr/>
              <a:t>28</a:t>
            </a:fld>
            <a:endParaRPr lang="en-US" altLang="en-US" sz="1300">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02C88-69C3-68E5-DC58-DF756BA3C9B5}"/>
            </a:ext>
          </a:extLst>
        </p:cNvPr>
        <p:cNvGrpSpPr/>
        <p:nvPr/>
      </p:nvGrpSpPr>
      <p:grpSpPr>
        <a:xfrm>
          <a:off x="0" y="0"/>
          <a:ext cx="0" cy="0"/>
          <a:chOff x="0" y="0"/>
          <a:chExt cx="0" cy="0"/>
        </a:xfrm>
      </p:grpSpPr>
      <p:sp>
        <p:nvSpPr>
          <p:cNvPr id="59394" name="Rectangle 7">
            <a:extLst>
              <a:ext uri="{FF2B5EF4-FFF2-40B4-BE49-F238E27FC236}">
                <a16:creationId xmlns:a16="http://schemas.microsoft.com/office/drawing/2014/main" id="{1030A62B-1099-186E-2220-1A9B0633A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181FFE9-0679-4531-AB67-8E0EAB444F99}" type="slidenum">
              <a:rPr lang="en-US" altLang="en-US" sz="1300">
                <a:latin typeface="Times New Roman" panose="02020603050405020304" pitchFamily="18" charset="0"/>
              </a:rPr>
              <a:pPr/>
              <a:t>29</a:t>
            </a:fld>
            <a:endParaRPr lang="en-US" altLang="en-US" sz="1300">
              <a:latin typeface="Times New Roman" panose="02020603050405020304" pitchFamily="18" charset="0"/>
            </a:endParaRPr>
          </a:p>
        </p:txBody>
      </p:sp>
      <p:sp>
        <p:nvSpPr>
          <p:cNvPr id="59395" name="Rectangle 2">
            <a:extLst>
              <a:ext uri="{FF2B5EF4-FFF2-40B4-BE49-F238E27FC236}">
                <a16:creationId xmlns:a16="http://schemas.microsoft.com/office/drawing/2014/main" id="{694BE0CC-7DFD-0B2F-B07C-E4CDAE151912}"/>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1E3C3566-F5D1-10AB-F588-B53CFD6589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35736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DA3BC2A-3044-458B-B1BD-DEB1040FB7FC}" type="slidenum">
              <a:rPr lang="en-US" altLang="en-US" sz="1300">
                <a:latin typeface="Times New Roman" panose="02020603050405020304" pitchFamily="18" charset="0"/>
              </a:rPr>
              <a:pPr/>
              <a:t>30</a:t>
            </a:fld>
            <a:endParaRPr lang="en-US" altLang="en-US" sz="1300">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10E56-5343-F4CC-04BD-F23BB49775EC}"/>
            </a:ext>
          </a:extLst>
        </p:cNvPr>
        <p:cNvGrpSpPr/>
        <p:nvPr/>
      </p:nvGrpSpPr>
      <p:grpSpPr>
        <a:xfrm>
          <a:off x="0" y="0"/>
          <a:ext cx="0" cy="0"/>
          <a:chOff x="0" y="0"/>
          <a:chExt cx="0" cy="0"/>
        </a:xfrm>
      </p:grpSpPr>
      <p:sp>
        <p:nvSpPr>
          <p:cNvPr id="59394" name="Rectangle 7">
            <a:extLst>
              <a:ext uri="{FF2B5EF4-FFF2-40B4-BE49-F238E27FC236}">
                <a16:creationId xmlns:a16="http://schemas.microsoft.com/office/drawing/2014/main" id="{ED1B9210-F22F-1CB1-8836-11D6279138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181FFE9-0679-4531-AB67-8E0EAB444F99}" type="slidenum">
              <a:rPr lang="en-US" altLang="en-US" sz="1300">
                <a:latin typeface="Times New Roman" panose="02020603050405020304" pitchFamily="18" charset="0"/>
              </a:rPr>
              <a:pPr/>
              <a:t>31</a:t>
            </a:fld>
            <a:endParaRPr lang="en-US" altLang="en-US" sz="1300">
              <a:latin typeface="Times New Roman" panose="02020603050405020304" pitchFamily="18" charset="0"/>
            </a:endParaRPr>
          </a:p>
        </p:txBody>
      </p:sp>
      <p:sp>
        <p:nvSpPr>
          <p:cNvPr id="59395" name="Rectangle 2">
            <a:extLst>
              <a:ext uri="{FF2B5EF4-FFF2-40B4-BE49-F238E27FC236}">
                <a16:creationId xmlns:a16="http://schemas.microsoft.com/office/drawing/2014/main" id="{E82A2AC0-2950-C579-281D-FDC8C0115CDB}"/>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CFE6FBB9-F246-F0F5-44E8-0E38C5BB81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80477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E9D46A0-8FB9-4F36-8A68-841EE000AD2B}" type="slidenum">
              <a:rPr lang="en-US" altLang="en-US" sz="1300">
                <a:latin typeface="Times New Roman" panose="02020603050405020304" pitchFamily="18" charset="0"/>
              </a:rPr>
              <a:pPr/>
              <a:t>33</a:t>
            </a:fld>
            <a:endParaRPr lang="en-US" altLang="en-US" sz="1300">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70FF04-BD4D-47CF-853F-6CFC89ED42D1}" type="slidenum">
              <a:rPr lang="en-US" altLang="en-US" sz="1300">
                <a:latin typeface="Times New Roman" panose="02020603050405020304" pitchFamily="18" charset="0"/>
              </a:rPr>
              <a:pPr/>
              <a:t>34</a:t>
            </a:fld>
            <a:endParaRPr lang="en-US" altLang="en-US" sz="130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C98D951-B8BF-4FE7-8FF8-B9812C3DBA9F}" type="slidenum">
              <a:rPr lang="en-US" altLang="en-US" sz="1300">
                <a:latin typeface="Times New Roman" panose="02020603050405020304" pitchFamily="18" charset="0"/>
              </a:rPr>
              <a:pPr/>
              <a:t>36</a:t>
            </a:fld>
            <a:endParaRPr lang="en-US" altLang="en-US" sz="130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BAB2A54-CE49-40F1-BE38-E3DCEF43F856}" type="slidenum">
              <a:rPr lang="en-US" altLang="en-US" sz="1300">
                <a:latin typeface="Times New Roman" panose="02020603050405020304" pitchFamily="18" charset="0"/>
              </a:rPr>
              <a:pPr/>
              <a:t>37</a:t>
            </a:fld>
            <a:endParaRPr lang="en-US" altLang="en-US" sz="1300">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9AF8D3E-D4BC-4C85-BC46-168123D4B1D3}" type="slidenum">
              <a:rPr lang="en-US" altLang="en-US" sz="1300">
                <a:latin typeface="Times New Roman" panose="02020603050405020304" pitchFamily="18" charset="0"/>
              </a:rPr>
              <a:pPr/>
              <a:t>38</a:t>
            </a:fld>
            <a:endParaRPr lang="en-US" altLang="en-US" sz="1300">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713813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589F052-F191-428D-AF67-B65E8960DD5C}" type="slidenum">
              <a:rPr lang="en-US" altLang="en-US" sz="1300">
                <a:latin typeface="Times New Roman" panose="02020603050405020304" pitchFamily="18" charset="0"/>
              </a:rPr>
              <a:pPr/>
              <a:t>39</a:t>
            </a:fld>
            <a:endParaRPr lang="en-US" altLang="en-US" sz="1300">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645882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DD8D6FB-95B3-4852-BB48-80936A26FC18}" type="slidenum">
              <a:rPr lang="en-US" altLang="en-US" sz="1300">
                <a:latin typeface="Times New Roman" panose="02020603050405020304" pitchFamily="18" charset="0"/>
              </a:rPr>
              <a:pPr/>
              <a:t>43</a:t>
            </a:fld>
            <a:endParaRPr lang="en-US" altLang="en-US" sz="130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60967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3120282-FA19-4407-98A6-B549395434D4}" type="slidenum">
              <a:rPr lang="en-US" altLang="en-US" sz="1300">
                <a:latin typeface="Times New Roman" panose="02020603050405020304" pitchFamily="18" charset="0"/>
              </a:rPr>
              <a:pPr/>
              <a:t>44</a:t>
            </a:fld>
            <a:endParaRPr lang="en-US" altLang="en-US" sz="130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346072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B704F0-BAEA-48FC-A020-011B0A01BDD0}" type="slidenum">
              <a:rPr lang="en-US" altLang="en-US" sz="1300">
                <a:latin typeface="Times New Roman" panose="02020603050405020304" pitchFamily="18" charset="0"/>
              </a:rPr>
              <a:pPr/>
              <a:t>45</a:t>
            </a:fld>
            <a:endParaRPr lang="en-US" altLang="en-US" sz="1300">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23744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6C7905A-2CC2-4593-BC50-F4A9103CA5F9}" type="slidenum">
              <a:rPr lang="en-US" altLang="en-US" sz="1300">
                <a:latin typeface="Times New Roman" panose="02020603050405020304" pitchFamily="18" charset="0"/>
              </a:rPr>
              <a:pPr/>
              <a:t>46</a:t>
            </a:fld>
            <a:endParaRPr lang="en-US" altLang="en-US" sz="13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165247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B47C592-32BF-47BB-9678-D5FB42722EAA}" type="slidenum">
              <a:rPr lang="en-US" altLang="en-US" sz="1300">
                <a:latin typeface="Times New Roman" panose="02020603050405020304" pitchFamily="18" charset="0"/>
              </a:rPr>
              <a:pPr/>
              <a:t>47</a:t>
            </a:fld>
            <a:endParaRPr lang="en-US" altLang="en-US" sz="13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007787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6BDD98-9085-4F65-9BDF-1B839A8B4DC6}" type="slidenum">
              <a:rPr lang="en-US" altLang="en-US" sz="1300">
                <a:latin typeface="Times New Roman" panose="02020603050405020304" pitchFamily="18" charset="0"/>
              </a:rPr>
              <a:pPr/>
              <a:t>65</a:t>
            </a:fld>
            <a:endParaRPr lang="en-US" altLang="en-US" sz="1300">
              <a:latin typeface="Times New Roman" panose="02020603050405020304"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955DDF8-1267-474D-9F61-95CB06392C59}" type="slidenum">
              <a:rPr lang="en-US" altLang="en-US" sz="1300">
                <a:latin typeface="Times New Roman" panose="02020603050405020304" pitchFamily="18" charset="0"/>
              </a:rPr>
              <a:pPr/>
              <a:t>66</a:t>
            </a:fld>
            <a:endParaRPr lang="en-US" altLang="en-US" sz="1300">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3F68DF0-6905-4D9D-ACCA-81F50CE25A46}" type="slidenum">
              <a:rPr lang="en-US" altLang="en-US" sz="1300">
                <a:latin typeface="Times New Roman" panose="02020603050405020304" pitchFamily="18" charset="0"/>
              </a:rPr>
              <a:pPr/>
              <a:t>67</a:t>
            </a:fld>
            <a:endParaRPr lang="en-US" altLang="en-US" sz="13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14055-A8AE-4C05-AC7A-46A0B6A29489}" type="slidenum">
              <a:rPr lang="en-US" altLang="en-US" sz="1300">
                <a:latin typeface="Times New Roman" panose="02020603050405020304" pitchFamily="18" charset="0"/>
              </a:rPr>
              <a:pPr/>
              <a:t>68</a:t>
            </a:fld>
            <a:endParaRPr lang="en-US" altLang="en-US" sz="130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D4DD0DF-53A0-4666-9689-6AAB81C4795A}" type="slidenum">
              <a:rPr lang="en-US" altLang="en-US" sz="1300">
                <a:latin typeface="Times New Roman" panose="02020603050405020304" pitchFamily="18" charset="0"/>
              </a:rPr>
              <a:pPr/>
              <a:t>69</a:t>
            </a:fld>
            <a:endParaRPr lang="en-US" altLang="en-US" sz="13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BBB09A6-5E06-46D1-A99F-E344CBBF67B7}" type="slidenum">
              <a:rPr lang="en-US" altLang="en-US" sz="1300">
                <a:latin typeface="Times New Roman" panose="02020603050405020304" pitchFamily="18" charset="0"/>
              </a:rPr>
              <a:pPr/>
              <a:t>70</a:t>
            </a:fld>
            <a:endParaRPr lang="en-US" altLang="en-US" sz="13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B11C6810-CB31-4E30-9B86-57880A05BB4E}" type="slidenum">
              <a:rPr lang="en-US" altLang="en-US" smtClean="0"/>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2299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37424" y="1102497"/>
            <a:ext cx="8408126"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xfrm>
            <a:off x="6778487" y="6388691"/>
            <a:ext cx="1905000" cy="457200"/>
          </a:xfrm>
          <a:ln/>
        </p:spPr>
        <p:txBody>
          <a:bodyPr/>
          <a:lstStyle>
            <a:lvl1pPr>
              <a:defRPr/>
            </a:lvl1pPr>
          </a:lstStyle>
          <a:p>
            <a:fld id="{4AAA266F-A005-4455-9502-E3724A964F5A}" type="slidenum">
              <a:rPr lang="en-US" altLang="en-US" smtClean="0"/>
              <a:pPr/>
              <a:t>‹#›</a:t>
            </a:fld>
            <a:endParaRPr lang="en-US" altLang="en-US"/>
          </a:p>
        </p:txBody>
      </p:sp>
    </p:spTree>
    <p:extLst>
      <p:ext uri="{BB962C8B-B14F-4D97-AF65-F5344CB8AC3E}">
        <p14:creationId xmlns:p14="http://schemas.microsoft.com/office/powerpoint/2010/main" val="280999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74863" y="4073662"/>
            <a:ext cx="7772400" cy="1500187"/>
          </a:xfr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fld id="{18E6A8F2-4A8B-4A99-BE4D-D3A869CE7587}" type="slidenum">
              <a:rPr lang="en-US" altLang="en-US" smtClean="0"/>
              <a:pPr/>
              <a:t>‹#›</a:t>
            </a:fld>
            <a:endParaRPr lang="en-US" altLang="en-US"/>
          </a:p>
        </p:txBody>
      </p:sp>
    </p:spTree>
    <p:extLst>
      <p:ext uri="{BB962C8B-B14F-4D97-AF65-F5344CB8AC3E}">
        <p14:creationId xmlns:p14="http://schemas.microsoft.com/office/powerpoint/2010/main" val="12534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fld id="{B11C6810-CB31-4E30-9B86-57880A05BB4E}" type="slidenum">
              <a:rPr lang="en-US" altLang="en-US" smtClean="0"/>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1102497"/>
            <a:ext cx="3985352"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23287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fld id="{7F51659C-1AF3-4FAF-8545-8F03FEBA5E08}" type="slidenum">
              <a:rPr lang="en-US" altLang="en-US" smtClean="0"/>
              <a:pPr/>
              <a:t>‹#›</a:t>
            </a:fld>
            <a:endParaRPr lang="en-US" altLang="en-US"/>
          </a:p>
        </p:txBody>
      </p:sp>
    </p:spTree>
    <p:extLst>
      <p:ext uri="{BB962C8B-B14F-4D97-AF65-F5344CB8AC3E}">
        <p14:creationId xmlns:p14="http://schemas.microsoft.com/office/powerpoint/2010/main" val="2019400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fld id="{E25CEF85-9243-4C03-980F-FEC8A6A7A10E}" type="slidenum">
              <a:rPr lang="en-US" altLang="en-US" smtClean="0"/>
              <a:pPr/>
              <a:t>‹#›</a:t>
            </a:fld>
            <a:endParaRPr lang="en-US" altLang="en-US"/>
          </a:p>
        </p:txBody>
      </p:sp>
    </p:spTree>
    <p:extLst>
      <p:ext uri="{BB962C8B-B14F-4D97-AF65-F5344CB8AC3E}">
        <p14:creationId xmlns:p14="http://schemas.microsoft.com/office/powerpoint/2010/main" val="1594279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fld id="{0E8A1303-5D2D-4597-85C3-1555E5FE4DD1}" type="slidenum">
              <a:rPr lang="en-US" altLang="en-US" smtClean="0"/>
              <a:pPr/>
              <a:t>‹#›</a:t>
            </a:fld>
            <a:endParaRPr lang="en-US" altLang="en-US"/>
          </a:p>
        </p:txBody>
      </p:sp>
    </p:spTree>
    <p:extLst>
      <p:ext uri="{BB962C8B-B14F-4D97-AF65-F5344CB8AC3E}">
        <p14:creationId xmlns:p14="http://schemas.microsoft.com/office/powerpoint/2010/main" val="1698326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fld id="{2E1EFD54-8803-427D-A9AB-631036F81CDF}" type="slidenum">
              <a:rPr lang="en-US" altLang="en-US" smtClean="0"/>
              <a:pPr/>
              <a:t>‹#›</a:t>
            </a:fld>
            <a:endParaRPr lang="en-US" altLang="en-US"/>
          </a:p>
        </p:txBody>
      </p:sp>
    </p:spTree>
    <p:extLst>
      <p:ext uri="{BB962C8B-B14F-4D97-AF65-F5344CB8AC3E}">
        <p14:creationId xmlns:p14="http://schemas.microsoft.com/office/powerpoint/2010/main" val="905527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fld id="{30068018-0522-4E2C-B8D9-E5451E9A4DAA}" type="slidenum">
              <a:rPr lang="en-US" altLang="en-US" smtClean="0"/>
              <a:pPr/>
              <a:t>‹#›</a:t>
            </a:fld>
            <a:endParaRPr lang="en-US" altLang="en-US"/>
          </a:p>
        </p:txBody>
      </p:sp>
    </p:spTree>
    <p:extLst>
      <p:ext uri="{BB962C8B-B14F-4D97-AF65-F5344CB8AC3E}">
        <p14:creationId xmlns:p14="http://schemas.microsoft.com/office/powerpoint/2010/main" val="3473103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fld id="{59BA9BFC-BC4C-47B6-8B8E-F3902B6E8A4A}" type="slidenum">
              <a:rPr lang="en-US" altLang="en-US" smtClean="0"/>
              <a:pPr/>
              <a:t>‹#›</a:t>
            </a:fld>
            <a:endParaRPr lang="en-US" altLang="en-US"/>
          </a:p>
        </p:txBody>
      </p:sp>
    </p:spTree>
    <p:extLst>
      <p:ext uri="{BB962C8B-B14F-4D97-AF65-F5344CB8AC3E}">
        <p14:creationId xmlns:p14="http://schemas.microsoft.com/office/powerpoint/2010/main" val="618782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fld id="{21C98E8D-185A-414A-A518-5C49E7B6295A}" type="slidenum">
              <a:rPr lang="en-US" altLang="en-US" smtClean="0"/>
              <a:pPr/>
              <a:t>‹#›</a:t>
            </a:fld>
            <a:endParaRPr lang="en-US" altLang="en-US"/>
          </a:p>
        </p:txBody>
      </p:sp>
    </p:spTree>
    <p:extLst>
      <p:ext uri="{BB962C8B-B14F-4D97-AF65-F5344CB8AC3E}">
        <p14:creationId xmlns:p14="http://schemas.microsoft.com/office/powerpoint/2010/main" val="820080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a:t>Click to edit Master title style</a:t>
            </a:r>
          </a:p>
        </p:txBody>
      </p:sp>
      <p:sp>
        <p:nvSpPr>
          <p:cNvPr id="3" name="Text Placeholder 2"/>
          <p:cNvSpPr>
            <a:spLocks noGrp="1"/>
          </p:cNvSpPr>
          <p:nvPr>
            <p:ph type="body" sz="half" idx="1"/>
          </p:nvPr>
        </p:nvSpPr>
        <p:spPr>
          <a:xfrm>
            <a:off x="814388" y="1093788"/>
            <a:ext cx="3754437"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fld id="{B11C6810-CB31-4E30-9B86-57880A05BB4E}" type="slidenum">
              <a:rPr lang="en-US" altLang="en-US" smtClean="0"/>
              <a:pPr/>
              <a:t>‹#›</a:t>
            </a:fld>
            <a:endParaRPr lang="en-US" altLang="en-US"/>
          </a:p>
        </p:txBody>
      </p:sp>
    </p:spTree>
    <p:extLst>
      <p:ext uri="{BB962C8B-B14F-4D97-AF65-F5344CB8AC3E}">
        <p14:creationId xmlns:p14="http://schemas.microsoft.com/office/powerpoint/2010/main" val="3409656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B11C6810-CB31-4E30-9B86-57880A05BB4E}" type="slidenum">
              <a:rPr lang="en-US" altLang="en-US" smtClean="0"/>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07453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451034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solidFill>
                  <a:schemeClr val="bg2"/>
                </a:solidFill>
                <a:latin typeface="Times New Roman" panose="02020603050405020304" pitchFamily="18" charset="0"/>
              </a:defRPr>
            </a:lvl1pPr>
          </a:lstStyle>
          <a:p>
            <a:fld id="{B11C6810-CB31-4E30-9B86-57880A05BB4E}" type="slidenum">
              <a:rPr lang="en-US" altLang="en-US" smtClean="0"/>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6762750" y="6613525"/>
            <a:ext cx="2381250" cy="244475"/>
          </a:xfrm>
          <a:prstGeom prst="rect">
            <a:avLst/>
          </a:prstGeom>
          <a:noFill/>
          <a:ln>
            <a:noFill/>
          </a:ln>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17.</a:t>
            </a:r>
            <a:fld id="{370CC2A8-7410-4F9E-B2CB-FCF9B3031B7B}"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A69B54C0-8EB7-4834-9342-A9C86C117E2A}"/>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2473312"/>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5.emf"/><Relationship Id="rId7" Type="http://schemas.openxmlformats.org/officeDocument/2006/relationships/customXml" Target="../ink/ink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image" Target="../media/image14.png"/><Relationship Id="rId4" Type="http://schemas.openxmlformats.org/officeDocument/2006/relationships/customXml" Target="../ink/ink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3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ctrTitle"/>
          </p:nvPr>
        </p:nvSpPr>
        <p:spPr/>
        <p:txBody>
          <a:bodyPr/>
          <a:lstStyle/>
          <a:p>
            <a:pPr>
              <a:defRPr/>
            </a:pPr>
            <a:r>
              <a:rPr lang="en-US" dirty="0">
                <a:effectLst>
                  <a:outerShdw blurRad="38100" dist="38100" dir="2700000" algn="tl">
                    <a:srgbClr val="C0C0C0"/>
                  </a:outerShdw>
                </a:effectLst>
              </a:rPr>
              <a:t>Module 17: Transactions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Outline</a:t>
            </a:r>
          </a:p>
        </p:txBody>
      </p:sp>
      <p:sp>
        <p:nvSpPr>
          <p:cNvPr id="5123" name="Rectangle 3"/>
          <p:cNvSpPr>
            <a:spLocks noGrp="1" noChangeArrowheads="1"/>
          </p:cNvSpPr>
          <p:nvPr>
            <p:ph idx="1"/>
          </p:nvPr>
        </p:nvSpPr>
        <p:spPr>
          <a:xfrm>
            <a:off x="656948" y="1102497"/>
            <a:ext cx="7732450" cy="5367972"/>
          </a:xfrm>
        </p:spPr>
        <p:txBody>
          <a:bodyPr/>
          <a:lstStyle/>
          <a:p>
            <a:r>
              <a:rPr lang="en-US" altLang="en-US" dirty="0"/>
              <a:t>Transaction Concept</a:t>
            </a:r>
          </a:p>
          <a:p>
            <a:r>
              <a:rPr lang="en-US" altLang="en-US" dirty="0"/>
              <a:t>Transaction State</a:t>
            </a:r>
          </a:p>
          <a:p>
            <a:r>
              <a:rPr lang="en-US" altLang="en-US" dirty="0"/>
              <a:t>Concurrent Executions</a:t>
            </a:r>
          </a:p>
          <a:p>
            <a:r>
              <a:rPr lang="en-US" altLang="en-US" dirty="0"/>
              <a:t>Serializability</a:t>
            </a:r>
          </a:p>
          <a:p>
            <a:r>
              <a:rPr lang="en-US" altLang="en-US" dirty="0"/>
              <a:t>Recoverability</a:t>
            </a:r>
          </a:p>
          <a:p>
            <a:r>
              <a:rPr lang="en-US" altLang="en-US" dirty="0"/>
              <a:t>Implementation of Isolation</a:t>
            </a:r>
          </a:p>
          <a:p>
            <a:r>
              <a:rPr lang="en-US" altLang="en-US" dirty="0"/>
              <a:t>Transaction Definition in SQL</a:t>
            </a:r>
          </a:p>
          <a:p>
            <a:r>
              <a:rPr lang="en-US" altLang="en-US" dirty="0"/>
              <a:t>Testing for Serializability.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Concept</a:t>
            </a:r>
          </a:p>
        </p:txBody>
      </p:sp>
      <p:sp>
        <p:nvSpPr>
          <p:cNvPr id="6147" name="Rectangle 3"/>
          <p:cNvSpPr>
            <a:spLocks noGrp="1" noChangeArrowheads="1"/>
          </p:cNvSpPr>
          <p:nvPr>
            <p:ph idx="1"/>
          </p:nvPr>
        </p:nvSpPr>
        <p:spPr>
          <a:xfrm>
            <a:off x="701336" y="1102497"/>
            <a:ext cx="7794594" cy="5367972"/>
          </a:xfrm>
        </p:spPr>
        <p:txBody>
          <a:bodyPr/>
          <a:lstStyle/>
          <a:p>
            <a:r>
              <a:rPr lang="en-US" altLang="en-US" dirty="0"/>
              <a:t>A </a:t>
            </a:r>
            <a:r>
              <a:rPr lang="en-US" altLang="en-US" b="1" dirty="0">
                <a:solidFill>
                  <a:srgbClr val="000099"/>
                </a:solidFill>
              </a:rPr>
              <a:t>transaction</a:t>
            </a:r>
            <a:r>
              <a:rPr lang="en-US" altLang="en-US" i="1" dirty="0"/>
              <a:t> </a:t>
            </a:r>
            <a:r>
              <a:rPr lang="en-US" altLang="en-US" dirty="0"/>
              <a:t>is a </a:t>
            </a:r>
            <a:r>
              <a:rPr lang="en-US" altLang="en-US" i="1" dirty="0"/>
              <a:t>unit </a:t>
            </a:r>
            <a:r>
              <a:rPr lang="en-US" altLang="en-US" dirty="0"/>
              <a:t>of program execution that accesses and  possibly updates various data items</a:t>
            </a:r>
            <a:r>
              <a:rPr lang="en-US" altLang="en-US" dirty="0">
                <a:highlight>
                  <a:srgbClr val="FFFF00"/>
                </a:highlight>
              </a:rPr>
              <a:t>.</a:t>
            </a:r>
          </a:p>
          <a:p>
            <a:r>
              <a:rPr lang="en-US" dirty="0">
                <a:highlight>
                  <a:srgbClr val="FFFF00"/>
                </a:highlight>
              </a:rPr>
              <a:t>A </a:t>
            </a:r>
            <a:r>
              <a:rPr lang="en-US" b="1" dirty="0">
                <a:highlight>
                  <a:srgbClr val="FFFF00"/>
                </a:highlight>
              </a:rPr>
              <a:t>transaction</a:t>
            </a:r>
            <a:r>
              <a:rPr lang="en-US" dirty="0">
                <a:highlight>
                  <a:srgbClr val="FFFF00"/>
                </a:highlight>
              </a:rPr>
              <a:t> is a small program or SQL operation that performs a single logical task in the database—like transferring money, updating salary, inserting a customer, etc</a:t>
            </a:r>
            <a:r>
              <a:rPr lang="en-US" dirty="0"/>
              <a:t>.</a:t>
            </a:r>
            <a:endParaRPr lang="en-US" altLang="en-US" dirty="0">
              <a:highlight>
                <a:srgbClr val="FFFF00"/>
              </a:highlight>
            </a:endParaRPr>
          </a:p>
          <a:p>
            <a:r>
              <a:rPr lang="en-US" altLang="en-US" dirty="0"/>
              <a:t>E.g., transaction to transfer $50 from account A to account B:</a:t>
            </a:r>
          </a:p>
          <a:p>
            <a:pPr lvl="1">
              <a:buFont typeface="Monotype Sorts" charset="2"/>
              <a:buNone/>
            </a:pPr>
            <a:r>
              <a:rPr lang="en-US" altLang="en-US" sz="1600" dirty="0"/>
              <a:t>1.	</a:t>
            </a:r>
            <a:r>
              <a:rPr lang="en-US" altLang="en-US" sz="1600" b="1" dirty="0"/>
              <a:t>read</a:t>
            </a:r>
            <a:r>
              <a:rPr lang="en-US" altLang="en-US" sz="1600" dirty="0"/>
              <a:t>(</a:t>
            </a:r>
            <a:r>
              <a:rPr lang="en-US" altLang="en-US" sz="1600" i="1" dirty="0"/>
              <a:t>A</a:t>
            </a:r>
            <a:r>
              <a:rPr lang="en-US" altLang="en-US" sz="1600" dirty="0"/>
              <a:t>)</a:t>
            </a:r>
          </a:p>
          <a:p>
            <a:pPr lvl="1">
              <a:buFont typeface="Monotype Sorts" charset="2"/>
              <a:buNone/>
            </a:pPr>
            <a:r>
              <a:rPr lang="en-US" altLang="en-US" sz="1600" dirty="0"/>
              <a:t>2.	</a:t>
            </a:r>
            <a:r>
              <a:rPr lang="en-US" altLang="en-US" sz="1600" i="1" dirty="0"/>
              <a:t>A</a:t>
            </a:r>
            <a:r>
              <a:rPr lang="en-US" altLang="en-US" sz="1600" dirty="0"/>
              <a:t> := </a:t>
            </a:r>
            <a:r>
              <a:rPr lang="en-US" altLang="en-US" sz="1600" i="1" dirty="0"/>
              <a:t>A – </a:t>
            </a:r>
            <a:r>
              <a:rPr lang="en-US" altLang="en-US" sz="1600" dirty="0"/>
              <a:t>50</a:t>
            </a:r>
          </a:p>
          <a:p>
            <a:pPr lvl="1">
              <a:buFont typeface="Monotype Sorts" charset="2"/>
              <a:buNone/>
            </a:pPr>
            <a:r>
              <a:rPr lang="en-US" altLang="en-US" sz="1600" dirty="0"/>
              <a:t>3.	</a:t>
            </a:r>
            <a:r>
              <a:rPr lang="en-US" altLang="en-US" sz="1600" b="1" dirty="0"/>
              <a:t>write</a:t>
            </a:r>
            <a:r>
              <a:rPr lang="en-US" altLang="en-US" sz="1600" dirty="0"/>
              <a:t>(</a:t>
            </a:r>
            <a:r>
              <a:rPr lang="en-US" altLang="en-US" sz="1600" i="1" dirty="0"/>
              <a:t>A</a:t>
            </a:r>
            <a:r>
              <a:rPr lang="en-US" altLang="en-US" sz="1600" dirty="0"/>
              <a:t>)                                              </a:t>
            </a:r>
          </a:p>
          <a:p>
            <a:pPr lvl="1">
              <a:buFont typeface="Monotype Sorts" charset="2"/>
              <a:buNone/>
            </a:pPr>
            <a:r>
              <a:rPr lang="en-US" altLang="en-US" sz="1600" dirty="0"/>
              <a:t>4.	</a:t>
            </a:r>
            <a:r>
              <a:rPr lang="en-US" altLang="en-US" sz="1600" b="1" dirty="0"/>
              <a:t>read</a:t>
            </a:r>
            <a:r>
              <a:rPr lang="en-US" altLang="en-US" sz="1600" dirty="0"/>
              <a:t>(</a:t>
            </a:r>
            <a:r>
              <a:rPr lang="en-US" altLang="en-US" sz="1600" i="1" dirty="0"/>
              <a:t>B</a:t>
            </a:r>
            <a:r>
              <a:rPr lang="en-US" altLang="en-US" sz="1600" dirty="0"/>
              <a:t>)</a:t>
            </a:r>
          </a:p>
          <a:p>
            <a:pPr lvl="1">
              <a:buFont typeface="Monotype Sorts" charset="2"/>
              <a:buNone/>
            </a:pPr>
            <a:r>
              <a:rPr lang="en-US" altLang="en-US" sz="1600" dirty="0"/>
              <a:t>5.	</a:t>
            </a:r>
            <a:r>
              <a:rPr lang="en-US" altLang="en-US" sz="1600" i="1" dirty="0"/>
              <a:t>B</a:t>
            </a:r>
            <a:r>
              <a:rPr lang="en-US" altLang="en-US" sz="1600" dirty="0"/>
              <a:t> := </a:t>
            </a:r>
            <a:r>
              <a:rPr lang="en-US" altLang="en-US" sz="1600" i="1" dirty="0"/>
              <a:t>B + </a:t>
            </a:r>
            <a:r>
              <a:rPr lang="en-US" altLang="en-US" sz="1600" dirty="0"/>
              <a:t>50</a:t>
            </a:r>
          </a:p>
          <a:p>
            <a:pPr lvl="1">
              <a:buFont typeface="Monotype Sorts" charset="2"/>
              <a:buNone/>
            </a:pPr>
            <a:r>
              <a:rPr lang="en-US" altLang="en-US" sz="1600" dirty="0"/>
              <a:t>6.	</a:t>
            </a:r>
            <a:r>
              <a:rPr lang="en-US" altLang="en-US" sz="1600" b="1" dirty="0"/>
              <a:t>write</a:t>
            </a:r>
            <a:r>
              <a:rPr lang="en-US" altLang="en-US" sz="1600" dirty="0"/>
              <a:t>(</a:t>
            </a:r>
            <a:r>
              <a:rPr lang="en-US" altLang="en-US" sz="1600" i="1" dirty="0"/>
              <a:t>B)</a:t>
            </a:r>
            <a:endParaRPr lang="en-US" altLang="en-US" dirty="0"/>
          </a:p>
          <a:p>
            <a:r>
              <a:rPr lang="en-US" altLang="en-US" dirty="0"/>
              <a:t>Two main issues to deal with:</a:t>
            </a:r>
          </a:p>
          <a:p>
            <a:pPr lvl="1"/>
            <a:r>
              <a:rPr lang="en-US" altLang="en-US" dirty="0"/>
              <a:t>Failures of various kinds, such as hardware failures and system crashes</a:t>
            </a:r>
          </a:p>
          <a:p>
            <a:pPr lvl="1"/>
            <a:r>
              <a:rPr lang="en-US" altLang="en-US" dirty="0"/>
              <a:t>Concurrent execution of multiple transactions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a:t>
            </a:r>
          </a:p>
        </p:txBody>
      </p:sp>
      <p:sp>
        <p:nvSpPr>
          <p:cNvPr id="7171" name="Rectangle 3"/>
          <p:cNvSpPr>
            <a:spLocks noGrp="1" noChangeArrowheads="1"/>
          </p:cNvSpPr>
          <p:nvPr>
            <p:ph idx="1"/>
          </p:nvPr>
        </p:nvSpPr>
        <p:spPr>
          <a:xfrm>
            <a:off x="639192" y="1102497"/>
            <a:ext cx="7838983" cy="5367972"/>
          </a:xfrm>
        </p:spPr>
        <p:txBody>
          <a:bodyPr/>
          <a:lstStyle/>
          <a:p>
            <a:r>
              <a:rPr lang="en-US" altLang="en-US" sz="1600" dirty="0"/>
              <a:t>Transaction to transfer $50 from account A to account B:</a:t>
            </a:r>
          </a:p>
          <a:p>
            <a:pPr lvl="1">
              <a:buFont typeface="Monotype Sorts" charset="2"/>
              <a:buNone/>
            </a:pPr>
            <a:r>
              <a:rPr lang="en-US" altLang="en-US" sz="1400" dirty="0"/>
              <a:t>1.	</a:t>
            </a:r>
            <a:r>
              <a:rPr lang="en-US" altLang="en-US" sz="1400" b="1" dirty="0"/>
              <a:t>read</a:t>
            </a:r>
            <a:r>
              <a:rPr lang="en-US" altLang="en-US" sz="1400" dirty="0"/>
              <a:t>(</a:t>
            </a:r>
            <a:r>
              <a:rPr lang="en-US" altLang="en-US" sz="1400" i="1" dirty="0"/>
              <a:t>A</a:t>
            </a:r>
            <a:r>
              <a:rPr lang="en-US" altLang="en-US" sz="1400" dirty="0"/>
              <a:t>)</a:t>
            </a:r>
          </a:p>
          <a:p>
            <a:pPr lvl="1">
              <a:buFont typeface="Monotype Sorts" charset="2"/>
              <a:buNone/>
            </a:pPr>
            <a:r>
              <a:rPr lang="en-US" altLang="en-US" sz="1400" dirty="0"/>
              <a:t>2.	</a:t>
            </a:r>
            <a:r>
              <a:rPr lang="en-US" altLang="en-US" sz="1400" i="1" dirty="0"/>
              <a:t>A</a:t>
            </a:r>
            <a:r>
              <a:rPr lang="en-US" altLang="en-US" sz="1400" dirty="0"/>
              <a:t> := </a:t>
            </a:r>
            <a:r>
              <a:rPr lang="en-US" altLang="en-US" sz="1400" i="1" dirty="0"/>
              <a:t>A – </a:t>
            </a:r>
            <a:r>
              <a:rPr lang="en-US" altLang="en-US" sz="1400" dirty="0"/>
              <a:t>50</a:t>
            </a:r>
          </a:p>
          <a:p>
            <a:pPr lvl="1">
              <a:buFont typeface="Monotype Sorts" charset="2"/>
              <a:buNone/>
            </a:pPr>
            <a:r>
              <a:rPr lang="en-US" altLang="en-US" sz="1400" dirty="0"/>
              <a:t>3.	</a:t>
            </a:r>
            <a:r>
              <a:rPr lang="en-US" altLang="en-US" sz="1400" b="1" dirty="0"/>
              <a:t>write</a:t>
            </a:r>
            <a:r>
              <a:rPr lang="en-US" altLang="en-US" sz="1400" dirty="0"/>
              <a:t>(</a:t>
            </a:r>
            <a:r>
              <a:rPr lang="en-US" altLang="en-US" sz="1400" i="1" dirty="0"/>
              <a:t>A</a:t>
            </a:r>
            <a:r>
              <a:rPr lang="en-US" altLang="en-US" sz="1400" dirty="0"/>
              <a:t>)</a:t>
            </a:r>
          </a:p>
          <a:p>
            <a:pPr lvl="1">
              <a:buFont typeface="Monotype Sorts" charset="2"/>
              <a:buNone/>
            </a:pPr>
            <a:r>
              <a:rPr lang="en-US" altLang="en-US" sz="1400" dirty="0"/>
              <a:t>4.	</a:t>
            </a:r>
            <a:r>
              <a:rPr lang="en-US" altLang="en-US" sz="1400" b="1" dirty="0"/>
              <a:t>read</a:t>
            </a:r>
            <a:r>
              <a:rPr lang="en-US" altLang="en-US" sz="1400" dirty="0"/>
              <a:t>(</a:t>
            </a:r>
            <a:r>
              <a:rPr lang="en-US" altLang="en-US" sz="1400" i="1" dirty="0"/>
              <a:t>B</a:t>
            </a:r>
            <a:r>
              <a:rPr lang="en-US" altLang="en-US" sz="1400" dirty="0"/>
              <a:t>)</a:t>
            </a:r>
          </a:p>
          <a:p>
            <a:pPr lvl="1">
              <a:buFont typeface="Monotype Sorts" charset="2"/>
              <a:buNone/>
            </a:pPr>
            <a:r>
              <a:rPr lang="en-US" altLang="en-US" sz="1400" dirty="0"/>
              <a:t>5.	</a:t>
            </a:r>
            <a:r>
              <a:rPr lang="en-US" altLang="en-US" sz="1400" i="1" dirty="0"/>
              <a:t>B</a:t>
            </a:r>
            <a:r>
              <a:rPr lang="en-US" altLang="en-US" sz="1400" dirty="0"/>
              <a:t> := </a:t>
            </a:r>
            <a:r>
              <a:rPr lang="en-US" altLang="en-US" sz="1400" i="1" dirty="0"/>
              <a:t>B + </a:t>
            </a:r>
            <a:r>
              <a:rPr lang="en-US" altLang="en-US" sz="1400" dirty="0"/>
              <a:t>50</a:t>
            </a:r>
          </a:p>
          <a:p>
            <a:pPr lvl="1">
              <a:buFont typeface="Monotype Sorts" charset="2"/>
              <a:buNone/>
            </a:pPr>
            <a:r>
              <a:rPr lang="en-US" altLang="en-US" sz="1400" dirty="0"/>
              <a:t>6.	</a:t>
            </a:r>
            <a:r>
              <a:rPr lang="en-US" altLang="en-US" sz="1400" b="1" dirty="0"/>
              <a:t>write</a:t>
            </a:r>
            <a:r>
              <a:rPr lang="en-US" altLang="en-US" sz="1400" dirty="0"/>
              <a:t>(</a:t>
            </a:r>
            <a:r>
              <a:rPr lang="en-US" altLang="en-US" sz="1400" i="1" dirty="0"/>
              <a:t>B)</a:t>
            </a:r>
          </a:p>
          <a:p>
            <a:r>
              <a:rPr lang="en-US" altLang="en-US" sz="1600" b="1" dirty="0">
                <a:solidFill>
                  <a:srgbClr val="000099"/>
                </a:solidFill>
              </a:rPr>
              <a:t>Atomicity requirement</a:t>
            </a:r>
            <a:r>
              <a:rPr lang="en-US" altLang="en-US" sz="1600" dirty="0"/>
              <a:t> </a:t>
            </a:r>
          </a:p>
          <a:p>
            <a:pPr lvl="1"/>
            <a:r>
              <a:rPr lang="en-US" altLang="en-US" sz="1600" dirty="0"/>
              <a:t>If the transaction fails after step 3 and before step 6, money will be </a:t>
            </a:r>
            <a:r>
              <a:rPr lang="ja-JP" altLang="en-US" sz="1600" dirty="0"/>
              <a:t>“</a:t>
            </a:r>
            <a:r>
              <a:rPr lang="en-US" altLang="ja-JP" sz="1600" dirty="0"/>
              <a:t>lost</a:t>
            </a:r>
            <a:r>
              <a:rPr lang="ja-JP" altLang="en-US" sz="1600" dirty="0"/>
              <a:t>”</a:t>
            </a:r>
            <a:r>
              <a:rPr lang="en-US" altLang="ja-JP" sz="1600" dirty="0"/>
              <a:t> leading to an inconsistent database state</a:t>
            </a:r>
          </a:p>
          <a:p>
            <a:pPr lvl="2"/>
            <a:r>
              <a:rPr lang="en-US" altLang="en-US" sz="1600" dirty="0"/>
              <a:t>Failure could be due to software or hardware</a:t>
            </a:r>
          </a:p>
          <a:p>
            <a:pPr lvl="1"/>
            <a:r>
              <a:rPr lang="en-US" altLang="en-US" sz="1600" dirty="0"/>
              <a:t>The system should ensure that updates of a partially executed transaction are not reflected in the database</a:t>
            </a:r>
          </a:p>
          <a:p>
            <a:r>
              <a:rPr lang="en-US" altLang="en-US" sz="1600" b="1" dirty="0">
                <a:solidFill>
                  <a:srgbClr val="000099"/>
                </a:solidFill>
              </a:rPr>
              <a:t>Durability requirement</a:t>
            </a:r>
            <a:r>
              <a:rPr lang="en-US" altLang="en-US" sz="1600" dirty="0"/>
              <a:t> — once the user has been notified that the transaction has completed (i.e., the transfer of the $50 has taken place), the updates to the database by the transaction must persist even if there are software or hardware failures.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528387" name="Rectangle 3"/>
          <p:cNvSpPr>
            <a:spLocks noGrp="1" noChangeArrowheads="1"/>
          </p:cNvSpPr>
          <p:nvPr>
            <p:ph idx="1"/>
          </p:nvPr>
        </p:nvSpPr>
        <p:spPr>
          <a:xfrm>
            <a:off x="701336" y="1102497"/>
            <a:ext cx="7679184" cy="5367972"/>
          </a:xfrm>
        </p:spPr>
        <p:txBody>
          <a:bodyPr/>
          <a:lstStyle/>
          <a:p>
            <a:r>
              <a:rPr lang="en-US" altLang="en-US" sz="1600" b="1" dirty="0">
                <a:solidFill>
                  <a:srgbClr val="000099"/>
                </a:solidFill>
              </a:rPr>
              <a:t>Consistency requirement</a:t>
            </a:r>
            <a:r>
              <a:rPr lang="en-US" altLang="en-US" sz="1600" dirty="0"/>
              <a:t> in above example:</a:t>
            </a:r>
          </a:p>
          <a:p>
            <a:pPr lvl="1"/>
            <a:r>
              <a:rPr lang="en-US" altLang="en-US" sz="1600" dirty="0"/>
              <a:t> The sum of A and B is unchanged by the execution of the transaction</a:t>
            </a:r>
          </a:p>
          <a:p>
            <a:r>
              <a:rPr lang="en-US" altLang="en-US" sz="1600" dirty="0"/>
              <a:t>In general, consistency requirements include </a:t>
            </a:r>
          </a:p>
          <a:p>
            <a:pPr lvl="1"/>
            <a:r>
              <a:rPr lang="en-US" altLang="en-US" sz="1600" dirty="0"/>
              <a:t>Explicitly specified integrity constraints such as primary keys and foreign keys</a:t>
            </a:r>
          </a:p>
          <a:p>
            <a:pPr lvl="1"/>
            <a:r>
              <a:rPr lang="en-US" altLang="en-US" sz="1600" dirty="0"/>
              <a:t>Implicit integrity constraints</a:t>
            </a:r>
          </a:p>
          <a:p>
            <a:pPr lvl="2"/>
            <a:r>
              <a:rPr lang="en-US" altLang="en-US" sz="1600" dirty="0"/>
              <a:t>e.g., sum of balances of all accounts, minus sum of loan amounts must equal value of cash-in-hand</a:t>
            </a:r>
          </a:p>
          <a:p>
            <a:pPr lvl="1"/>
            <a:r>
              <a:rPr lang="en-US" altLang="en-US" sz="1600" dirty="0"/>
              <a:t>A transaction must see a consistent database.</a:t>
            </a:r>
          </a:p>
          <a:p>
            <a:pPr lvl="1"/>
            <a:r>
              <a:rPr lang="en-US" altLang="en-US" sz="1600" dirty="0"/>
              <a:t>During transaction execution the database may be temporarily inconsistent.</a:t>
            </a:r>
          </a:p>
          <a:p>
            <a:pPr lvl="1"/>
            <a:r>
              <a:rPr lang="en-US" altLang="en-US" sz="1600" dirty="0"/>
              <a:t>When the transaction completes successfully the database must be consistent</a:t>
            </a:r>
          </a:p>
          <a:p>
            <a:pPr lvl="2"/>
            <a:r>
              <a:rPr lang="en-US" altLang="en-US" sz="1600" dirty="0"/>
              <a:t>Erroneous transaction logic can lead to inconsistency</a:t>
            </a:r>
          </a:p>
          <a:p>
            <a:pPr>
              <a:lnSpc>
                <a:spcPct val="80000"/>
              </a:lnSpc>
              <a:buFont typeface="Monotype Sorts" charset="2"/>
              <a:buNone/>
            </a:pPr>
            <a:endParaRPr lang="en-US"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83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838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838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8387">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2838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838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838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83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9219" name="Rectangle 3"/>
          <p:cNvSpPr>
            <a:spLocks noGrp="1" noChangeArrowheads="1"/>
          </p:cNvSpPr>
          <p:nvPr>
            <p:ph idx="1"/>
          </p:nvPr>
        </p:nvSpPr>
        <p:spPr>
          <a:xfrm>
            <a:off x="692458" y="1102497"/>
            <a:ext cx="7812350" cy="5367972"/>
          </a:xfrm>
        </p:spPr>
        <p:txBody>
          <a:bodyPr/>
          <a:lstStyle/>
          <a:p>
            <a:r>
              <a:rPr lang="en-US" altLang="en-US" b="1" dirty="0">
                <a:solidFill>
                  <a:srgbClr val="000099"/>
                </a:solidFill>
              </a:rPr>
              <a:t>Isolation requirement</a:t>
            </a:r>
            <a:r>
              <a:rPr lang="en-US" altLang="en-US" dirty="0"/>
              <a:t> </a:t>
            </a:r>
            <a:r>
              <a:rPr lang="en-US" altLang="en-US" dirty="0">
                <a:highlight>
                  <a:srgbClr val="FFFF00"/>
                </a:highlight>
              </a:rPr>
              <a:t>— if between steps 3 and 6, another transaction T2 is allowed to access the partially updated database, it will see an inconsistent database (the sum  </a:t>
            </a:r>
            <a:r>
              <a:rPr lang="en-US" altLang="en-US" i="1" dirty="0">
                <a:highlight>
                  <a:srgbClr val="FFFF00"/>
                </a:highlight>
              </a:rPr>
              <a:t>A + B</a:t>
            </a:r>
            <a:r>
              <a:rPr lang="en-US" altLang="en-US" dirty="0">
                <a:highlight>
                  <a:srgbClr val="FFFF00"/>
                </a:highlight>
              </a:rPr>
              <a:t> will be less than it should be).</a:t>
            </a:r>
          </a:p>
          <a:p>
            <a:pPr marL="0" indent="0">
              <a:buNone/>
            </a:pPr>
            <a:br>
              <a:rPr lang="en-US" altLang="en-US" dirty="0"/>
            </a:br>
            <a:r>
              <a:rPr lang="en-US" altLang="en-US" dirty="0"/>
              <a:t>              </a:t>
            </a:r>
            <a:r>
              <a:rPr lang="en-US" altLang="en-US" b="1" dirty="0"/>
              <a:t>T1                                        T2</a:t>
            </a:r>
          </a:p>
          <a:p>
            <a:pPr lvl="1">
              <a:lnSpc>
                <a:spcPct val="90000"/>
              </a:lnSpc>
              <a:buFont typeface="Monotype Sorts" charset="2"/>
              <a:buNone/>
            </a:pPr>
            <a:r>
              <a:rPr lang="en-US" altLang="en-US" sz="1600" dirty="0"/>
              <a:t>1.	</a:t>
            </a:r>
            <a:r>
              <a:rPr lang="en-US" altLang="en-US" sz="1600" b="1" dirty="0"/>
              <a:t>read</a:t>
            </a:r>
            <a:r>
              <a:rPr lang="en-US" altLang="en-US" sz="1600" dirty="0"/>
              <a:t>(</a:t>
            </a:r>
            <a:r>
              <a:rPr lang="en-US" altLang="en-US" sz="1600" i="1" dirty="0"/>
              <a:t>A</a:t>
            </a:r>
            <a:r>
              <a:rPr lang="en-US" altLang="en-US" sz="1600" dirty="0"/>
              <a:t>)</a:t>
            </a:r>
          </a:p>
          <a:p>
            <a:pPr lvl="1">
              <a:lnSpc>
                <a:spcPct val="90000"/>
              </a:lnSpc>
              <a:buFont typeface="Monotype Sorts" charset="2"/>
              <a:buNone/>
            </a:pPr>
            <a:r>
              <a:rPr lang="en-US" altLang="en-US" sz="1600" dirty="0"/>
              <a:t>2.	</a:t>
            </a:r>
            <a:r>
              <a:rPr lang="en-US" altLang="en-US" sz="1600" i="1" dirty="0"/>
              <a:t>A</a:t>
            </a:r>
            <a:r>
              <a:rPr lang="en-US" altLang="en-US" sz="1600" dirty="0"/>
              <a:t> := </a:t>
            </a:r>
            <a:r>
              <a:rPr lang="en-US" altLang="en-US" sz="1600" i="1" dirty="0"/>
              <a:t>A – </a:t>
            </a:r>
            <a:r>
              <a:rPr lang="en-US" altLang="en-US" sz="1600" dirty="0"/>
              <a:t>50</a:t>
            </a:r>
          </a:p>
          <a:p>
            <a:pPr lvl="1">
              <a:lnSpc>
                <a:spcPct val="90000"/>
              </a:lnSpc>
              <a:buFont typeface="Monotype Sorts" charset="2"/>
              <a:buNone/>
            </a:pPr>
            <a:r>
              <a:rPr lang="en-US" altLang="en-US" sz="1600" dirty="0"/>
              <a:t>3.	</a:t>
            </a:r>
            <a:r>
              <a:rPr lang="en-US" altLang="en-US" sz="1600" b="1" dirty="0"/>
              <a:t>write</a:t>
            </a:r>
            <a:r>
              <a:rPr lang="en-US" altLang="en-US" sz="1600" dirty="0"/>
              <a:t>(</a:t>
            </a:r>
            <a:r>
              <a:rPr lang="en-US" altLang="en-US" sz="1600" i="1" dirty="0"/>
              <a:t>A</a:t>
            </a:r>
            <a:r>
              <a:rPr lang="en-US" altLang="en-US" sz="1600" dirty="0"/>
              <a:t>)</a:t>
            </a:r>
            <a:br>
              <a:rPr lang="en-US" altLang="en-US" sz="1600" dirty="0"/>
            </a:br>
            <a:r>
              <a:rPr lang="en-US" altLang="en-US" sz="1600" dirty="0"/>
              <a:t>                                      read(A), read(B), print(A+B)</a:t>
            </a:r>
          </a:p>
          <a:p>
            <a:pPr lvl="1">
              <a:lnSpc>
                <a:spcPct val="90000"/>
              </a:lnSpc>
              <a:buFont typeface="Monotype Sorts" charset="2"/>
              <a:buNone/>
            </a:pPr>
            <a:r>
              <a:rPr lang="en-US" altLang="en-US" sz="1600" dirty="0"/>
              <a:t>4.	</a:t>
            </a:r>
            <a:r>
              <a:rPr lang="en-US" altLang="en-US" sz="1600" b="1" dirty="0"/>
              <a:t>read</a:t>
            </a:r>
            <a:r>
              <a:rPr lang="en-US" altLang="en-US" sz="1600" dirty="0"/>
              <a:t>(</a:t>
            </a:r>
            <a:r>
              <a:rPr lang="en-US" altLang="en-US" sz="1600" i="1" dirty="0"/>
              <a:t>B</a:t>
            </a:r>
            <a:r>
              <a:rPr lang="en-US" altLang="en-US" sz="1600" dirty="0"/>
              <a:t>)</a:t>
            </a:r>
          </a:p>
          <a:p>
            <a:pPr lvl="1">
              <a:lnSpc>
                <a:spcPct val="90000"/>
              </a:lnSpc>
              <a:buFont typeface="Monotype Sorts" charset="2"/>
              <a:buNone/>
            </a:pPr>
            <a:r>
              <a:rPr lang="en-US" altLang="en-US" sz="1600" dirty="0"/>
              <a:t>5.	</a:t>
            </a:r>
            <a:r>
              <a:rPr lang="en-US" altLang="en-US" sz="1600" i="1" dirty="0"/>
              <a:t>B</a:t>
            </a:r>
            <a:r>
              <a:rPr lang="en-US" altLang="en-US" sz="1600" dirty="0"/>
              <a:t> := </a:t>
            </a:r>
            <a:r>
              <a:rPr lang="en-US" altLang="en-US" sz="1600" i="1" dirty="0"/>
              <a:t>B + </a:t>
            </a:r>
            <a:r>
              <a:rPr lang="en-US" altLang="en-US" sz="1600" dirty="0"/>
              <a:t>50</a:t>
            </a:r>
          </a:p>
          <a:p>
            <a:pPr lvl="1">
              <a:lnSpc>
                <a:spcPct val="90000"/>
              </a:lnSpc>
              <a:buFont typeface="Monotype Sorts" charset="2"/>
              <a:buNone/>
            </a:pPr>
            <a:r>
              <a:rPr lang="en-US" altLang="en-US" sz="1600" dirty="0"/>
              <a:t>6.	</a:t>
            </a:r>
            <a:r>
              <a:rPr lang="en-US" altLang="en-US" sz="1600" b="1" dirty="0"/>
              <a:t>write</a:t>
            </a:r>
            <a:r>
              <a:rPr lang="en-US" altLang="en-US" sz="1600" dirty="0"/>
              <a:t>(</a:t>
            </a:r>
            <a:r>
              <a:rPr lang="en-US" altLang="en-US" sz="1600" i="1" dirty="0"/>
              <a:t>B</a:t>
            </a:r>
            <a:endParaRPr lang="en-US" altLang="en-US" dirty="0"/>
          </a:p>
          <a:p>
            <a:pPr>
              <a:lnSpc>
                <a:spcPct val="90000"/>
              </a:lnSpc>
            </a:pPr>
            <a:r>
              <a:rPr lang="en-US" altLang="en-US" dirty="0">
                <a:highlight>
                  <a:srgbClr val="FFFF00"/>
                </a:highlight>
              </a:rPr>
              <a:t>Isolation can be ensured trivially by running transactions </a:t>
            </a:r>
            <a:r>
              <a:rPr lang="en-US" altLang="en-US" b="1" dirty="0">
                <a:solidFill>
                  <a:srgbClr val="000099"/>
                </a:solidFill>
                <a:highlight>
                  <a:srgbClr val="FFFF00"/>
                </a:highlight>
              </a:rPr>
              <a:t>serially</a:t>
            </a:r>
          </a:p>
          <a:p>
            <a:pPr lvl="1">
              <a:lnSpc>
                <a:spcPct val="90000"/>
              </a:lnSpc>
            </a:pPr>
            <a:r>
              <a:rPr lang="en-US" altLang="en-US" dirty="0"/>
              <a:t> That is, one after the other.   </a:t>
            </a:r>
          </a:p>
          <a:p>
            <a:r>
              <a:rPr lang="en-US" altLang="en-US" dirty="0"/>
              <a:t>However, executing multiple transactions concurrently has significant benefits, as we will see later.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ACID Properties</a:t>
            </a:r>
          </a:p>
        </p:txBody>
      </p:sp>
      <p:sp>
        <p:nvSpPr>
          <p:cNvPr id="10243" name="Rectangle 3"/>
          <p:cNvSpPr>
            <a:spLocks noGrp="1" noChangeArrowheads="1"/>
          </p:cNvSpPr>
          <p:nvPr>
            <p:ph idx="1"/>
          </p:nvPr>
        </p:nvSpPr>
        <p:spPr>
          <a:xfrm>
            <a:off x="701336" y="1901295"/>
            <a:ext cx="7856738" cy="4569174"/>
          </a:xfrm>
        </p:spPr>
        <p:txBody>
          <a:bodyPr/>
          <a:lstStyle/>
          <a:p>
            <a:r>
              <a:rPr lang="en-US" altLang="en-US" b="1" dirty="0">
                <a:solidFill>
                  <a:srgbClr val="000099"/>
                </a:solidFill>
              </a:rPr>
              <a:t>Atomicity</a:t>
            </a:r>
            <a:r>
              <a:rPr lang="en-US" altLang="en-US" b="1" dirty="0"/>
              <a:t>. </a:t>
            </a:r>
            <a:r>
              <a:rPr lang="en-US" altLang="en-US" dirty="0"/>
              <a:t> Either all operations of the transaction are properly reflected in the database or none are.</a:t>
            </a:r>
          </a:p>
          <a:p>
            <a:r>
              <a:rPr lang="en-US" altLang="en-US" b="1" dirty="0">
                <a:solidFill>
                  <a:srgbClr val="000099"/>
                </a:solidFill>
              </a:rPr>
              <a:t>Consistency</a:t>
            </a:r>
            <a:r>
              <a:rPr lang="en-US" altLang="en-US" b="1" dirty="0"/>
              <a:t>.</a:t>
            </a:r>
            <a:r>
              <a:rPr lang="en-US" altLang="en-US" dirty="0"/>
              <a:t>  </a:t>
            </a:r>
            <a:r>
              <a:rPr lang="en-US" altLang="en-US" dirty="0">
                <a:highlight>
                  <a:srgbClr val="FFFF00"/>
                </a:highlight>
              </a:rPr>
              <a:t>Execution of a transaction in isolation preserves the consistency of the database</a:t>
            </a:r>
            <a:r>
              <a:rPr lang="en-US" altLang="en-US" dirty="0"/>
              <a:t>.</a:t>
            </a:r>
          </a:p>
          <a:p>
            <a:r>
              <a:rPr lang="en-US" altLang="en-US" b="1" dirty="0">
                <a:solidFill>
                  <a:srgbClr val="000099"/>
                </a:solidFill>
              </a:rPr>
              <a:t>Isolation</a:t>
            </a:r>
            <a:r>
              <a:rPr lang="en-US" altLang="en-US" b="1" dirty="0"/>
              <a:t>.</a:t>
            </a:r>
            <a:r>
              <a:rPr lang="en-US" altLang="en-US" dirty="0"/>
              <a:t>  Although multiple transactions may execute concurrently, each transaction must be unaware of other concurrently executing transactions.  Intermediate transaction results must be hidden from other concurrently executed transactions.  </a:t>
            </a:r>
          </a:p>
          <a:p>
            <a:pPr lvl="1"/>
            <a:r>
              <a:rPr lang="en-US" altLang="en-US" dirty="0"/>
              <a:t>That is, for every pair of transactions </a:t>
            </a:r>
            <a:r>
              <a:rPr lang="en-US" altLang="en-US" i="1" dirty="0"/>
              <a:t>T</a:t>
            </a:r>
            <a:r>
              <a:rPr lang="en-US" altLang="en-US" i="1" baseline="-25000" dirty="0"/>
              <a:t>i</a:t>
            </a:r>
            <a:r>
              <a:rPr lang="en-US" altLang="en-US" i="1" dirty="0"/>
              <a:t> </a:t>
            </a:r>
            <a:r>
              <a:rPr lang="en-US" altLang="en-US" dirty="0"/>
              <a:t>and </a:t>
            </a:r>
            <a:r>
              <a:rPr lang="en-US" altLang="en-US" i="1" dirty="0"/>
              <a:t>T</a:t>
            </a:r>
            <a:r>
              <a:rPr lang="en-US" altLang="en-US" i="1" baseline="-25000" dirty="0"/>
              <a:t>j</a:t>
            </a:r>
            <a:r>
              <a:rPr lang="en-US" altLang="en-US" i="1" dirty="0"/>
              <a:t>, </a:t>
            </a:r>
            <a:r>
              <a:rPr lang="en-US" altLang="en-US" dirty="0"/>
              <a:t>it appears to </a:t>
            </a:r>
            <a:r>
              <a:rPr lang="en-US" altLang="en-US" i="1" dirty="0"/>
              <a:t>T</a:t>
            </a:r>
            <a:r>
              <a:rPr lang="en-US" altLang="en-US" i="1" baseline="-25000" dirty="0"/>
              <a:t>i</a:t>
            </a:r>
            <a:r>
              <a:rPr lang="en-US" altLang="en-US" i="1" dirty="0"/>
              <a:t> </a:t>
            </a:r>
            <a:r>
              <a:rPr lang="en-US" altLang="en-US" dirty="0"/>
              <a:t>that either </a:t>
            </a:r>
            <a:r>
              <a:rPr lang="en-US" altLang="en-US" i="1" dirty="0"/>
              <a:t>T</a:t>
            </a:r>
            <a:r>
              <a:rPr lang="en-US" altLang="en-US" i="1" baseline="-25000" dirty="0"/>
              <a:t>j</a:t>
            </a:r>
            <a:r>
              <a:rPr lang="en-US" altLang="en-US" i="1" dirty="0"/>
              <a:t>, </a:t>
            </a:r>
            <a:r>
              <a:rPr lang="en-US" altLang="en-US" dirty="0"/>
              <a:t>finished execution before </a:t>
            </a:r>
            <a:r>
              <a:rPr lang="en-US" altLang="en-US" i="1" dirty="0"/>
              <a:t>T</a:t>
            </a:r>
            <a:r>
              <a:rPr lang="en-US" altLang="en-US" i="1" baseline="-25000" dirty="0"/>
              <a:t>i</a:t>
            </a:r>
            <a:r>
              <a:rPr lang="en-US" altLang="en-US" dirty="0"/>
              <a:t> started, or </a:t>
            </a:r>
            <a:r>
              <a:rPr lang="en-US" altLang="en-US" i="1" dirty="0"/>
              <a:t>T</a:t>
            </a:r>
            <a:r>
              <a:rPr lang="en-US" altLang="en-US" i="1" baseline="-25000" dirty="0"/>
              <a:t>j</a:t>
            </a:r>
            <a:r>
              <a:rPr lang="en-US" altLang="en-US" dirty="0"/>
              <a:t> started execution after </a:t>
            </a:r>
            <a:r>
              <a:rPr lang="en-US" altLang="en-US" i="1" dirty="0"/>
              <a:t>T</a:t>
            </a:r>
            <a:r>
              <a:rPr lang="en-US" altLang="en-US" i="1" baseline="-25000" dirty="0"/>
              <a:t>i</a:t>
            </a:r>
            <a:r>
              <a:rPr lang="en-US" altLang="en-US" dirty="0"/>
              <a:t> finished.</a:t>
            </a:r>
          </a:p>
          <a:p>
            <a:r>
              <a:rPr lang="en-US" altLang="en-US" b="1" dirty="0">
                <a:solidFill>
                  <a:srgbClr val="000099"/>
                </a:solidFill>
              </a:rPr>
              <a:t>Durability</a:t>
            </a:r>
            <a:r>
              <a:rPr lang="en-US" altLang="en-US" b="1" dirty="0"/>
              <a:t>.  </a:t>
            </a:r>
            <a:r>
              <a:rPr lang="en-US" altLang="en-US" dirty="0"/>
              <a:t>After a transaction completes successfully, the changes it has made to the database persist, even if there are system failures. </a:t>
            </a:r>
            <a:endParaRPr lang="en-US" altLang="en-US" i="1" dirty="0"/>
          </a:p>
        </p:txBody>
      </p:sp>
      <p:sp>
        <p:nvSpPr>
          <p:cNvPr id="10244" name="Text Box 4"/>
          <p:cNvSpPr txBox="1">
            <a:spLocks noChangeArrowheads="1"/>
          </p:cNvSpPr>
          <p:nvPr/>
        </p:nvSpPr>
        <p:spPr bwMode="auto">
          <a:xfrm>
            <a:off x="701336" y="1024131"/>
            <a:ext cx="7670307"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700" dirty="0"/>
              <a:t>A  </a:t>
            </a:r>
            <a:r>
              <a:rPr kumimoji="1" lang="en-US" altLang="en-US" sz="1700" b="1" dirty="0">
                <a:solidFill>
                  <a:srgbClr val="000099"/>
                </a:solidFill>
              </a:rPr>
              <a:t>transaction</a:t>
            </a:r>
            <a:r>
              <a:rPr lang="en-US" altLang="en-US" sz="1700" dirty="0"/>
              <a:t>  is a unit of program execution that accesses and possibly updates various data items. To preserve the integrity of data the database system must ensure:</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1299CE1D-C907-7F6D-1E36-A0830E8C4180}"/>
                  </a:ext>
                </a:extLst>
              </p14:cNvPr>
              <p14:cNvContentPartPr/>
              <p14:nvPr/>
            </p14:nvContentPartPr>
            <p14:xfrm>
              <a:off x="265490" y="265188"/>
              <a:ext cx="1320840" cy="1056960"/>
            </p14:xfrm>
          </p:contentPart>
        </mc:Choice>
        <mc:Fallback>
          <p:pic>
            <p:nvPicPr>
              <p:cNvPr id="2" name="Ink 1">
                <a:extLst>
                  <a:ext uri="{FF2B5EF4-FFF2-40B4-BE49-F238E27FC236}">
                    <a16:creationId xmlns:a16="http://schemas.microsoft.com/office/drawing/2014/main" id="{1299CE1D-C907-7F6D-1E36-A0830E8C4180}"/>
                  </a:ext>
                </a:extLst>
              </p:cNvPr>
              <p:cNvPicPr/>
              <p:nvPr/>
            </p:nvPicPr>
            <p:blipFill>
              <a:blip r:embed="rId4"/>
              <a:stretch>
                <a:fillRect/>
              </a:stretch>
            </p:blipFill>
            <p:spPr>
              <a:xfrm>
                <a:off x="211490" y="157548"/>
                <a:ext cx="1428480" cy="1272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DBCDBD9E-5EA7-928D-572C-9FF84218386E}"/>
                  </a:ext>
                </a:extLst>
              </p14:cNvPr>
              <p14:cNvContentPartPr/>
              <p14:nvPr/>
            </p14:nvContentPartPr>
            <p14:xfrm>
              <a:off x="-1583470" y="1494701"/>
              <a:ext cx="360" cy="360"/>
            </p14:xfrm>
          </p:contentPart>
        </mc:Choice>
        <mc:Fallback>
          <p:pic>
            <p:nvPicPr>
              <p:cNvPr id="3" name="Ink 2">
                <a:extLst>
                  <a:ext uri="{FF2B5EF4-FFF2-40B4-BE49-F238E27FC236}">
                    <a16:creationId xmlns:a16="http://schemas.microsoft.com/office/drawing/2014/main" id="{DBCDBD9E-5EA7-928D-572C-9FF84218386E}"/>
                  </a:ext>
                </a:extLst>
              </p:cNvPr>
              <p:cNvPicPr/>
              <p:nvPr/>
            </p:nvPicPr>
            <p:blipFill>
              <a:blip r:embed="rId6"/>
              <a:stretch>
                <a:fillRect/>
              </a:stretch>
            </p:blipFill>
            <p:spPr>
              <a:xfrm>
                <a:off x="-1637110" y="1386701"/>
                <a:ext cx="108000" cy="21600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E586BD-3CC8-84E5-C47C-804A005CBC51}"/>
              </a:ext>
            </a:extLst>
          </p:cNvPr>
          <p:cNvSpPr>
            <a:spLocks noGrp="1"/>
          </p:cNvSpPr>
          <p:nvPr>
            <p:ph idx="1"/>
          </p:nvPr>
        </p:nvSpPr>
        <p:spPr/>
        <p:txBody>
          <a:bodyPr/>
          <a:lstStyle/>
          <a:p>
            <a:r>
              <a:rPr lang="en-IN" b="1" dirty="0"/>
              <a:t>🔥 ACID Properties — Most important exam topic!</a:t>
            </a:r>
          </a:p>
          <a:p>
            <a:r>
              <a:rPr lang="en-IN" dirty="0"/>
              <a:t>1️⃣ </a:t>
            </a:r>
            <a:r>
              <a:rPr lang="en-IN" b="1" dirty="0"/>
              <a:t>Atomicity</a:t>
            </a:r>
            <a:endParaRPr lang="en-IN" dirty="0"/>
          </a:p>
          <a:p>
            <a:r>
              <a:rPr lang="en-IN" dirty="0"/>
              <a:t>All or none executes</a:t>
            </a:r>
          </a:p>
          <a:p>
            <a:r>
              <a:rPr lang="en-IN" dirty="0"/>
              <a:t>If failure occurs, rollback</a:t>
            </a:r>
          </a:p>
          <a:p>
            <a:r>
              <a:rPr lang="en-IN" dirty="0"/>
              <a:t>Ensures no partial update</a:t>
            </a:r>
          </a:p>
          <a:p>
            <a:r>
              <a:rPr lang="en-IN" dirty="0"/>
              <a:t>2️⃣ </a:t>
            </a:r>
            <a:r>
              <a:rPr lang="en-IN" b="1" dirty="0"/>
              <a:t>Consistency</a:t>
            </a:r>
            <a:endParaRPr lang="en-IN" dirty="0"/>
          </a:p>
          <a:p>
            <a:r>
              <a:rPr lang="en-IN" dirty="0"/>
              <a:t>Database must move from one valid state to another valid state</a:t>
            </a:r>
          </a:p>
          <a:p>
            <a:r>
              <a:rPr lang="en-IN" dirty="0"/>
              <a:t>3️⃣ </a:t>
            </a:r>
            <a:r>
              <a:rPr lang="en-IN" b="1" dirty="0"/>
              <a:t>Isolation</a:t>
            </a:r>
            <a:endParaRPr lang="en-IN" dirty="0"/>
          </a:p>
          <a:p>
            <a:r>
              <a:rPr lang="en-IN" dirty="0"/>
              <a:t>Parallel transactions must not affect each other</a:t>
            </a:r>
          </a:p>
          <a:p>
            <a:r>
              <a:rPr lang="en-IN" dirty="0"/>
              <a:t>4️⃣ </a:t>
            </a:r>
            <a:r>
              <a:rPr lang="en-IN" b="1" dirty="0"/>
              <a:t>Durability</a:t>
            </a:r>
            <a:endParaRPr lang="en-IN" dirty="0"/>
          </a:p>
          <a:p>
            <a:r>
              <a:rPr lang="en-IN" dirty="0"/>
              <a:t>Once committed → permanent even after crash</a:t>
            </a:r>
          </a:p>
          <a:p>
            <a:r>
              <a:rPr lang="en-IN" dirty="0"/>
              <a:t>💡 Expected MCQ:</a:t>
            </a:r>
            <a:br>
              <a:rPr lang="en-IN" dirty="0"/>
            </a:br>
            <a:r>
              <a:rPr lang="en-IN" dirty="0"/>
              <a:t>Atomicity handles partial execution failure ✅</a:t>
            </a:r>
          </a:p>
          <a:p>
            <a:endParaRPr lang="en-IN" dirty="0"/>
          </a:p>
        </p:txBody>
      </p:sp>
    </p:spTree>
    <p:extLst>
      <p:ext uri="{BB962C8B-B14F-4D97-AF65-F5344CB8AC3E}">
        <p14:creationId xmlns:p14="http://schemas.microsoft.com/office/powerpoint/2010/main" val="3564469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State</a:t>
            </a:r>
          </a:p>
        </p:txBody>
      </p:sp>
      <p:sp>
        <p:nvSpPr>
          <p:cNvPr id="11267" name="Rectangle 3"/>
          <p:cNvSpPr>
            <a:spLocks noGrp="1" noChangeArrowheads="1"/>
          </p:cNvSpPr>
          <p:nvPr>
            <p:ph idx="1"/>
          </p:nvPr>
        </p:nvSpPr>
        <p:spPr>
          <a:xfrm>
            <a:off x="674703" y="1102497"/>
            <a:ext cx="7723574" cy="5367972"/>
          </a:xfrm>
        </p:spPr>
        <p:txBody>
          <a:bodyPr/>
          <a:lstStyle/>
          <a:p>
            <a:r>
              <a:rPr lang="en-US" altLang="en-US" b="1" dirty="0">
                <a:solidFill>
                  <a:srgbClr val="000099"/>
                </a:solidFill>
              </a:rPr>
              <a:t>Active</a:t>
            </a:r>
            <a:r>
              <a:rPr lang="en-US" altLang="en-US" b="1" dirty="0">
                <a:solidFill>
                  <a:schemeClr val="tx2"/>
                </a:solidFill>
              </a:rPr>
              <a:t> </a:t>
            </a:r>
            <a:r>
              <a:rPr lang="en-US" altLang="en-US" dirty="0"/>
              <a:t>–</a:t>
            </a:r>
            <a:r>
              <a:rPr lang="en-US" altLang="en-US" b="1" dirty="0">
                <a:solidFill>
                  <a:schemeClr val="tx2"/>
                </a:solidFill>
              </a:rPr>
              <a:t> </a:t>
            </a:r>
            <a:r>
              <a:rPr lang="en-US" altLang="en-US" dirty="0"/>
              <a:t>the initial state; the transaction stays in this state while it is executing</a:t>
            </a:r>
          </a:p>
          <a:p>
            <a:r>
              <a:rPr lang="en-US" altLang="en-US" b="1" dirty="0">
                <a:solidFill>
                  <a:srgbClr val="000099"/>
                </a:solidFill>
              </a:rPr>
              <a:t>Partially committed</a:t>
            </a:r>
            <a:r>
              <a:rPr lang="en-US" altLang="en-US" b="1" dirty="0">
                <a:solidFill>
                  <a:schemeClr val="tx2"/>
                </a:solidFill>
              </a:rPr>
              <a:t> </a:t>
            </a:r>
            <a:r>
              <a:rPr lang="en-US" altLang="en-US" dirty="0"/>
              <a:t>–</a:t>
            </a:r>
            <a:r>
              <a:rPr lang="en-US" altLang="en-US" b="1" dirty="0">
                <a:solidFill>
                  <a:schemeClr val="tx2"/>
                </a:solidFill>
              </a:rPr>
              <a:t> </a:t>
            </a:r>
            <a:r>
              <a:rPr lang="en-US" altLang="en-US" dirty="0"/>
              <a:t>after the final statement has been executed.</a:t>
            </a:r>
          </a:p>
          <a:p>
            <a:r>
              <a:rPr lang="en-US" altLang="en-US" b="1" dirty="0">
                <a:solidFill>
                  <a:srgbClr val="000099"/>
                </a:solidFill>
              </a:rPr>
              <a:t>Failed</a:t>
            </a:r>
            <a:r>
              <a:rPr lang="en-US" altLang="en-US" b="1" dirty="0">
                <a:solidFill>
                  <a:schemeClr val="tx2"/>
                </a:solidFill>
              </a:rPr>
              <a:t> </a:t>
            </a:r>
            <a:r>
              <a:rPr lang="en-US" altLang="en-US" sz="1600" b="1" dirty="0"/>
              <a:t>-- </a:t>
            </a:r>
            <a:r>
              <a:rPr lang="en-US" altLang="en-US" dirty="0"/>
              <a:t>after the discovery that normal execution can no longer proceed.</a:t>
            </a:r>
          </a:p>
          <a:p>
            <a:r>
              <a:rPr lang="en-US" altLang="en-US" b="1" dirty="0">
                <a:solidFill>
                  <a:srgbClr val="000099"/>
                </a:solidFill>
              </a:rPr>
              <a:t>Aborted</a:t>
            </a:r>
            <a:r>
              <a:rPr lang="en-US" altLang="en-US" b="1" dirty="0">
                <a:solidFill>
                  <a:schemeClr val="tx2"/>
                </a:solidFill>
              </a:rPr>
              <a:t> </a:t>
            </a:r>
            <a:r>
              <a:rPr lang="en-US" altLang="en-US" dirty="0"/>
              <a:t>– after the transaction has been rolled back and the database restored to its state prior to the start of the transaction.  Two options after it has been aborted:</a:t>
            </a:r>
          </a:p>
          <a:p>
            <a:pPr lvl="1"/>
            <a:r>
              <a:rPr lang="en-US" altLang="en-US" dirty="0"/>
              <a:t>Restart the transaction</a:t>
            </a:r>
          </a:p>
          <a:p>
            <a:pPr lvl="2"/>
            <a:r>
              <a:rPr lang="en-US" altLang="en-US" dirty="0"/>
              <a:t> Can be done only if no internal logical error</a:t>
            </a:r>
          </a:p>
          <a:p>
            <a:pPr lvl="1"/>
            <a:r>
              <a:rPr lang="en-US" altLang="en-US" dirty="0"/>
              <a:t>Kill the transaction</a:t>
            </a:r>
          </a:p>
          <a:p>
            <a:r>
              <a:rPr lang="en-US" altLang="en-US" b="1" dirty="0">
                <a:solidFill>
                  <a:srgbClr val="000099"/>
                </a:solidFill>
              </a:rPr>
              <a:t>Committed</a:t>
            </a:r>
            <a:r>
              <a:rPr lang="en-US" altLang="en-US" b="1" dirty="0">
                <a:solidFill>
                  <a:schemeClr val="tx2"/>
                </a:solidFill>
              </a:rPr>
              <a:t> </a:t>
            </a:r>
            <a:r>
              <a:rPr lang="en-US" altLang="en-US" dirty="0"/>
              <a:t>– after successful completion.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State (Cont.)</a:t>
            </a:r>
          </a:p>
        </p:txBody>
      </p:sp>
      <p:pic>
        <p:nvPicPr>
          <p:cNvPr id="1229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8552" y="837442"/>
            <a:ext cx="4619625" cy="317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e 1">
            <a:extLst>
              <a:ext uri="{FF2B5EF4-FFF2-40B4-BE49-F238E27FC236}">
                <a16:creationId xmlns:a16="http://schemas.microsoft.com/office/drawing/2014/main" id="{7D94D09C-44D0-0690-84FB-F96B65379664}"/>
              </a:ext>
            </a:extLst>
          </p:cNvPr>
          <p:cNvGraphicFramePr>
            <a:graphicFrameLocks noGrp="1"/>
          </p:cNvGraphicFramePr>
          <p:nvPr>
            <p:extLst>
              <p:ext uri="{D42A27DB-BD31-4B8C-83A1-F6EECF244321}">
                <p14:modId xmlns:p14="http://schemas.microsoft.com/office/powerpoint/2010/main" val="482737104"/>
              </p:ext>
            </p:extLst>
          </p:nvPr>
        </p:nvGraphicFramePr>
        <p:xfrm>
          <a:off x="1639957" y="4256392"/>
          <a:ext cx="5566534" cy="2194560"/>
        </p:xfrm>
        <a:graphic>
          <a:graphicData uri="http://schemas.openxmlformats.org/drawingml/2006/table">
            <a:tbl>
              <a:tblPr>
                <a:tableStyleId>{616DA210-FB5B-4158-B5E0-FEB733F419BA}</a:tableStyleId>
              </a:tblPr>
              <a:tblGrid>
                <a:gridCol w="2783267">
                  <a:extLst>
                    <a:ext uri="{9D8B030D-6E8A-4147-A177-3AD203B41FA5}">
                      <a16:colId xmlns:a16="http://schemas.microsoft.com/office/drawing/2014/main" val="3989965024"/>
                    </a:ext>
                  </a:extLst>
                </a:gridCol>
                <a:gridCol w="2783267">
                  <a:extLst>
                    <a:ext uri="{9D8B030D-6E8A-4147-A177-3AD203B41FA5}">
                      <a16:colId xmlns:a16="http://schemas.microsoft.com/office/drawing/2014/main" val="3273031343"/>
                    </a:ext>
                  </a:extLst>
                </a:gridCol>
              </a:tblGrid>
              <a:tr h="363009">
                <a:tc>
                  <a:txBody>
                    <a:bodyPr/>
                    <a:lstStyle/>
                    <a:p>
                      <a:pPr>
                        <a:buNone/>
                      </a:pPr>
                      <a:r>
                        <a:rPr lang="en-IN" sz="1800" dirty="0"/>
                        <a:t>State</a:t>
                      </a:r>
                    </a:p>
                  </a:txBody>
                  <a:tcPr anchor="ctr">
                    <a:solidFill>
                      <a:schemeClr val="bg2">
                        <a:lumMod val="60000"/>
                        <a:lumOff val="40000"/>
                      </a:schemeClr>
                    </a:solidFill>
                  </a:tcPr>
                </a:tc>
                <a:tc>
                  <a:txBody>
                    <a:bodyPr/>
                    <a:lstStyle/>
                    <a:p>
                      <a:pPr>
                        <a:buNone/>
                      </a:pPr>
                      <a:r>
                        <a:rPr lang="en-IN" sz="1800"/>
                        <a:t>Meaning</a:t>
                      </a:r>
                    </a:p>
                  </a:txBody>
                  <a:tcPr anchor="ctr">
                    <a:solidFill>
                      <a:schemeClr val="bg2">
                        <a:lumMod val="60000"/>
                        <a:lumOff val="40000"/>
                      </a:schemeClr>
                    </a:solidFill>
                  </a:tcPr>
                </a:tc>
                <a:extLst>
                  <a:ext uri="{0D108BD9-81ED-4DB2-BD59-A6C34878D82A}">
                    <a16:rowId xmlns:a16="http://schemas.microsoft.com/office/drawing/2014/main" val="1297205616"/>
                  </a:ext>
                </a:extLst>
              </a:tr>
              <a:tr h="363009">
                <a:tc>
                  <a:txBody>
                    <a:bodyPr/>
                    <a:lstStyle/>
                    <a:p>
                      <a:pPr>
                        <a:buNone/>
                      </a:pPr>
                      <a:r>
                        <a:rPr lang="en-IN" sz="1800"/>
                        <a:t>Active</a:t>
                      </a:r>
                    </a:p>
                  </a:txBody>
                  <a:tcPr anchor="ctr">
                    <a:solidFill>
                      <a:schemeClr val="bg2">
                        <a:lumMod val="60000"/>
                        <a:lumOff val="40000"/>
                      </a:schemeClr>
                    </a:solidFill>
                  </a:tcPr>
                </a:tc>
                <a:tc>
                  <a:txBody>
                    <a:bodyPr/>
                    <a:lstStyle/>
                    <a:p>
                      <a:pPr>
                        <a:buNone/>
                      </a:pPr>
                      <a:r>
                        <a:rPr lang="en-IN" sz="1800" dirty="0"/>
                        <a:t>executing</a:t>
                      </a:r>
                    </a:p>
                  </a:txBody>
                  <a:tcPr anchor="ctr">
                    <a:solidFill>
                      <a:schemeClr val="bg2">
                        <a:lumMod val="60000"/>
                        <a:lumOff val="40000"/>
                      </a:schemeClr>
                    </a:solidFill>
                  </a:tcPr>
                </a:tc>
                <a:extLst>
                  <a:ext uri="{0D108BD9-81ED-4DB2-BD59-A6C34878D82A}">
                    <a16:rowId xmlns:a16="http://schemas.microsoft.com/office/drawing/2014/main" val="374871336"/>
                  </a:ext>
                </a:extLst>
              </a:tr>
              <a:tr h="363009">
                <a:tc>
                  <a:txBody>
                    <a:bodyPr/>
                    <a:lstStyle/>
                    <a:p>
                      <a:pPr>
                        <a:buNone/>
                      </a:pPr>
                      <a:r>
                        <a:rPr lang="en-IN" sz="1800"/>
                        <a:t>Partially Committed</a:t>
                      </a:r>
                    </a:p>
                  </a:txBody>
                  <a:tcPr anchor="ctr">
                    <a:solidFill>
                      <a:schemeClr val="bg2">
                        <a:lumMod val="60000"/>
                        <a:lumOff val="40000"/>
                      </a:schemeClr>
                    </a:solidFill>
                  </a:tcPr>
                </a:tc>
                <a:tc>
                  <a:txBody>
                    <a:bodyPr/>
                    <a:lstStyle/>
                    <a:p>
                      <a:pPr>
                        <a:buNone/>
                      </a:pPr>
                      <a:r>
                        <a:rPr lang="en-IN" sz="1800"/>
                        <a:t>last statement executed</a:t>
                      </a:r>
                    </a:p>
                  </a:txBody>
                  <a:tcPr anchor="ctr">
                    <a:solidFill>
                      <a:schemeClr val="bg2">
                        <a:lumMod val="60000"/>
                        <a:lumOff val="40000"/>
                      </a:schemeClr>
                    </a:solidFill>
                  </a:tcPr>
                </a:tc>
                <a:extLst>
                  <a:ext uri="{0D108BD9-81ED-4DB2-BD59-A6C34878D82A}">
                    <a16:rowId xmlns:a16="http://schemas.microsoft.com/office/drawing/2014/main" val="3945606263"/>
                  </a:ext>
                </a:extLst>
              </a:tr>
              <a:tr h="363009">
                <a:tc>
                  <a:txBody>
                    <a:bodyPr/>
                    <a:lstStyle/>
                    <a:p>
                      <a:pPr>
                        <a:buNone/>
                      </a:pPr>
                      <a:r>
                        <a:rPr lang="en-IN" sz="1800"/>
                        <a:t>Failed</a:t>
                      </a:r>
                    </a:p>
                  </a:txBody>
                  <a:tcPr anchor="ctr">
                    <a:solidFill>
                      <a:schemeClr val="bg2">
                        <a:lumMod val="60000"/>
                        <a:lumOff val="40000"/>
                      </a:schemeClr>
                    </a:solidFill>
                  </a:tcPr>
                </a:tc>
                <a:tc>
                  <a:txBody>
                    <a:bodyPr/>
                    <a:lstStyle/>
                    <a:p>
                      <a:pPr>
                        <a:buNone/>
                      </a:pPr>
                      <a:r>
                        <a:rPr lang="en-IN" sz="1800"/>
                        <a:t>execution stopped</a:t>
                      </a:r>
                    </a:p>
                  </a:txBody>
                  <a:tcPr anchor="ctr">
                    <a:solidFill>
                      <a:schemeClr val="bg2">
                        <a:lumMod val="60000"/>
                        <a:lumOff val="40000"/>
                      </a:schemeClr>
                    </a:solidFill>
                  </a:tcPr>
                </a:tc>
                <a:extLst>
                  <a:ext uri="{0D108BD9-81ED-4DB2-BD59-A6C34878D82A}">
                    <a16:rowId xmlns:a16="http://schemas.microsoft.com/office/drawing/2014/main" val="79393564"/>
                  </a:ext>
                </a:extLst>
              </a:tr>
              <a:tr h="363009">
                <a:tc>
                  <a:txBody>
                    <a:bodyPr/>
                    <a:lstStyle/>
                    <a:p>
                      <a:pPr>
                        <a:buNone/>
                      </a:pPr>
                      <a:r>
                        <a:rPr lang="en-IN" sz="1800"/>
                        <a:t>Aborted</a:t>
                      </a:r>
                    </a:p>
                  </a:txBody>
                  <a:tcPr anchor="ctr">
                    <a:solidFill>
                      <a:schemeClr val="bg2">
                        <a:lumMod val="60000"/>
                        <a:lumOff val="40000"/>
                      </a:schemeClr>
                    </a:solidFill>
                  </a:tcPr>
                </a:tc>
                <a:tc>
                  <a:txBody>
                    <a:bodyPr/>
                    <a:lstStyle/>
                    <a:p>
                      <a:pPr>
                        <a:buNone/>
                      </a:pPr>
                      <a:r>
                        <a:rPr lang="en-IN" sz="1800"/>
                        <a:t>rolled back</a:t>
                      </a:r>
                    </a:p>
                  </a:txBody>
                  <a:tcPr anchor="ctr">
                    <a:solidFill>
                      <a:schemeClr val="bg2">
                        <a:lumMod val="60000"/>
                        <a:lumOff val="40000"/>
                      </a:schemeClr>
                    </a:solidFill>
                  </a:tcPr>
                </a:tc>
                <a:extLst>
                  <a:ext uri="{0D108BD9-81ED-4DB2-BD59-A6C34878D82A}">
                    <a16:rowId xmlns:a16="http://schemas.microsoft.com/office/drawing/2014/main" val="3342548006"/>
                  </a:ext>
                </a:extLst>
              </a:tr>
              <a:tr h="363009">
                <a:tc>
                  <a:txBody>
                    <a:bodyPr/>
                    <a:lstStyle/>
                    <a:p>
                      <a:pPr>
                        <a:buNone/>
                      </a:pPr>
                      <a:r>
                        <a:rPr lang="en-IN" sz="1800"/>
                        <a:t>Committed</a:t>
                      </a:r>
                    </a:p>
                  </a:txBody>
                  <a:tcPr anchor="ctr">
                    <a:solidFill>
                      <a:schemeClr val="bg2">
                        <a:lumMod val="60000"/>
                        <a:lumOff val="40000"/>
                      </a:schemeClr>
                    </a:solidFill>
                  </a:tcPr>
                </a:tc>
                <a:tc>
                  <a:txBody>
                    <a:bodyPr/>
                    <a:lstStyle/>
                    <a:p>
                      <a:pPr>
                        <a:buNone/>
                      </a:pPr>
                      <a:r>
                        <a:rPr lang="en-IN" sz="1800" dirty="0"/>
                        <a:t>completed successfully</a:t>
                      </a:r>
                    </a:p>
                  </a:txBody>
                  <a:tcPr anchor="ctr">
                    <a:solidFill>
                      <a:schemeClr val="bg2">
                        <a:lumMod val="60000"/>
                        <a:lumOff val="40000"/>
                      </a:schemeClr>
                    </a:solidFill>
                  </a:tcPr>
                </a:tc>
                <a:extLst>
                  <a:ext uri="{0D108BD9-81ED-4DB2-BD59-A6C34878D82A}">
                    <a16:rowId xmlns:a16="http://schemas.microsoft.com/office/drawing/2014/main" val="420685487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Concurrent Executions</a:t>
            </a:r>
          </a:p>
        </p:txBody>
      </p:sp>
      <p:sp>
        <p:nvSpPr>
          <p:cNvPr id="13315" name="Rectangle 3"/>
          <p:cNvSpPr>
            <a:spLocks noGrp="1" noChangeArrowheads="1"/>
          </p:cNvSpPr>
          <p:nvPr>
            <p:ph idx="1"/>
          </p:nvPr>
        </p:nvSpPr>
        <p:spPr>
          <a:xfrm>
            <a:off x="674703" y="1102497"/>
            <a:ext cx="7714696" cy="5367972"/>
          </a:xfrm>
        </p:spPr>
        <p:txBody>
          <a:bodyPr/>
          <a:lstStyle/>
          <a:p>
            <a:r>
              <a:rPr lang="en-US" altLang="en-US" dirty="0">
                <a:highlight>
                  <a:srgbClr val="FFFF00"/>
                </a:highlight>
              </a:rPr>
              <a:t>Multiple transactions are allowed to run concurrently in the system.  Advantages are:</a:t>
            </a:r>
          </a:p>
          <a:p>
            <a:pPr lvl="1"/>
            <a:r>
              <a:rPr lang="en-US" altLang="en-US" b="1" dirty="0">
                <a:highlight>
                  <a:srgbClr val="FFFF00"/>
                </a:highlight>
              </a:rPr>
              <a:t>Increased processor and disk utilization</a:t>
            </a:r>
            <a:r>
              <a:rPr lang="en-US" altLang="en-US" dirty="0">
                <a:highlight>
                  <a:srgbClr val="FFFF00"/>
                </a:highlight>
              </a:rPr>
              <a:t>, leading to better transaction </a:t>
            </a:r>
            <a:r>
              <a:rPr lang="en-US" altLang="en-US" i="1" dirty="0">
                <a:highlight>
                  <a:srgbClr val="FFFF00"/>
                </a:highlight>
              </a:rPr>
              <a:t>throughput</a:t>
            </a:r>
          </a:p>
          <a:p>
            <a:pPr lvl="2"/>
            <a:r>
              <a:rPr lang="en-US" altLang="en-US" dirty="0">
                <a:highlight>
                  <a:srgbClr val="FFFF00"/>
                </a:highlight>
              </a:rPr>
              <a:t>E.g., one transaction can be using the CPU while another is reading from or writing to the disk</a:t>
            </a:r>
          </a:p>
          <a:p>
            <a:pPr lvl="1"/>
            <a:r>
              <a:rPr lang="en-US" altLang="en-US" b="1" dirty="0">
                <a:highlight>
                  <a:srgbClr val="FFFF00"/>
                </a:highlight>
              </a:rPr>
              <a:t>Reduced average response time</a:t>
            </a:r>
            <a:r>
              <a:rPr lang="en-US" altLang="en-US" dirty="0">
                <a:highlight>
                  <a:srgbClr val="FFFF00"/>
                </a:highlight>
              </a:rPr>
              <a:t> for transactions: short transactions need not wait behind long ones.</a:t>
            </a:r>
          </a:p>
          <a:p>
            <a:r>
              <a:rPr lang="en-US" altLang="en-US" b="1" dirty="0">
                <a:solidFill>
                  <a:srgbClr val="000099"/>
                </a:solidFill>
              </a:rPr>
              <a:t>Concurrency control schemes</a:t>
            </a:r>
            <a:r>
              <a:rPr lang="en-US" altLang="en-US" i="1" dirty="0"/>
              <a:t> </a:t>
            </a:r>
            <a:r>
              <a:rPr lang="en-US" altLang="en-US" dirty="0"/>
              <a:t>– mechanisms  to achieve isolation</a:t>
            </a:r>
          </a:p>
          <a:p>
            <a:pPr lvl="1"/>
            <a:r>
              <a:rPr lang="en-US" altLang="en-US" dirty="0"/>
              <a:t>That is, to control the interaction among the concurrent transactions in order to prevent them from destroying the consistency of the database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five concurrency problems</a:t>
            </a:r>
            <a:endParaRPr lang="en-IN" dirty="0"/>
          </a:p>
        </p:txBody>
      </p:sp>
      <p:sp>
        <p:nvSpPr>
          <p:cNvPr id="3" name="Content Placeholder 2"/>
          <p:cNvSpPr>
            <a:spLocks noGrp="1"/>
          </p:cNvSpPr>
          <p:nvPr>
            <p:ph idx="1"/>
          </p:nvPr>
        </p:nvSpPr>
        <p:spPr/>
        <p:txBody>
          <a:bodyPr/>
          <a:lstStyle/>
          <a:p>
            <a:pPr marL="0" indent="0">
              <a:buNone/>
            </a:pPr>
            <a:r>
              <a:rPr lang="en-US" dirty="0">
                <a:highlight>
                  <a:srgbClr val="FFFF00"/>
                </a:highlight>
              </a:rPr>
              <a:t>The five concurrency problems that can occur in the database are: </a:t>
            </a:r>
          </a:p>
          <a:p>
            <a:pPr marL="0" indent="0">
              <a:buNone/>
            </a:pPr>
            <a:endParaRPr lang="en-US" dirty="0">
              <a:highlight>
                <a:srgbClr val="FFFF00"/>
              </a:highlight>
            </a:endParaRPr>
          </a:p>
          <a:p>
            <a:r>
              <a:rPr lang="en-IN" dirty="0">
                <a:highlight>
                  <a:srgbClr val="FFFF00"/>
                </a:highlight>
              </a:rPr>
              <a:t>1️⃣ </a:t>
            </a:r>
            <a:r>
              <a:rPr lang="en-IN" b="1" dirty="0">
                <a:highlight>
                  <a:srgbClr val="FFFF00"/>
                </a:highlight>
              </a:rPr>
              <a:t>Dirty Read (Temporary Update)</a:t>
            </a:r>
            <a:endParaRPr lang="en-IN" dirty="0">
              <a:highlight>
                <a:srgbClr val="FFFF00"/>
              </a:highlight>
            </a:endParaRPr>
          </a:p>
          <a:p>
            <a:pPr lvl="1"/>
            <a:r>
              <a:rPr lang="en-IN" dirty="0">
                <a:highlight>
                  <a:srgbClr val="FFFF00"/>
                </a:highlight>
              </a:rPr>
              <a:t>T2 reads uncommitted data of T1</a:t>
            </a:r>
          </a:p>
          <a:p>
            <a:r>
              <a:rPr lang="en-IN" dirty="0">
                <a:highlight>
                  <a:srgbClr val="FFFF00"/>
                </a:highlight>
              </a:rPr>
              <a:t>2️⃣ </a:t>
            </a:r>
            <a:r>
              <a:rPr lang="en-IN" b="1" dirty="0">
                <a:highlight>
                  <a:srgbClr val="FFFF00"/>
                </a:highlight>
              </a:rPr>
              <a:t>Incorrect Summary</a:t>
            </a:r>
            <a:endParaRPr lang="en-IN" dirty="0">
              <a:highlight>
                <a:srgbClr val="FFFF00"/>
              </a:highlight>
            </a:endParaRPr>
          </a:p>
          <a:p>
            <a:pPr lvl="1"/>
            <a:r>
              <a:rPr lang="en-IN" dirty="0">
                <a:highlight>
                  <a:srgbClr val="FFFF00"/>
                </a:highlight>
              </a:rPr>
              <a:t>One transaction calculates total while another is updating</a:t>
            </a:r>
          </a:p>
          <a:p>
            <a:r>
              <a:rPr lang="en-IN" dirty="0">
                <a:highlight>
                  <a:srgbClr val="FFFF00"/>
                </a:highlight>
              </a:rPr>
              <a:t>3️⃣ </a:t>
            </a:r>
            <a:r>
              <a:rPr lang="en-IN" b="1" dirty="0">
                <a:highlight>
                  <a:srgbClr val="FFFF00"/>
                </a:highlight>
              </a:rPr>
              <a:t>Lost Update</a:t>
            </a:r>
            <a:endParaRPr lang="en-IN" dirty="0">
              <a:highlight>
                <a:srgbClr val="FFFF00"/>
              </a:highlight>
            </a:endParaRPr>
          </a:p>
          <a:p>
            <a:pPr lvl="1"/>
            <a:r>
              <a:rPr lang="en-IN" dirty="0">
                <a:highlight>
                  <a:srgbClr val="FFFF00"/>
                </a:highlight>
              </a:rPr>
              <a:t>One update overwrites another’s update</a:t>
            </a:r>
          </a:p>
          <a:p>
            <a:r>
              <a:rPr lang="en-IN" dirty="0">
                <a:highlight>
                  <a:srgbClr val="FFFF00"/>
                </a:highlight>
              </a:rPr>
              <a:t>4️⃣ </a:t>
            </a:r>
            <a:r>
              <a:rPr lang="en-IN" b="1" dirty="0">
                <a:highlight>
                  <a:srgbClr val="FFFF00"/>
                </a:highlight>
              </a:rPr>
              <a:t>Unrepeatable Read</a:t>
            </a:r>
            <a:endParaRPr lang="en-IN" dirty="0">
              <a:highlight>
                <a:srgbClr val="FFFF00"/>
              </a:highlight>
            </a:endParaRPr>
          </a:p>
          <a:p>
            <a:pPr lvl="1"/>
            <a:r>
              <a:rPr lang="en-IN" dirty="0">
                <a:highlight>
                  <a:srgbClr val="FFFF00"/>
                </a:highlight>
              </a:rPr>
              <a:t>Same SELECT gives different results inside same transaction</a:t>
            </a:r>
          </a:p>
          <a:p>
            <a:r>
              <a:rPr lang="en-IN" dirty="0">
                <a:highlight>
                  <a:srgbClr val="FFFF00"/>
                </a:highlight>
              </a:rPr>
              <a:t>5️⃣ </a:t>
            </a:r>
            <a:r>
              <a:rPr lang="en-IN" b="1" dirty="0">
                <a:highlight>
                  <a:srgbClr val="FFFF00"/>
                </a:highlight>
              </a:rPr>
              <a:t>Phantom Read</a:t>
            </a:r>
            <a:endParaRPr lang="en-IN" dirty="0">
              <a:highlight>
                <a:srgbClr val="FFFF00"/>
              </a:highlight>
            </a:endParaRPr>
          </a:p>
          <a:p>
            <a:pPr lvl="1"/>
            <a:r>
              <a:rPr lang="en-IN" dirty="0">
                <a:highlight>
                  <a:srgbClr val="FFFF00"/>
                </a:highlight>
              </a:rPr>
              <a:t>A row disappears or newly appears in next SELECT</a:t>
            </a:r>
          </a:p>
          <a:p>
            <a:endParaRPr lang="en-IN" dirty="0"/>
          </a:p>
        </p:txBody>
      </p:sp>
    </p:spTree>
    <p:extLst>
      <p:ext uri="{BB962C8B-B14F-4D97-AF65-F5344CB8AC3E}">
        <p14:creationId xmlns:p14="http://schemas.microsoft.com/office/powerpoint/2010/main" val="3494783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DIRTY READ PROBLEM</a:t>
            </a:r>
            <a:endParaRPr lang="en-IN" dirty="0"/>
          </a:p>
        </p:txBody>
      </p:sp>
      <p:sp>
        <p:nvSpPr>
          <p:cNvPr id="3" name="Content Placeholder 2"/>
          <p:cNvSpPr>
            <a:spLocks noGrp="1"/>
          </p:cNvSpPr>
          <p:nvPr>
            <p:ph idx="1"/>
          </p:nvPr>
        </p:nvSpPr>
        <p:spPr/>
        <p:txBody>
          <a:bodyPr/>
          <a:lstStyle/>
          <a:p>
            <a:r>
              <a:rPr lang="en-US" b="1" dirty="0"/>
              <a:t>Temporary Update Problem(DIRTY READ PROBLEM): </a:t>
            </a:r>
          </a:p>
          <a:p>
            <a:r>
              <a:rPr lang="en-US" dirty="0"/>
              <a:t>Temporary update or dirty read problem occurs when one transaction updates an item and fails. But the updated item is used by another transaction before the item is changed or reverted back to its last value. </a:t>
            </a:r>
          </a:p>
          <a:p>
            <a:r>
              <a:rPr lang="en-US" dirty="0">
                <a:highlight>
                  <a:srgbClr val="FFFF00"/>
                </a:highlight>
              </a:rPr>
              <a:t>Before aborting(rollback to its original value after failure) the value Is used by another transactions</a:t>
            </a:r>
            <a:r>
              <a:rPr lang="en-US" dirty="0"/>
              <a:t>.</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 y="3052060"/>
            <a:ext cx="35433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 name="Table 6">
            <a:extLst>
              <a:ext uri="{FF2B5EF4-FFF2-40B4-BE49-F238E27FC236}">
                <a16:creationId xmlns:a16="http://schemas.microsoft.com/office/drawing/2014/main" id="{A8B46F41-67C7-CF94-44FE-F692808479AB}"/>
              </a:ext>
            </a:extLst>
          </p:cNvPr>
          <p:cNvGraphicFramePr>
            <a:graphicFrameLocks noGrp="1"/>
          </p:cNvGraphicFramePr>
          <p:nvPr>
            <p:extLst>
              <p:ext uri="{D42A27DB-BD31-4B8C-83A1-F6EECF244321}">
                <p14:modId xmlns:p14="http://schemas.microsoft.com/office/powerpoint/2010/main" val="779069666"/>
              </p:ext>
            </p:extLst>
          </p:nvPr>
        </p:nvGraphicFramePr>
        <p:xfrm>
          <a:off x="5321952" y="2749732"/>
          <a:ext cx="2831448" cy="2219960"/>
        </p:xfrm>
        <a:graphic>
          <a:graphicData uri="http://schemas.openxmlformats.org/drawingml/2006/table">
            <a:tbl>
              <a:tblPr firstRow="1" bandRow="1">
                <a:tableStyleId>{5C22544A-7EE6-4342-B048-85BDC9FD1C3A}</a:tableStyleId>
              </a:tblPr>
              <a:tblGrid>
                <a:gridCol w="1415724">
                  <a:extLst>
                    <a:ext uri="{9D8B030D-6E8A-4147-A177-3AD203B41FA5}">
                      <a16:colId xmlns:a16="http://schemas.microsoft.com/office/drawing/2014/main" val="1544014186"/>
                    </a:ext>
                  </a:extLst>
                </a:gridCol>
                <a:gridCol w="1415724">
                  <a:extLst>
                    <a:ext uri="{9D8B030D-6E8A-4147-A177-3AD203B41FA5}">
                      <a16:colId xmlns:a16="http://schemas.microsoft.com/office/drawing/2014/main" val="3105984420"/>
                    </a:ext>
                  </a:extLst>
                </a:gridCol>
              </a:tblGrid>
              <a:tr h="370840">
                <a:tc>
                  <a:txBody>
                    <a:bodyPr/>
                    <a:lstStyle/>
                    <a:p>
                      <a:r>
                        <a:rPr lang="en-IN" dirty="0">
                          <a:solidFill>
                            <a:schemeClr val="tx1"/>
                          </a:solidFill>
                        </a:rPr>
                        <a:t>R(A)</a:t>
                      </a:r>
                    </a:p>
                  </a:txBody>
                  <a:tcPr/>
                </a:tc>
                <a:tc>
                  <a:txBody>
                    <a:bodyPr/>
                    <a:lstStyle/>
                    <a:p>
                      <a:endParaRPr lang="en-IN"/>
                    </a:p>
                  </a:txBody>
                  <a:tcPr/>
                </a:tc>
                <a:extLst>
                  <a:ext uri="{0D108BD9-81ED-4DB2-BD59-A6C34878D82A}">
                    <a16:rowId xmlns:a16="http://schemas.microsoft.com/office/drawing/2014/main" val="2490380950"/>
                  </a:ext>
                </a:extLst>
              </a:tr>
              <a:tr h="370840">
                <a:tc>
                  <a:txBody>
                    <a:bodyPr/>
                    <a:lstStyle/>
                    <a:p>
                      <a:r>
                        <a:rPr lang="en-IN" dirty="0"/>
                        <a:t>W(A)</a:t>
                      </a:r>
                    </a:p>
                  </a:txBody>
                  <a:tcPr/>
                </a:tc>
                <a:tc>
                  <a:txBody>
                    <a:bodyPr/>
                    <a:lstStyle/>
                    <a:p>
                      <a:endParaRPr lang="en-IN"/>
                    </a:p>
                  </a:txBody>
                  <a:tcPr/>
                </a:tc>
                <a:extLst>
                  <a:ext uri="{0D108BD9-81ED-4DB2-BD59-A6C34878D82A}">
                    <a16:rowId xmlns:a16="http://schemas.microsoft.com/office/drawing/2014/main" val="2753741242"/>
                  </a:ext>
                </a:extLst>
              </a:tr>
              <a:tr h="370840">
                <a:tc>
                  <a:txBody>
                    <a:bodyPr/>
                    <a:lstStyle/>
                    <a:p>
                      <a:endParaRPr lang="en-IN"/>
                    </a:p>
                  </a:txBody>
                  <a:tcPr/>
                </a:tc>
                <a:tc>
                  <a:txBody>
                    <a:bodyPr/>
                    <a:lstStyle/>
                    <a:p>
                      <a:r>
                        <a:rPr lang="en-IN" dirty="0"/>
                        <a:t>R(A)</a:t>
                      </a:r>
                    </a:p>
                  </a:txBody>
                  <a:tcPr/>
                </a:tc>
                <a:extLst>
                  <a:ext uri="{0D108BD9-81ED-4DB2-BD59-A6C34878D82A}">
                    <a16:rowId xmlns:a16="http://schemas.microsoft.com/office/drawing/2014/main" val="2200300158"/>
                  </a:ext>
                </a:extLst>
              </a:tr>
              <a:tr h="370840">
                <a:tc>
                  <a:txBody>
                    <a:bodyPr/>
                    <a:lstStyle/>
                    <a:p>
                      <a:endParaRPr lang="en-IN"/>
                    </a:p>
                  </a:txBody>
                  <a:tcPr/>
                </a:tc>
                <a:tc>
                  <a:txBody>
                    <a:bodyPr/>
                    <a:lstStyle/>
                    <a:p>
                      <a:r>
                        <a:rPr lang="en-IN" dirty="0"/>
                        <a:t>W(A)</a:t>
                      </a:r>
                    </a:p>
                  </a:txBody>
                  <a:tcPr/>
                </a:tc>
                <a:extLst>
                  <a:ext uri="{0D108BD9-81ED-4DB2-BD59-A6C34878D82A}">
                    <a16:rowId xmlns:a16="http://schemas.microsoft.com/office/drawing/2014/main" val="1514984821"/>
                  </a:ext>
                </a:extLst>
              </a:tr>
              <a:tr h="0">
                <a:tc>
                  <a:txBody>
                    <a:bodyPr/>
                    <a:lstStyle/>
                    <a:p>
                      <a:endParaRPr lang="en-IN"/>
                    </a:p>
                  </a:txBody>
                  <a:tcPr/>
                </a:tc>
                <a:tc>
                  <a:txBody>
                    <a:bodyPr/>
                    <a:lstStyle/>
                    <a:p>
                      <a:r>
                        <a:rPr lang="en-IN" dirty="0"/>
                        <a:t>COMMIT</a:t>
                      </a:r>
                    </a:p>
                  </a:txBody>
                  <a:tcPr/>
                </a:tc>
                <a:extLst>
                  <a:ext uri="{0D108BD9-81ED-4DB2-BD59-A6C34878D82A}">
                    <a16:rowId xmlns:a16="http://schemas.microsoft.com/office/drawing/2014/main" val="2318165882"/>
                  </a:ext>
                </a:extLst>
              </a:tr>
              <a:tr h="370840">
                <a:tc>
                  <a:txBody>
                    <a:bodyPr/>
                    <a:lstStyle/>
                    <a:p>
                      <a:r>
                        <a:rPr lang="en-IN" dirty="0"/>
                        <a:t>FAILURE</a:t>
                      </a:r>
                    </a:p>
                  </a:txBody>
                  <a:tcPr/>
                </a:tc>
                <a:tc>
                  <a:txBody>
                    <a:bodyPr/>
                    <a:lstStyle/>
                    <a:p>
                      <a:endParaRPr lang="en-IN" dirty="0"/>
                    </a:p>
                  </a:txBody>
                  <a:tcPr/>
                </a:tc>
                <a:extLst>
                  <a:ext uri="{0D108BD9-81ED-4DB2-BD59-A6C34878D82A}">
                    <a16:rowId xmlns:a16="http://schemas.microsoft.com/office/drawing/2014/main" val="1894759937"/>
                  </a:ext>
                </a:extLst>
              </a:tr>
            </a:tbl>
          </a:graphicData>
        </a:graphic>
      </p:graphicFrame>
    </p:spTree>
    <p:extLst>
      <p:ext uri="{BB962C8B-B14F-4D97-AF65-F5344CB8AC3E}">
        <p14:creationId xmlns:p14="http://schemas.microsoft.com/office/powerpoint/2010/main" val="473403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Incorrect Summary Problem</a:t>
            </a:r>
            <a:endParaRPr lang="en-IN" dirty="0"/>
          </a:p>
        </p:txBody>
      </p:sp>
      <p:sp>
        <p:nvSpPr>
          <p:cNvPr id="3" name="Content Placeholder 2"/>
          <p:cNvSpPr>
            <a:spLocks noGrp="1"/>
          </p:cNvSpPr>
          <p:nvPr>
            <p:ph idx="1"/>
          </p:nvPr>
        </p:nvSpPr>
        <p:spPr/>
        <p:txBody>
          <a:bodyPr/>
          <a:lstStyle/>
          <a:p>
            <a:r>
              <a:rPr lang="en-US" b="1" dirty="0"/>
              <a:t>Incorrect Summary Problem: </a:t>
            </a:r>
          </a:p>
          <a:p>
            <a:r>
              <a:rPr lang="en-US" dirty="0"/>
              <a:t>Consider a situation, where one transaction is applying the aggregate function on some records while another transaction is updating these records. The aggregate function may calculate some values before the values have been updated and others after they are updated. </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8022" y="2272891"/>
            <a:ext cx="3249386" cy="4310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5865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Lost Update Problem</a:t>
            </a:r>
            <a:endParaRPr lang="en-IN" dirty="0"/>
          </a:p>
        </p:txBody>
      </p:sp>
      <p:sp>
        <p:nvSpPr>
          <p:cNvPr id="3" name="Content Placeholder 2"/>
          <p:cNvSpPr>
            <a:spLocks noGrp="1"/>
          </p:cNvSpPr>
          <p:nvPr>
            <p:ph idx="1"/>
          </p:nvPr>
        </p:nvSpPr>
        <p:spPr>
          <a:xfrm>
            <a:off x="396240" y="711200"/>
            <a:ext cx="8449310" cy="5759269"/>
          </a:xfrm>
        </p:spPr>
        <p:txBody>
          <a:bodyPr/>
          <a:lstStyle/>
          <a:p>
            <a:r>
              <a:rPr lang="en-US" b="1" dirty="0"/>
              <a:t>Lost Update Problem: </a:t>
            </a:r>
          </a:p>
          <a:p>
            <a:r>
              <a:rPr lang="en-US" dirty="0">
                <a:highlight>
                  <a:srgbClr val="FFFF00"/>
                </a:highlight>
              </a:rPr>
              <a:t>In the lost update problem, an update done to a data item by a transaction is lost as it is overwritten by the update done by another transaction. </a:t>
            </a:r>
          </a:p>
          <a:p>
            <a:r>
              <a:rPr lang="en-US" dirty="0"/>
              <a:t>In the above example, transaction 2 changes the value of X but it will get overwritten by the write commit by transaction 1 on X </a:t>
            </a:r>
            <a:r>
              <a:rPr lang="en-US" i="1" dirty="0"/>
              <a:t>(not shown in the image above)</a:t>
            </a:r>
            <a:r>
              <a:rPr lang="en-US" dirty="0"/>
              <a:t>.</a:t>
            </a:r>
          </a:p>
          <a:p>
            <a:r>
              <a:rPr lang="en-US" dirty="0"/>
              <a:t> Therefore, the update done by transaction 2 will be lost. Basically, the write commit done by the </a:t>
            </a:r>
            <a:r>
              <a:rPr lang="en-US" b="1" dirty="0"/>
              <a:t>last transaction</a:t>
            </a:r>
            <a:r>
              <a:rPr lang="en-US" dirty="0"/>
              <a:t> will overwrite all previous write commits.</a:t>
            </a:r>
          </a:p>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2187" y="3477578"/>
            <a:ext cx="4619625" cy="313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4108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Unrepeatable Read Problem</a:t>
            </a:r>
            <a:endParaRPr lang="en-IN" dirty="0"/>
          </a:p>
        </p:txBody>
      </p:sp>
      <p:sp>
        <p:nvSpPr>
          <p:cNvPr id="3" name="Content Placeholder 2"/>
          <p:cNvSpPr>
            <a:spLocks noGrp="1"/>
          </p:cNvSpPr>
          <p:nvPr>
            <p:ph idx="1"/>
          </p:nvPr>
        </p:nvSpPr>
        <p:spPr/>
        <p:txBody>
          <a:bodyPr/>
          <a:lstStyle/>
          <a:p>
            <a:r>
              <a:rPr lang="en-US" b="1" dirty="0"/>
              <a:t>Unrepeatable Read Problem: </a:t>
            </a:r>
          </a:p>
          <a:p>
            <a:r>
              <a:rPr lang="en-US" dirty="0">
                <a:highlight>
                  <a:srgbClr val="FFFF00"/>
                </a:highlight>
              </a:rPr>
              <a:t>The unrepeatable problem occurs when two or more read operations of the same transaction read different values of the same variable. </a:t>
            </a:r>
          </a:p>
          <a:p>
            <a:r>
              <a:rPr lang="en-US" dirty="0"/>
              <a:t>In the above example, once transaction 2 reads the variable X, a write operation in transaction 1 changes the value of the variable X. Thus, when another read operation is performed by transaction 2, it reads the new value of X which was updated by transaction 1. </a:t>
            </a:r>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3733" y="3504883"/>
            <a:ext cx="2695575"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8675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Phantom Read Problem</a:t>
            </a:r>
            <a:endParaRPr lang="en-IN" dirty="0"/>
          </a:p>
        </p:txBody>
      </p:sp>
      <p:sp>
        <p:nvSpPr>
          <p:cNvPr id="3" name="Content Placeholder 2"/>
          <p:cNvSpPr>
            <a:spLocks noGrp="1"/>
          </p:cNvSpPr>
          <p:nvPr>
            <p:ph idx="1"/>
          </p:nvPr>
        </p:nvSpPr>
        <p:spPr/>
        <p:txBody>
          <a:bodyPr/>
          <a:lstStyle/>
          <a:p>
            <a:r>
              <a:rPr lang="en-US" b="1" dirty="0"/>
              <a:t>Phantom Read Problem: </a:t>
            </a:r>
          </a:p>
          <a:p>
            <a:r>
              <a:rPr lang="en-US" dirty="0">
                <a:highlight>
                  <a:srgbClr val="FFFF00"/>
                </a:highlight>
              </a:rPr>
              <a:t>The phantom read problem occurs when a transaction reads a variable once but when it tries to read that same variable again, an error occurs saying that the variable does not exist. </a:t>
            </a:r>
          </a:p>
          <a:p>
            <a:r>
              <a:rPr lang="en-US" dirty="0"/>
              <a:t>n the above example, once transaction 2 reads the variable X, transaction 1 deletes the variable X without transaction 2’s knowledge. Thus, when transaction 2 tries to read X, it is not able to do it.</a:t>
            </a:r>
          </a:p>
          <a:p>
            <a:endParaRPr lang="en-US" dirty="0"/>
          </a:p>
          <a:p>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423603"/>
            <a:ext cx="2895600"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7446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Schedules</a:t>
            </a:r>
          </a:p>
        </p:txBody>
      </p:sp>
      <p:sp>
        <p:nvSpPr>
          <p:cNvPr id="14339" name="Rectangle 3"/>
          <p:cNvSpPr>
            <a:spLocks noGrp="1" noChangeArrowheads="1"/>
          </p:cNvSpPr>
          <p:nvPr>
            <p:ph idx="1"/>
          </p:nvPr>
        </p:nvSpPr>
        <p:spPr>
          <a:xfrm>
            <a:off x="665824" y="1102497"/>
            <a:ext cx="7803473" cy="5367972"/>
          </a:xfrm>
        </p:spPr>
        <p:txBody>
          <a:bodyPr/>
          <a:lstStyle/>
          <a:p>
            <a:r>
              <a:rPr lang="en-US" altLang="en-US" b="1" dirty="0">
                <a:solidFill>
                  <a:srgbClr val="000099"/>
                </a:solidFill>
                <a:highlight>
                  <a:srgbClr val="FFFF00"/>
                </a:highlight>
              </a:rPr>
              <a:t>Schedule</a:t>
            </a:r>
            <a:r>
              <a:rPr lang="en-US" altLang="en-US" b="1" dirty="0">
                <a:solidFill>
                  <a:schemeClr val="tx2"/>
                </a:solidFill>
                <a:highlight>
                  <a:srgbClr val="FFFF00"/>
                </a:highlight>
              </a:rPr>
              <a:t> </a:t>
            </a:r>
            <a:r>
              <a:rPr lang="en-US" altLang="en-US" dirty="0">
                <a:highlight>
                  <a:srgbClr val="FFFF00"/>
                </a:highlight>
              </a:rPr>
              <a:t>– a sequences of instructions that specify the chronological order in which instructions of concurrent transactions are executed</a:t>
            </a:r>
          </a:p>
          <a:p>
            <a:pPr lvl="1"/>
            <a:r>
              <a:rPr lang="en-US" altLang="en-US" dirty="0"/>
              <a:t>A schedule for a set of transactions must consist of all instructions of those transactions</a:t>
            </a:r>
          </a:p>
          <a:p>
            <a:pPr lvl="1"/>
            <a:r>
              <a:rPr lang="en-US" altLang="en-US" dirty="0"/>
              <a:t>Must preserve the order in which the instructions appear in each individual transaction.</a:t>
            </a:r>
          </a:p>
          <a:p>
            <a:r>
              <a:rPr lang="en-US" altLang="en-US" dirty="0"/>
              <a:t>A transaction that successfully completes its execution will have a commit instructions as the last statement </a:t>
            </a:r>
          </a:p>
          <a:p>
            <a:pPr lvl="1"/>
            <a:r>
              <a:rPr lang="en-US" altLang="en-US" dirty="0"/>
              <a:t>By default transaction assumed to execute commit instruction as its last step</a:t>
            </a:r>
          </a:p>
          <a:p>
            <a:r>
              <a:rPr lang="en-US" altLang="en-US" dirty="0"/>
              <a:t>A transaction that fails to successfully complete its execution will have an abort instruction as the last statement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2"/>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0000"/>
              </a:buClr>
              <a:buSzPct val="100000"/>
              <a:buFont typeface="Times New Roman"/>
              <a:buNone/>
            </a:pPr>
            <a:r>
              <a:rPr lang="en-US" b="1">
                <a:solidFill>
                  <a:srgbClr val="FF0000"/>
                </a:solidFill>
                <a:latin typeface="Times New Roman"/>
                <a:ea typeface="Times New Roman"/>
                <a:cs typeface="Times New Roman"/>
                <a:sym typeface="Times New Roman"/>
              </a:rPr>
              <a:t>Example Schedules</a:t>
            </a:r>
            <a:endParaRPr>
              <a:solidFill>
                <a:srgbClr val="FF0000"/>
              </a:solidFill>
              <a:latin typeface="Times New Roman"/>
              <a:ea typeface="Times New Roman"/>
              <a:cs typeface="Times New Roman"/>
              <a:sym typeface="Times New Roman"/>
            </a:endParaRPr>
          </a:p>
        </p:txBody>
      </p:sp>
      <p:sp>
        <p:nvSpPr>
          <p:cNvPr id="138" name="Google Shape;138;p22"/>
          <p:cNvSpPr txBox="1">
            <a:spLocks noGrp="1"/>
          </p:cNvSpPr>
          <p:nvPr>
            <p:ph type="body" idx="1"/>
          </p:nvPr>
        </p:nvSpPr>
        <p:spPr>
          <a:xfrm>
            <a:off x="228600" y="1143000"/>
            <a:ext cx="8610600" cy="13716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Char char="•"/>
            </a:pPr>
            <a:r>
              <a:rPr lang="en-US" sz="2400" dirty="0">
                <a:latin typeface="Times New Roman"/>
                <a:ea typeface="Times New Roman"/>
                <a:cs typeface="Times New Roman"/>
                <a:sym typeface="Times New Roman"/>
              </a:rPr>
              <a:t>Let T1 transfer $50 from A to B, and T2 transfer 10% of the balance from A to B. The following is a serial schedule, in which T1 is followed by T2.</a:t>
            </a:r>
            <a:endParaRPr sz="2400" dirty="0">
              <a:latin typeface="Times New Roman"/>
              <a:ea typeface="Times New Roman"/>
              <a:cs typeface="Times New Roman"/>
              <a:sym typeface="Times New Roman"/>
            </a:endParaRPr>
          </a:p>
        </p:txBody>
      </p:sp>
      <p:pic>
        <p:nvPicPr>
          <p:cNvPr id="139" name="Google Shape;139;p22"/>
          <p:cNvPicPr preferRelativeResize="0"/>
          <p:nvPr/>
        </p:nvPicPr>
        <p:blipFill rotWithShape="1">
          <a:blip r:embed="rId3">
            <a:alphaModFix/>
          </a:blip>
          <a:srcRect/>
          <a:stretch/>
        </p:blipFill>
        <p:spPr>
          <a:xfrm>
            <a:off x="2781300" y="2667000"/>
            <a:ext cx="3505200" cy="3657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3"/>
          <p:cNvSpPr txBox="1">
            <a:spLocks noGrp="1"/>
          </p:cNvSpPr>
          <p:nvPr>
            <p:ph type="title"/>
          </p:nvPr>
        </p:nvSpPr>
        <p:spPr>
          <a:xfrm>
            <a:off x="457200" y="274638"/>
            <a:ext cx="3810000" cy="3349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FF0000"/>
              </a:buClr>
              <a:buSzPts val="3400"/>
              <a:buFont typeface="Times New Roman"/>
              <a:buNone/>
            </a:pPr>
            <a:r>
              <a:rPr lang="en-US" sz="3400" b="1">
                <a:solidFill>
                  <a:srgbClr val="FF0000"/>
                </a:solidFill>
                <a:latin typeface="Times New Roman"/>
                <a:ea typeface="Times New Roman"/>
                <a:cs typeface="Times New Roman"/>
                <a:sym typeface="Times New Roman"/>
              </a:rPr>
              <a:t>Continue….</a:t>
            </a:r>
            <a:endParaRPr sz="3400" b="1">
              <a:solidFill>
                <a:srgbClr val="FF0000"/>
              </a:solidFill>
              <a:latin typeface="Times New Roman"/>
              <a:ea typeface="Times New Roman"/>
              <a:cs typeface="Times New Roman"/>
              <a:sym typeface="Times New Roman"/>
            </a:endParaRPr>
          </a:p>
        </p:txBody>
      </p:sp>
      <p:sp>
        <p:nvSpPr>
          <p:cNvPr id="145" name="Google Shape;145;p23"/>
          <p:cNvSpPr txBox="1">
            <a:spLocks noGrp="1"/>
          </p:cNvSpPr>
          <p:nvPr>
            <p:ph type="body" idx="1"/>
          </p:nvPr>
        </p:nvSpPr>
        <p:spPr>
          <a:xfrm>
            <a:off x="228600" y="914400"/>
            <a:ext cx="8610600" cy="5715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a:latin typeface="Times New Roman"/>
                <a:ea typeface="Times New Roman"/>
                <a:cs typeface="Times New Roman"/>
                <a:sym typeface="Times New Roman"/>
              </a:rPr>
              <a:t>Let T1 and T2 be the transactions defined previously. The following schedule is not a serial schedule, but it is equivalent to Schedule 1.</a:t>
            </a:r>
            <a:endParaRPr/>
          </a:p>
          <a:p>
            <a:pPr marL="342900" lvl="0" indent="-190500" algn="l" rtl="0">
              <a:spcBef>
                <a:spcPts val="480"/>
              </a:spcBef>
              <a:spcAft>
                <a:spcPts val="0"/>
              </a:spcAft>
              <a:buClr>
                <a:schemeClr val="dk1"/>
              </a:buClr>
              <a:buSzPts val="2400"/>
              <a:buNone/>
            </a:pPr>
            <a:endParaRPr sz="2400"/>
          </a:p>
        </p:txBody>
      </p:sp>
      <p:pic>
        <p:nvPicPr>
          <p:cNvPr id="146" name="Google Shape;146;p23"/>
          <p:cNvPicPr preferRelativeResize="0"/>
          <p:nvPr/>
        </p:nvPicPr>
        <p:blipFill rotWithShape="1">
          <a:blip r:embed="rId3">
            <a:alphaModFix/>
          </a:blip>
          <a:srcRect/>
          <a:stretch/>
        </p:blipFill>
        <p:spPr>
          <a:xfrm>
            <a:off x="990600" y="2514600"/>
            <a:ext cx="3200400" cy="3886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p24"/>
          <p:cNvPicPr preferRelativeResize="0">
            <a:picLocks noGrp="1"/>
          </p:cNvPicPr>
          <p:nvPr>
            <p:ph type="body" idx="1"/>
          </p:nvPr>
        </p:nvPicPr>
        <p:blipFill rotWithShape="1">
          <a:blip r:embed="rId3">
            <a:alphaModFix/>
          </a:blip>
          <a:srcRect/>
          <a:stretch/>
        </p:blipFill>
        <p:spPr>
          <a:xfrm>
            <a:off x="1066800" y="2057400"/>
            <a:ext cx="3352800" cy="3781425"/>
          </a:xfrm>
          <a:prstGeom prst="rect">
            <a:avLst/>
          </a:prstGeom>
          <a:noFill/>
          <a:ln>
            <a:noFill/>
          </a:ln>
        </p:spPr>
      </p:pic>
      <p:sp>
        <p:nvSpPr>
          <p:cNvPr id="152" name="Google Shape;152;p24"/>
          <p:cNvSpPr/>
          <p:nvPr/>
        </p:nvSpPr>
        <p:spPr>
          <a:xfrm>
            <a:off x="609600" y="457200"/>
            <a:ext cx="7924800" cy="8309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The following concurrent schedule (Schedule 4 in the text) does not preserve the value of the sum A + B</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Recoverable Schedules</a:t>
            </a:r>
          </a:p>
        </p:txBody>
      </p:sp>
      <p:sp>
        <p:nvSpPr>
          <p:cNvPr id="31747" name="Rectangle 3"/>
          <p:cNvSpPr>
            <a:spLocks noGrp="1" noChangeArrowheads="1"/>
          </p:cNvSpPr>
          <p:nvPr>
            <p:ph idx="1"/>
          </p:nvPr>
        </p:nvSpPr>
        <p:spPr>
          <a:xfrm>
            <a:off x="701336" y="1686901"/>
            <a:ext cx="7776839" cy="4783568"/>
          </a:xfrm>
        </p:spPr>
        <p:txBody>
          <a:bodyPr/>
          <a:lstStyle/>
          <a:p>
            <a:pPr>
              <a:tabLst>
                <a:tab pos="2395538" algn="l"/>
                <a:tab pos="2857500" algn="l"/>
                <a:tab pos="3549650" algn="l"/>
                <a:tab pos="3997325" algn="l"/>
              </a:tabLst>
            </a:pPr>
            <a:r>
              <a:rPr lang="en-US" altLang="en-US" b="1" dirty="0">
                <a:solidFill>
                  <a:srgbClr val="000099"/>
                </a:solidFill>
              </a:rPr>
              <a:t>Recoverable</a:t>
            </a:r>
            <a:r>
              <a:rPr lang="en-US" altLang="en-US" b="1" i="1" dirty="0">
                <a:solidFill>
                  <a:srgbClr val="000099"/>
                </a:solidFill>
              </a:rPr>
              <a:t> </a:t>
            </a:r>
            <a:r>
              <a:rPr lang="en-US" altLang="en-US" b="1" dirty="0">
                <a:solidFill>
                  <a:srgbClr val="000099"/>
                </a:solidFill>
              </a:rPr>
              <a:t>schedule</a:t>
            </a:r>
            <a:r>
              <a:rPr lang="en-US" altLang="en-US" dirty="0"/>
              <a:t> — if a transaction </a:t>
            </a:r>
            <a:r>
              <a:rPr lang="en-US" altLang="en-US" i="1" dirty="0"/>
              <a:t>T</a:t>
            </a:r>
            <a:r>
              <a:rPr lang="en-US" altLang="en-US" i="1" baseline="-25000" dirty="0"/>
              <a:t>j</a:t>
            </a:r>
            <a:r>
              <a:rPr lang="en-US" altLang="en-US" dirty="0"/>
              <a:t> reads a data item previously written by a transaction </a:t>
            </a:r>
            <a:r>
              <a:rPr lang="en-US" altLang="en-US" i="1" dirty="0"/>
              <a:t>T</a:t>
            </a:r>
            <a:r>
              <a:rPr lang="en-US" altLang="en-US" i="1" baseline="-25000" dirty="0"/>
              <a:t>i </a:t>
            </a:r>
            <a:r>
              <a:rPr lang="en-US" altLang="en-US" dirty="0"/>
              <a:t>, then the commit operation of </a:t>
            </a:r>
            <a:r>
              <a:rPr lang="en-US" altLang="en-US" i="1" dirty="0"/>
              <a:t>T</a:t>
            </a:r>
            <a:r>
              <a:rPr lang="en-US" altLang="en-US" i="1" baseline="-25000" dirty="0"/>
              <a:t>i</a:t>
            </a:r>
            <a:r>
              <a:rPr lang="en-US" altLang="en-US" i="1" dirty="0"/>
              <a:t> </a:t>
            </a:r>
            <a:r>
              <a:rPr lang="en-US" altLang="en-US" dirty="0"/>
              <a:t> appears before the commit operation of </a:t>
            </a:r>
            <a:r>
              <a:rPr lang="en-US" altLang="en-US" i="1" dirty="0"/>
              <a:t>T</a:t>
            </a:r>
            <a:r>
              <a:rPr lang="en-US" altLang="en-US" i="1" baseline="-25000" dirty="0"/>
              <a:t>j</a:t>
            </a:r>
            <a:r>
              <a:rPr lang="en-US" altLang="en-US" i="1" dirty="0"/>
              <a:t>.</a:t>
            </a:r>
            <a:endParaRPr lang="en-US" altLang="en-US" dirty="0"/>
          </a:p>
          <a:p>
            <a:pPr>
              <a:tabLst>
                <a:tab pos="2395538" algn="l"/>
                <a:tab pos="2857500" algn="l"/>
                <a:tab pos="3549650" algn="l"/>
                <a:tab pos="3997325" algn="l"/>
              </a:tabLst>
            </a:pPr>
            <a:r>
              <a:rPr lang="en-US" altLang="en-US" dirty="0"/>
              <a:t>The following schedule (Schedule 11) is not recoverable</a:t>
            </a:r>
            <a:br>
              <a:rPr lang="en-US" altLang="en-US" dirty="0"/>
            </a:br>
            <a:r>
              <a:rPr lang="en-US" altLang="en-US" dirty="0"/>
              <a:t>		</a:t>
            </a:r>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r>
              <a:rPr lang="en-US" altLang="en-US" dirty="0"/>
              <a:t>If </a:t>
            </a:r>
            <a:r>
              <a:rPr lang="en-US" altLang="en-US" i="1" dirty="0"/>
              <a:t>T</a:t>
            </a:r>
            <a:r>
              <a:rPr lang="en-US" altLang="en-US" baseline="-25000" dirty="0"/>
              <a:t>8</a:t>
            </a:r>
            <a:r>
              <a:rPr lang="en-US" altLang="en-US" sz="1600" dirty="0"/>
              <a:t> </a:t>
            </a:r>
            <a:r>
              <a:rPr lang="en-US" altLang="en-US" dirty="0"/>
              <a:t>should abort, </a:t>
            </a:r>
            <a:r>
              <a:rPr lang="en-US" altLang="en-US" i="1" dirty="0"/>
              <a:t>T</a:t>
            </a:r>
            <a:r>
              <a:rPr lang="en-US" altLang="en-US" baseline="-25000" dirty="0"/>
              <a:t>9</a:t>
            </a:r>
            <a:r>
              <a:rPr lang="en-US" altLang="en-US" dirty="0"/>
              <a:t> would have read (and possibly shown to the user) an inconsistent database state.  Hence, database must ensure that schedules are recoverable.</a:t>
            </a:r>
          </a:p>
          <a:p>
            <a:r>
              <a:rPr lang="en-US" dirty="0">
                <a:highlight>
                  <a:srgbClr val="FFFF00"/>
                </a:highlight>
              </a:rPr>
              <a:t>If T2 reads value written by T1 → T1 must commit before T2 commits</a:t>
            </a:r>
          </a:p>
          <a:p>
            <a:r>
              <a:rPr lang="en-US" dirty="0">
                <a:highlight>
                  <a:srgbClr val="FFFF00"/>
                </a:highlight>
              </a:rPr>
              <a:t>Otherwise → inconsistency</a:t>
            </a:r>
          </a:p>
          <a:p>
            <a:pPr>
              <a:tabLst>
                <a:tab pos="2395538" algn="l"/>
                <a:tab pos="2857500" algn="l"/>
                <a:tab pos="3549650" algn="l"/>
                <a:tab pos="3997325" algn="l"/>
              </a:tabLst>
            </a:pPr>
            <a:endParaRPr lang="en-US" altLang="en-US" dirty="0"/>
          </a:p>
        </p:txBody>
      </p:sp>
      <p:sp>
        <p:nvSpPr>
          <p:cNvPr id="31748" name="Text Box 6"/>
          <p:cNvSpPr txBox="1">
            <a:spLocks noChangeArrowheads="1"/>
          </p:cNvSpPr>
          <p:nvPr/>
        </p:nvSpPr>
        <p:spPr bwMode="auto">
          <a:xfrm>
            <a:off x="701336" y="1071347"/>
            <a:ext cx="768806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700" dirty="0"/>
              <a:t>Need to address the effect of transaction failures on concurrently </a:t>
            </a:r>
            <a:br>
              <a:rPr lang="en-US" altLang="en-US" sz="1700" dirty="0"/>
            </a:br>
            <a:r>
              <a:rPr lang="en-US" altLang="en-US" sz="1700" dirty="0"/>
              <a:t>running transactions.</a:t>
            </a:r>
          </a:p>
        </p:txBody>
      </p:sp>
      <p:pic>
        <p:nvPicPr>
          <p:cNvPr id="3174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7814" y="2971608"/>
            <a:ext cx="2913063"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0659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Cascading Rollbacks</a:t>
            </a:r>
          </a:p>
        </p:txBody>
      </p:sp>
      <p:sp>
        <p:nvSpPr>
          <p:cNvPr id="32771" name="Rectangle 3"/>
          <p:cNvSpPr>
            <a:spLocks noGrp="1" noChangeArrowheads="1"/>
          </p:cNvSpPr>
          <p:nvPr>
            <p:ph idx="1"/>
          </p:nvPr>
        </p:nvSpPr>
        <p:spPr>
          <a:xfrm>
            <a:off x="674703" y="1102497"/>
            <a:ext cx="7776840" cy="5367972"/>
          </a:xfrm>
        </p:spPr>
        <p:txBody>
          <a:bodyPr/>
          <a:lstStyle/>
          <a:p>
            <a:pPr>
              <a:tabLst>
                <a:tab pos="1658938" algn="l"/>
                <a:tab pos="2120900" algn="l"/>
                <a:tab pos="2684463" algn="l"/>
                <a:tab pos="3030538" algn="l"/>
                <a:tab pos="3767138" algn="l"/>
                <a:tab pos="4056063" algn="l"/>
              </a:tabLst>
            </a:pPr>
            <a:r>
              <a:rPr lang="en-US" altLang="en-US" b="1" dirty="0">
                <a:solidFill>
                  <a:srgbClr val="000099"/>
                </a:solidFill>
              </a:rPr>
              <a:t>Cascading rollback</a:t>
            </a:r>
            <a:r>
              <a:rPr lang="en-US" altLang="en-US" dirty="0"/>
              <a:t> – </a:t>
            </a:r>
            <a:r>
              <a:rPr lang="en-US" altLang="en-US" dirty="0">
                <a:highlight>
                  <a:srgbClr val="FFFF00"/>
                </a:highlight>
              </a:rPr>
              <a:t>a single transaction failure leads to a series of transaction rollbacks</a:t>
            </a:r>
            <a:r>
              <a:rPr lang="en-US" altLang="en-US" dirty="0"/>
              <a:t>.  Consider the following schedule where none of the transactions has yet committed (so the schedule is recoverable)</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r>
              <a:rPr lang="en-US" altLang="en-US" dirty="0"/>
              <a:t>If </a:t>
            </a:r>
            <a:r>
              <a:rPr lang="en-US" altLang="en-US" i="1" dirty="0"/>
              <a:t>T</a:t>
            </a:r>
            <a:r>
              <a:rPr lang="en-US" altLang="en-US" baseline="-25000" dirty="0"/>
              <a:t>10</a:t>
            </a:r>
            <a:r>
              <a:rPr lang="en-US" altLang="en-US" dirty="0"/>
              <a:t> fails, </a:t>
            </a:r>
            <a:r>
              <a:rPr lang="en-US" altLang="en-US" i="1" dirty="0"/>
              <a:t>T</a:t>
            </a:r>
            <a:r>
              <a:rPr lang="en-US" altLang="en-US" baseline="-25000" dirty="0"/>
              <a:t>11</a:t>
            </a:r>
            <a:r>
              <a:rPr lang="en-US" altLang="en-US" dirty="0"/>
              <a:t> and </a:t>
            </a:r>
            <a:r>
              <a:rPr lang="en-US" altLang="en-US" i="1" dirty="0"/>
              <a:t>T</a:t>
            </a:r>
            <a:r>
              <a:rPr lang="en-US" altLang="en-US" baseline="-25000" dirty="0"/>
              <a:t>12</a:t>
            </a:r>
            <a:r>
              <a:rPr lang="en-US" altLang="en-US" dirty="0"/>
              <a:t> must also be rolled back.</a:t>
            </a:r>
          </a:p>
          <a:p>
            <a:pPr>
              <a:tabLst>
                <a:tab pos="1658938" algn="l"/>
                <a:tab pos="2120900" algn="l"/>
                <a:tab pos="2684463" algn="l"/>
                <a:tab pos="3030538" algn="l"/>
                <a:tab pos="3767138" algn="l"/>
                <a:tab pos="4056063" algn="l"/>
              </a:tabLst>
            </a:pPr>
            <a:r>
              <a:rPr lang="en-US" altLang="en-US" dirty="0"/>
              <a:t>Can lead to the undoing of a significant amount of work</a:t>
            </a:r>
          </a:p>
          <a:p>
            <a:pPr>
              <a:tabLst>
                <a:tab pos="1658938" algn="l"/>
                <a:tab pos="2120900" algn="l"/>
                <a:tab pos="2684463" algn="l"/>
                <a:tab pos="3030538" algn="l"/>
                <a:tab pos="3767138" algn="l"/>
                <a:tab pos="4056063" algn="l"/>
              </a:tabLst>
            </a:pPr>
            <a:r>
              <a:rPr lang="en-US" dirty="0">
                <a:highlight>
                  <a:srgbClr val="FFFF00"/>
                </a:highlight>
              </a:rPr>
              <a:t>If T1 fails → T2 &amp; T3 also rollback because they read uncommitted data</a:t>
            </a:r>
            <a:endParaRPr lang="en-US" altLang="en-US" dirty="0">
              <a:highlight>
                <a:srgbClr val="FFFF00"/>
              </a:highlight>
            </a:endParaRPr>
          </a:p>
        </p:txBody>
      </p:sp>
      <p:pic>
        <p:nvPicPr>
          <p:cNvPr id="3277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5647" y="2122396"/>
            <a:ext cx="3429000"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4808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Cascadeless Schedules</a:t>
            </a:r>
          </a:p>
        </p:txBody>
      </p:sp>
      <p:sp>
        <p:nvSpPr>
          <p:cNvPr id="33795" name="Rectangle 3"/>
          <p:cNvSpPr>
            <a:spLocks noGrp="1" noChangeArrowheads="1"/>
          </p:cNvSpPr>
          <p:nvPr>
            <p:ph idx="1"/>
          </p:nvPr>
        </p:nvSpPr>
        <p:spPr>
          <a:xfrm>
            <a:off x="692458" y="1102497"/>
            <a:ext cx="7776839" cy="5367972"/>
          </a:xfrm>
        </p:spPr>
        <p:txBody>
          <a:bodyPr/>
          <a:lstStyle/>
          <a:p>
            <a:r>
              <a:rPr lang="en-US" altLang="en-US" b="1" dirty="0">
                <a:solidFill>
                  <a:srgbClr val="000099"/>
                </a:solidFill>
              </a:rPr>
              <a:t>Cascadeless</a:t>
            </a:r>
            <a:r>
              <a:rPr lang="en-US" altLang="en-US" b="1" i="1" dirty="0">
                <a:solidFill>
                  <a:srgbClr val="000099"/>
                </a:solidFill>
              </a:rPr>
              <a:t> </a:t>
            </a:r>
            <a:r>
              <a:rPr lang="en-US" altLang="en-US" b="1" dirty="0">
                <a:solidFill>
                  <a:srgbClr val="000099"/>
                </a:solidFill>
              </a:rPr>
              <a:t>schedules</a:t>
            </a:r>
            <a:r>
              <a:rPr lang="en-US" altLang="en-US" dirty="0"/>
              <a:t> — </a:t>
            </a:r>
            <a:r>
              <a:rPr lang="en-US" altLang="en-US" dirty="0">
                <a:highlight>
                  <a:srgbClr val="FFFF00"/>
                </a:highlight>
              </a:rPr>
              <a:t>cascading rollbacks cannot occur;</a:t>
            </a:r>
          </a:p>
          <a:p>
            <a:pPr lvl="1"/>
            <a:r>
              <a:rPr lang="en-US" altLang="en-US" dirty="0"/>
              <a:t>For each pair of transactions </a:t>
            </a:r>
            <a:r>
              <a:rPr lang="en-US" altLang="en-US" i="1" dirty="0"/>
              <a:t>T</a:t>
            </a:r>
            <a:r>
              <a:rPr lang="en-US" altLang="en-US" i="1" baseline="-25000" dirty="0"/>
              <a:t>i</a:t>
            </a:r>
            <a:r>
              <a:rPr lang="en-US" altLang="en-US" i="1" dirty="0"/>
              <a:t> </a:t>
            </a:r>
            <a:r>
              <a:rPr lang="en-US" altLang="en-US" dirty="0"/>
              <a:t>and </a:t>
            </a:r>
            <a:r>
              <a:rPr lang="en-US" altLang="en-US" i="1" dirty="0"/>
              <a:t>T</a:t>
            </a:r>
            <a:r>
              <a:rPr lang="en-US" altLang="en-US" i="1" baseline="-25000" dirty="0"/>
              <a:t>j</a:t>
            </a:r>
            <a:r>
              <a:rPr lang="en-US" altLang="en-US" dirty="0"/>
              <a:t> such that </a:t>
            </a:r>
            <a:r>
              <a:rPr lang="en-US" altLang="en-US" i="1" dirty="0"/>
              <a:t>T</a:t>
            </a:r>
            <a:r>
              <a:rPr lang="en-US" altLang="en-US" i="1" baseline="-25000" dirty="0"/>
              <a:t>j</a:t>
            </a:r>
            <a:r>
              <a:rPr lang="en-US" altLang="en-US" dirty="0"/>
              <a:t>  reads a data item previously written by </a:t>
            </a:r>
            <a:r>
              <a:rPr lang="en-US" altLang="en-US" i="1" dirty="0"/>
              <a:t>T</a:t>
            </a:r>
            <a:r>
              <a:rPr lang="en-US" altLang="en-US" i="1" baseline="-25000" dirty="0"/>
              <a:t>i</a:t>
            </a:r>
            <a:r>
              <a:rPr lang="en-US" altLang="en-US" dirty="0"/>
              <a:t>, the commit operation of </a:t>
            </a:r>
            <a:r>
              <a:rPr lang="en-US" altLang="en-US" i="1" dirty="0"/>
              <a:t>T</a:t>
            </a:r>
            <a:r>
              <a:rPr lang="en-US" altLang="en-US" i="1" baseline="-25000" dirty="0"/>
              <a:t>i</a:t>
            </a:r>
            <a:r>
              <a:rPr lang="en-US" altLang="en-US" i="1" dirty="0"/>
              <a:t> </a:t>
            </a:r>
            <a:r>
              <a:rPr lang="en-US" altLang="en-US" dirty="0"/>
              <a:t> appears before the read operation of </a:t>
            </a:r>
            <a:r>
              <a:rPr lang="en-US" altLang="en-US" i="1" dirty="0"/>
              <a:t>T</a:t>
            </a:r>
            <a:r>
              <a:rPr lang="en-US" altLang="en-US" i="1" baseline="-25000" dirty="0"/>
              <a:t>j</a:t>
            </a:r>
            <a:r>
              <a:rPr lang="en-US" altLang="en-US" dirty="0"/>
              <a:t>.</a:t>
            </a:r>
          </a:p>
          <a:p>
            <a:r>
              <a:rPr lang="en-US" altLang="en-US" dirty="0">
                <a:highlight>
                  <a:srgbClr val="FFFF00"/>
                </a:highlight>
              </a:rPr>
              <a:t>Every Cascadeless schedule is also recoverable</a:t>
            </a:r>
          </a:p>
          <a:p>
            <a:r>
              <a:rPr lang="en-US" altLang="en-US" dirty="0"/>
              <a:t>It is desirable to restrict the schedules to those that are </a:t>
            </a:r>
            <a:r>
              <a:rPr lang="en-US" altLang="en-US" dirty="0" err="1"/>
              <a:t>cascadeless</a:t>
            </a:r>
            <a:endParaRPr lang="en-US" altLang="en-US" dirty="0"/>
          </a:p>
          <a:p>
            <a:r>
              <a:rPr lang="en-US" dirty="0">
                <a:highlight>
                  <a:srgbClr val="FFFF00"/>
                </a:highlight>
              </a:rPr>
              <a:t>A transaction </a:t>
            </a:r>
            <a:r>
              <a:rPr lang="en-US" b="1" dirty="0">
                <a:highlight>
                  <a:srgbClr val="FFFF00"/>
                </a:highlight>
              </a:rPr>
              <a:t>only reads committed values</a:t>
            </a:r>
            <a:r>
              <a:rPr lang="en-US" dirty="0">
                <a:highlight>
                  <a:srgbClr val="FFFF00"/>
                </a:highlight>
              </a:rPr>
              <a:t> → No cascading rollback</a:t>
            </a:r>
            <a:endParaRPr lang="en-US" altLang="en-US" dirty="0">
              <a:highlight>
                <a:srgbClr val="FFFF00"/>
              </a:highlight>
            </a:endParaRPr>
          </a:p>
        </p:txBody>
      </p:sp>
    </p:spTree>
    <p:extLst>
      <p:ext uri="{BB962C8B-B14F-4D97-AF65-F5344CB8AC3E}">
        <p14:creationId xmlns:p14="http://schemas.microsoft.com/office/powerpoint/2010/main" val="1000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413C5-3453-0076-C1A8-F7872CB37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824F2-1085-0943-11FD-E8D803B12FB4}"/>
              </a:ext>
            </a:extLst>
          </p:cNvPr>
          <p:cNvSpPr>
            <a:spLocks noGrp="1"/>
          </p:cNvSpPr>
          <p:nvPr>
            <p:ph type="title"/>
          </p:nvPr>
        </p:nvSpPr>
        <p:spPr/>
        <p:txBody>
          <a:bodyPr/>
          <a:lstStyle/>
          <a:p>
            <a:r>
              <a:rPr lang="en-IN" dirty="0"/>
              <a:t>IRRECOVERABLE SCHEDULE</a:t>
            </a:r>
          </a:p>
        </p:txBody>
      </p:sp>
      <p:sp>
        <p:nvSpPr>
          <p:cNvPr id="3" name="Content Placeholder 2">
            <a:extLst>
              <a:ext uri="{FF2B5EF4-FFF2-40B4-BE49-F238E27FC236}">
                <a16:creationId xmlns:a16="http://schemas.microsoft.com/office/drawing/2014/main" id="{B369E547-CCC7-1618-6691-3473A993C51F}"/>
              </a:ext>
            </a:extLst>
          </p:cNvPr>
          <p:cNvSpPr>
            <a:spLocks noGrp="1"/>
          </p:cNvSpPr>
          <p:nvPr>
            <p:ph idx="1"/>
          </p:nvPr>
        </p:nvSpPr>
        <p:spPr/>
        <p:txBody>
          <a:bodyPr/>
          <a:lstStyle/>
          <a:p>
            <a:r>
              <a:rPr lang="en-IN" dirty="0"/>
              <a:t>CHANGES DONE T2 IS NOT REFLECTED SO SUCH SCHEDULE IS ALSO CALLED AS IRRECOVERABLE SCHEDULE</a:t>
            </a:r>
          </a:p>
        </p:txBody>
      </p:sp>
      <p:graphicFrame>
        <p:nvGraphicFramePr>
          <p:cNvPr id="7" name="Table 6">
            <a:extLst>
              <a:ext uri="{FF2B5EF4-FFF2-40B4-BE49-F238E27FC236}">
                <a16:creationId xmlns:a16="http://schemas.microsoft.com/office/drawing/2014/main" id="{5D53548F-62FE-37EC-6FD3-8AB9EE99ADB5}"/>
              </a:ext>
            </a:extLst>
          </p:cNvPr>
          <p:cNvGraphicFramePr>
            <a:graphicFrameLocks noGrp="1"/>
          </p:cNvGraphicFramePr>
          <p:nvPr>
            <p:extLst>
              <p:ext uri="{D42A27DB-BD31-4B8C-83A1-F6EECF244321}">
                <p14:modId xmlns:p14="http://schemas.microsoft.com/office/powerpoint/2010/main" val="3915721260"/>
              </p:ext>
            </p:extLst>
          </p:nvPr>
        </p:nvGraphicFramePr>
        <p:xfrm>
          <a:off x="3739382" y="1910080"/>
          <a:ext cx="2831448" cy="4947920"/>
        </p:xfrm>
        <a:graphic>
          <a:graphicData uri="http://schemas.openxmlformats.org/drawingml/2006/table">
            <a:tbl>
              <a:tblPr firstRow="1" bandRow="1">
                <a:tableStyleId>{5C22544A-7EE6-4342-B048-85BDC9FD1C3A}</a:tableStyleId>
              </a:tblPr>
              <a:tblGrid>
                <a:gridCol w="1415724">
                  <a:extLst>
                    <a:ext uri="{9D8B030D-6E8A-4147-A177-3AD203B41FA5}">
                      <a16:colId xmlns:a16="http://schemas.microsoft.com/office/drawing/2014/main" val="1544014186"/>
                    </a:ext>
                  </a:extLst>
                </a:gridCol>
                <a:gridCol w="1415724">
                  <a:extLst>
                    <a:ext uri="{9D8B030D-6E8A-4147-A177-3AD203B41FA5}">
                      <a16:colId xmlns:a16="http://schemas.microsoft.com/office/drawing/2014/main" val="3105984420"/>
                    </a:ext>
                  </a:extLst>
                </a:gridCol>
              </a:tblGrid>
              <a:tr h="370840">
                <a:tc>
                  <a:txBody>
                    <a:bodyPr/>
                    <a:lstStyle/>
                    <a:p>
                      <a:r>
                        <a:rPr lang="en-IN" dirty="0">
                          <a:solidFill>
                            <a:schemeClr val="tx1"/>
                          </a:solidFill>
                        </a:rPr>
                        <a:t>R(A)(100)</a:t>
                      </a:r>
                    </a:p>
                  </a:txBody>
                  <a:tcPr/>
                </a:tc>
                <a:tc>
                  <a:txBody>
                    <a:bodyPr/>
                    <a:lstStyle/>
                    <a:p>
                      <a:endParaRPr lang="en-IN"/>
                    </a:p>
                  </a:txBody>
                  <a:tcPr/>
                </a:tc>
                <a:extLst>
                  <a:ext uri="{0D108BD9-81ED-4DB2-BD59-A6C34878D82A}">
                    <a16:rowId xmlns:a16="http://schemas.microsoft.com/office/drawing/2014/main" val="2490380950"/>
                  </a:ext>
                </a:extLst>
              </a:tr>
              <a:tr h="370840">
                <a:tc>
                  <a:txBody>
                    <a:bodyPr/>
                    <a:lstStyle/>
                    <a:p>
                      <a:r>
                        <a:rPr lang="en-IN" dirty="0"/>
                        <a:t>W(A)=100-50</a:t>
                      </a:r>
                    </a:p>
                  </a:txBody>
                  <a:tcPr/>
                </a:tc>
                <a:tc>
                  <a:txBody>
                    <a:bodyPr/>
                    <a:lstStyle/>
                    <a:p>
                      <a:endParaRPr lang="en-IN"/>
                    </a:p>
                  </a:txBody>
                  <a:tcPr/>
                </a:tc>
                <a:extLst>
                  <a:ext uri="{0D108BD9-81ED-4DB2-BD59-A6C34878D82A}">
                    <a16:rowId xmlns:a16="http://schemas.microsoft.com/office/drawing/2014/main" val="2753741242"/>
                  </a:ext>
                </a:extLst>
              </a:tr>
              <a:tr h="370840">
                <a:tc>
                  <a:txBody>
                    <a:bodyPr/>
                    <a:lstStyle/>
                    <a:p>
                      <a:endParaRPr lang="en-IN" dirty="0"/>
                    </a:p>
                  </a:txBody>
                  <a:tcPr/>
                </a:tc>
                <a:tc>
                  <a:txBody>
                    <a:bodyPr/>
                    <a:lstStyle/>
                    <a:p>
                      <a:r>
                        <a:rPr lang="en-IN" dirty="0"/>
                        <a:t>R(A)</a:t>
                      </a:r>
                    </a:p>
                  </a:txBody>
                  <a:tcPr/>
                </a:tc>
                <a:extLst>
                  <a:ext uri="{0D108BD9-81ED-4DB2-BD59-A6C34878D82A}">
                    <a16:rowId xmlns:a16="http://schemas.microsoft.com/office/drawing/2014/main" val="2200300158"/>
                  </a:ext>
                </a:extLst>
              </a:tr>
              <a:tr h="370840">
                <a:tc>
                  <a:txBody>
                    <a:bodyPr/>
                    <a:lstStyle/>
                    <a:p>
                      <a:endParaRPr lang="en-IN" dirty="0"/>
                    </a:p>
                  </a:txBody>
                  <a:tcPr/>
                </a:tc>
                <a:tc>
                  <a:txBody>
                    <a:bodyPr/>
                    <a:lstStyle/>
                    <a:p>
                      <a:r>
                        <a:rPr lang="en-IN" dirty="0"/>
                        <a:t>W(A)=50-20</a:t>
                      </a:r>
                    </a:p>
                  </a:txBody>
                  <a:tcPr/>
                </a:tc>
                <a:extLst>
                  <a:ext uri="{0D108BD9-81ED-4DB2-BD59-A6C34878D82A}">
                    <a16:rowId xmlns:a16="http://schemas.microsoft.com/office/drawing/2014/main" val="1514984821"/>
                  </a:ext>
                </a:extLst>
              </a:tr>
              <a:tr h="0">
                <a:tc>
                  <a:txBody>
                    <a:bodyPr/>
                    <a:lstStyle/>
                    <a:p>
                      <a:endParaRPr lang="en-IN"/>
                    </a:p>
                  </a:txBody>
                  <a:tcPr/>
                </a:tc>
                <a:tc>
                  <a:txBody>
                    <a:bodyPr/>
                    <a:lstStyle/>
                    <a:p>
                      <a:r>
                        <a:rPr lang="en-IN" dirty="0"/>
                        <a:t>COMMIT(A=30</a:t>
                      </a:r>
                    </a:p>
                  </a:txBody>
                  <a:tcPr/>
                </a:tc>
                <a:extLst>
                  <a:ext uri="{0D108BD9-81ED-4DB2-BD59-A6C34878D82A}">
                    <a16:rowId xmlns:a16="http://schemas.microsoft.com/office/drawing/2014/main" val="2318165882"/>
                  </a:ext>
                </a:extLst>
              </a:tr>
              <a:tr h="370840">
                <a:tc>
                  <a:txBody>
                    <a:bodyPr/>
                    <a:lstStyle/>
                    <a:p>
                      <a:r>
                        <a:rPr lang="en-IN" dirty="0"/>
                        <a:t>FAILURE-</a:t>
                      </a:r>
                    </a:p>
                    <a:p>
                      <a:r>
                        <a:rPr lang="en-IN" dirty="0"/>
                        <a:t>ROOLBACK</a:t>
                      </a:r>
                    </a:p>
                    <a:p>
                      <a:r>
                        <a:rPr lang="en-IN" dirty="0"/>
                        <a:t>SO AGAIN A VALUE WILL BECOME 100</a:t>
                      </a:r>
                    </a:p>
                  </a:txBody>
                  <a:tcPr/>
                </a:tc>
                <a:tc>
                  <a:txBody>
                    <a:bodyPr/>
                    <a:lstStyle/>
                    <a:p>
                      <a:endParaRPr lang="en-IN" dirty="0"/>
                    </a:p>
                  </a:txBody>
                  <a:tcPr/>
                </a:tc>
                <a:extLst>
                  <a:ext uri="{0D108BD9-81ED-4DB2-BD59-A6C34878D82A}">
                    <a16:rowId xmlns:a16="http://schemas.microsoft.com/office/drawing/2014/main" val="1894759937"/>
                  </a:ext>
                </a:extLst>
              </a:tr>
            </a:tbl>
          </a:graphicData>
        </a:graphic>
      </p:graphicFrame>
      <p:sp>
        <p:nvSpPr>
          <p:cNvPr id="4" name="TextBox 3">
            <a:extLst>
              <a:ext uri="{FF2B5EF4-FFF2-40B4-BE49-F238E27FC236}">
                <a16:creationId xmlns:a16="http://schemas.microsoft.com/office/drawing/2014/main" id="{E85F8F0D-B119-05C7-386F-9061B7BD0001}"/>
              </a:ext>
            </a:extLst>
          </p:cNvPr>
          <p:cNvSpPr txBox="1"/>
          <p:nvPr/>
        </p:nvSpPr>
        <p:spPr>
          <a:xfrm>
            <a:off x="4049485" y="1571526"/>
            <a:ext cx="522515" cy="338554"/>
          </a:xfrm>
          <a:prstGeom prst="rect">
            <a:avLst/>
          </a:prstGeom>
          <a:noFill/>
        </p:spPr>
        <p:txBody>
          <a:bodyPr wrap="square" rtlCol="0">
            <a:spAutoFit/>
          </a:bodyPr>
          <a:lstStyle/>
          <a:p>
            <a:r>
              <a:rPr lang="en-IN" dirty="0"/>
              <a:t>T1</a:t>
            </a:r>
          </a:p>
        </p:txBody>
      </p:sp>
      <p:sp>
        <p:nvSpPr>
          <p:cNvPr id="8" name="TextBox 7">
            <a:extLst>
              <a:ext uri="{FF2B5EF4-FFF2-40B4-BE49-F238E27FC236}">
                <a16:creationId xmlns:a16="http://schemas.microsoft.com/office/drawing/2014/main" id="{229A6E4C-8AB4-E5DE-D21D-900EEF31FBAA}"/>
              </a:ext>
            </a:extLst>
          </p:cNvPr>
          <p:cNvSpPr txBox="1"/>
          <p:nvPr/>
        </p:nvSpPr>
        <p:spPr>
          <a:xfrm>
            <a:off x="5558143" y="1612738"/>
            <a:ext cx="620485" cy="338554"/>
          </a:xfrm>
          <a:prstGeom prst="rect">
            <a:avLst/>
          </a:prstGeom>
          <a:noFill/>
        </p:spPr>
        <p:txBody>
          <a:bodyPr wrap="square" rtlCol="0">
            <a:spAutoFit/>
          </a:bodyPr>
          <a:lstStyle/>
          <a:p>
            <a:r>
              <a:rPr lang="en-IN" dirty="0"/>
              <a:t>T2</a:t>
            </a:r>
          </a:p>
        </p:txBody>
      </p:sp>
    </p:spTree>
    <p:extLst>
      <p:ext uri="{BB962C8B-B14F-4D97-AF65-F5344CB8AC3E}">
        <p14:creationId xmlns:p14="http://schemas.microsoft.com/office/powerpoint/2010/main" val="16861906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CC929-F1AB-0B02-53E4-8047AC53C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68A6C-95C5-2B53-AC2F-982FAF8312F2}"/>
              </a:ext>
            </a:extLst>
          </p:cNvPr>
          <p:cNvSpPr>
            <a:spLocks noGrp="1"/>
          </p:cNvSpPr>
          <p:nvPr>
            <p:ph type="title"/>
          </p:nvPr>
        </p:nvSpPr>
        <p:spPr/>
        <p:txBody>
          <a:bodyPr/>
          <a:lstStyle/>
          <a:p>
            <a:r>
              <a:rPr lang="en-IN" dirty="0"/>
              <a:t>CASCADDING &amp; CASCADELESS  SCHEDULE</a:t>
            </a:r>
          </a:p>
        </p:txBody>
      </p:sp>
      <p:sp>
        <p:nvSpPr>
          <p:cNvPr id="3" name="Content Placeholder 2">
            <a:extLst>
              <a:ext uri="{FF2B5EF4-FFF2-40B4-BE49-F238E27FC236}">
                <a16:creationId xmlns:a16="http://schemas.microsoft.com/office/drawing/2014/main" id="{045CC48B-AB54-55B9-622A-FD197764695D}"/>
              </a:ext>
            </a:extLst>
          </p:cNvPr>
          <p:cNvSpPr>
            <a:spLocks noGrp="1"/>
          </p:cNvSpPr>
          <p:nvPr>
            <p:ph idx="1"/>
          </p:nvPr>
        </p:nvSpPr>
        <p:spPr/>
        <p:txBody>
          <a:bodyPr/>
          <a:lstStyle/>
          <a:p>
            <a:r>
              <a:rPr lang="en-IN" dirty="0"/>
              <a:t>IF T1 FAILS, WE NEED TO ROLLBACK T1, AND ALSO T2 AND T3 ALSO OTHERWISE T2 AND T3 WILL BE WORKING ON WRONG VALUE OF A. SO SUCH SCHEDULE ARE CALLED CASCADDING SCHEDULE.</a:t>
            </a:r>
          </a:p>
        </p:txBody>
      </p:sp>
      <p:sp>
        <p:nvSpPr>
          <p:cNvPr id="4" name="TextBox 3">
            <a:extLst>
              <a:ext uri="{FF2B5EF4-FFF2-40B4-BE49-F238E27FC236}">
                <a16:creationId xmlns:a16="http://schemas.microsoft.com/office/drawing/2014/main" id="{13147AD0-5E29-3B47-3C29-CC573DE6389C}"/>
              </a:ext>
            </a:extLst>
          </p:cNvPr>
          <p:cNvSpPr txBox="1"/>
          <p:nvPr/>
        </p:nvSpPr>
        <p:spPr>
          <a:xfrm>
            <a:off x="1702163" y="3009278"/>
            <a:ext cx="522515" cy="338554"/>
          </a:xfrm>
          <a:prstGeom prst="rect">
            <a:avLst/>
          </a:prstGeom>
          <a:noFill/>
        </p:spPr>
        <p:txBody>
          <a:bodyPr wrap="square" rtlCol="0">
            <a:spAutoFit/>
          </a:bodyPr>
          <a:lstStyle/>
          <a:p>
            <a:r>
              <a:rPr lang="en-IN" dirty="0"/>
              <a:t>T1</a:t>
            </a:r>
          </a:p>
        </p:txBody>
      </p:sp>
      <p:sp>
        <p:nvSpPr>
          <p:cNvPr id="8" name="TextBox 7">
            <a:extLst>
              <a:ext uri="{FF2B5EF4-FFF2-40B4-BE49-F238E27FC236}">
                <a16:creationId xmlns:a16="http://schemas.microsoft.com/office/drawing/2014/main" id="{F8EA703A-4DF2-864C-D4D4-8198605E6BA3}"/>
              </a:ext>
            </a:extLst>
          </p:cNvPr>
          <p:cNvSpPr txBox="1"/>
          <p:nvPr/>
        </p:nvSpPr>
        <p:spPr>
          <a:xfrm>
            <a:off x="3773352" y="2938270"/>
            <a:ext cx="620485" cy="338554"/>
          </a:xfrm>
          <a:prstGeom prst="rect">
            <a:avLst/>
          </a:prstGeom>
          <a:noFill/>
        </p:spPr>
        <p:txBody>
          <a:bodyPr wrap="square" rtlCol="0">
            <a:spAutoFit/>
          </a:bodyPr>
          <a:lstStyle/>
          <a:p>
            <a:r>
              <a:rPr lang="en-IN" dirty="0"/>
              <a:t>T2</a:t>
            </a:r>
          </a:p>
        </p:txBody>
      </p:sp>
      <p:sp>
        <p:nvSpPr>
          <p:cNvPr id="5" name="TextBox 4">
            <a:extLst>
              <a:ext uri="{FF2B5EF4-FFF2-40B4-BE49-F238E27FC236}">
                <a16:creationId xmlns:a16="http://schemas.microsoft.com/office/drawing/2014/main" id="{4FFC5953-0312-94A0-1B47-8E9FFCA27C23}"/>
              </a:ext>
            </a:extLst>
          </p:cNvPr>
          <p:cNvSpPr txBox="1"/>
          <p:nvPr/>
        </p:nvSpPr>
        <p:spPr>
          <a:xfrm>
            <a:off x="5999208" y="2990844"/>
            <a:ext cx="620485" cy="338554"/>
          </a:xfrm>
          <a:prstGeom prst="rect">
            <a:avLst/>
          </a:prstGeom>
          <a:noFill/>
        </p:spPr>
        <p:txBody>
          <a:bodyPr wrap="square" rtlCol="0">
            <a:spAutoFit/>
          </a:bodyPr>
          <a:lstStyle/>
          <a:p>
            <a:r>
              <a:rPr lang="en-IN" dirty="0"/>
              <a:t>T3</a:t>
            </a:r>
          </a:p>
        </p:txBody>
      </p:sp>
      <p:graphicFrame>
        <p:nvGraphicFramePr>
          <p:cNvPr id="9" name="Table 8">
            <a:extLst>
              <a:ext uri="{FF2B5EF4-FFF2-40B4-BE49-F238E27FC236}">
                <a16:creationId xmlns:a16="http://schemas.microsoft.com/office/drawing/2014/main" id="{1575CEF0-2030-398E-662B-407EE8147621}"/>
              </a:ext>
            </a:extLst>
          </p:cNvPr>
          <p:cNvGraphicFramePr>
            <a:graphicFrameLocks noGrp="1"/>
          </p:cNvGraphicFramePr>
          <p:nvPr>
            <p:extLst>
              <p:ext uri="{D42A27DB-BD31-4B8C-83A1-F6EECF244321}">
                <p14:modId xmlns:p14="http://schemas.microsoft.com/office/powerpoint/2010/main" val="1215111679"/>
              </p:ext>
            </p:extLst>
          </p:nvPr>
        </p:nvGraphicFramePr>
        <p:xfrm>
          <a:off x="1345837" y="3347832"/>
          <a:ext cx="6096000" cy="22199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388995258"/>
                    </a:ext>
                  </a:extLst>
                </a:gridCol>
                <a:gridCol w="2032000">
                  <a:extLst>
                    <a:ext uri="{9D8B030D-6E8A-4147-A177-3AD203B41FA5}">
                      <a16:colId xmlns:a16="http://schemas.microsoft.com/office/drawing/2014/main" val="3480563744"/>
                    </a:ext>
                  </a:extLst>
                </a:gridCol>
                <a:gridCol w="2032000">
                  <a:extLst>
                    <a:ext uri="{9D8B030D-6E8A-4147-A177-3AD203B41FA5}">
                      <a16:colId xmlns:a16="http://schemas.microsoft.com/office/drawing/2014/main" val="155227764"/>
                    </a:ext>
                  </a:extLst>
                </a:gridCol>
              </a:tblGrid>
              <a:tr h="0">
                <a:tc>
                  <a:txBody>
                    <a:bodyPr/>
                    <a:lstStyle/>
                    <a:p>
                      <a:r>
                        <a:rPr lang="en-IN" dirty="0"/>
                        <a:t>R(A)</a:t>
                      </a:r>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3890084226"/>
                  </a:ext>
                </a:extLst>
              </a:tr>
              <a:tr h="370840">
                <a:tc>
                  <a:txBody>
                    <a:bodyPr/>
                    <a:lstStyle/>
                    <a:p>
                      <a:r>
                        <a:rPr lang="en-IN" dirty="0"/>
                        <a:t>W(A)</a:t>
                      </a:r>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311613151"/>
                  </a:ext>
                </a:extLst>
              </a:tr>
              <a:tr h="370840">
                <a:tc>
                  <a:txBody>
                    <a:bodyPr/>
                    <a:lstStyle/>
                    <a:p>
                      <a:endParaRPr lang="en-IN"/>
                    </a:p>
                  </a:txBody>
                  <a:tcPr/>
                </a:tc>
                <a:tc>
                  <a:txBody>
                    <a:bodyPr/>
                    <a:lstStyle/>
                    <a:p>
                      <a:r>
                        <a:rPr lang="en-IN" dirty="0"/>
                        <a:t>R(A)</a:t>
                      </a:r>
                    </a:p>
                  </a:txBody>
                  <a:tcPr/>
                </a:tc>
                <a:tc>
                  <a:txBody>
                    <a:bodyPr/>
                    <a:lstStyle/>
                    <a:p>
                      <a:endParaRPr lang="en-IN"/>
                    </a:p>
                  </a:txBody>
                  <a:tcPr/>
                </a:tc>
                <a:extLst>
                  <a:ext uri="{0D108BD9-81ED-4DB2-BD59-A6C34878D82A}">
                    <a16:rowId xmlns:a16="http://schemas.microsoft.com/office/drawing/2014/main" val="2894616920"/>
                  </a:ext>
                </a:extLst>
              </a:tr>
              <a:tr h="370840">
                <a:tc>
                  <a:txBody>
                    <a:bodyPr/>
                    <a:lstStyle/>
                    <a:p>
                      <a:endParaRPr lang="en-IN"/>
                    </a:p>
                  </a:txBody>
                  <a:tcPr/>
                </a:tc>
                <a:tc>
                  <a:txBody>
                    <a:bodyPr/>
                    <a:lstStyle/>
                    <a:p>
                      <a:endParaRPr lang="en-IN"/>
                    </a:p>
                  </a:txBody>
                  <a:tcPr/>
                </a:tc>
                <a:tc>
                  <a:txBody>
                    <a:bodyPr/>
                    <a:lstStyle/>
                    <a:p>
                      <a:r>
                        <a:rPr lang="en-IN" dirty="0"/>
                        <a:t>R(A)</a:t>
                      </a:r>
                    </a:p>
                  </a:txBody>
                  <a:tcPr/>
                </a:tc>
                <a:extLst>
                  <a:ext uri="{0D108BD9-81ED-4DB2-BD59-A6C34878D82A}">
                    <a16:rowId xmlns:a16="http://schemas.microsoft.com/office/drawing/2014/main" val="2476832633"/>
                  </a:ext>
                </a:extLst>
              </a:tr>
              <a:tr h="370840">
                <a:tc>
                  <a:txBody>
                    <a:bodyPr/>
                    <a:lstStyle/>
                    <a:p>
                      <a:r>
                        <a:rPr lang="en-IN" dirty="0"/>
                        <a:t>FAILURE</a:t>
                      </a:r>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790053756"/>
                  </a:ext>
                </a:extLst>
              </a:tr>
              <a:tr h="370840">
                <a:tc>
                  <a:txBody>
                    <a:bodyPr/>
                    <a:lstStyle/>
                    <a:p>
                      <a:r>
                        <a:rPr lang="en-IN" dirty="0"/>
                        <a:t>ROLLBACK</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11344297"/>
                  </a:ext>
                </a:extLst>
              </a:tr>
            </a:tbl>
          </a:graphicData>
        </a:graphic>
      </p:graphicFrame>
      <p:sp>
        <p:nvSpPr>
          <p:cNvPr id="10" name="TextBox 9">
            <a:extLst>
              <a:ext uri="{FF2B5EF4-FFF2-40B4-BE49-F238E27FC236}">
                <a16:creationId xmlns:a16="http://schemas.microsoft.com/office/drawing/2014/main" id="{AC6EC0D4-B181-E2F9-9C38-A8C866E5C90E}"/>
              </a:ext>
            </a:extLst>
          </p:cNvPr>
          <p:cNvSpPr txBox="1"/>
          <p:nvPr/>
        </p:nvSpPr>
        <p:spPr>
          <a:xfrm>
            <a:off x="3792673" y="5755503"/>
            <a:ext cx="1558653" cy="338554"/>
          </a:xfrm>
          <a:prstGeom prst="rect">
            <a:avLst/>
          </a:prstGeom>
          <a:noFill/>
        </p:spPr>
        <p:txBody>
          <a:bodyPr wrap="square" rtlCol="0">
            <a:spAutoFit/>
          </a:bodyPr>
          <a:lstStyle/>
          <a:p>
            <a:r>
              <a:rPr lang="en-IN" dirty="0"/>
              <a:t>ROLLBACK</a:t>
            </a:r>
          </a:p>
        </p:txBody>
      </p:sp>
      <p:sp>
        <p:nvSpPr>
          <p:cNvPr id="11" name="TextBox 10">
            <a:extLst>
              <a:ext uri="{FF2B5EF4-FFF2-40B4-BE49-F238E27FC236}">
                <a16:creationId xmlns:a16="http://schemas.microsoft.com/office/drawing/2014/main" id="{B111A92B-BB66-4FB7-A292-19F350886928}"/>
              </a:ext>
            </a:extLst>
          </p:cNvPr>
          <p:cNvSpPr txBox="1"/>
          <p:nvPr/>
        </p:nvSpPr>
        <p:spPr>
          <a:xfrm>
            <a:off x="6102621" y="5977354"/>
            <a:ext cx="1558653" cy="338554"/>
          </a:xfrm>
          <a:prstGeom prst="rect">
            <a:avLst/>
          </a:prstGeom>
          <a:noFill/>
        </p:spPr>
        <p:txBody>
          <a:bodyPr wrap="square" rtlCol="0">
            <a:spAutoFit/>
          </a:bodyPr>
          <a:lstStyle/>
          <a:p>
            <a:r>
              <a:rPr lang="en-IN" dirty="0"/>
              <a:t>ROLLBACK</a:t>
            </a:r>
          </a:p>
        </p:txBody>
      </p:sp>
    </p:spTree>
    <p:extLst>
      <p:ext uri="{BB962C8B-B14F-4D97-AF65-F5344CB8AC3E}">
        <p14:creationId xmlns:p14="http://schemas.microsoft.com/office/powerpoint/2010/main" val="11471576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DB834-784B-D047-D174-B46C40CF6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0A7F0-5DE9-4973-6C17-9B46435C9A67}"/>
              </a:ext>
            </a:extLst>
          </p:cNvPr>
          <p:cNvSpPr>
            <a:spLocks noGrp="1"/>
          </p:cNvSpPr>
          <p:nvPr>
            <p:ph type="title"/>
          </p:nvPr>
        </p:nvSpPr>
        <p:spPr/>
        <p:txBody>
          <a:bodyPr/>
          <a:lstStyle/>
          <a:p>
            <a:r>
              <a:rPr lang="en-IN" dirty="0"/>
              <a:t>CASCADDING &amp; CASCADELESS  SCHEDULE</a:t>
            </a:r>
          </a:p>
        </p:txBody>
      </p:sp>
      <p:sp>
        <p:nvSpPr>
          <p:cNvPr id="3" name="Content Placeholder 2">
            <a:extLst>
              <a:ext uri="{FF2B5EF4-FFF2-40B4-BE49-F238E27FC236}">
                <a16:creationId xmlns:a16="http://schemas.microsoft.com/office/drawing/2014/main" id="{D7BECD75-6FCE-807D-32F1-27ADC6820294}"/>
              </a:ext>
            </a:extLst>
          </p:cNvPr>
          <p:cNvSpPr>
            <a:spLocks noGrp="1"/>
          </p:cNvSpPr>
          <p:nvPr>
            <p:ph idx="1"/>
          </p:nvPr>
        </p:nvSpPr>
        <p:spPr/>
        <p:txBody>
          <a:bodyPr/>
          <a:lstStyle/>
          <a:p>
            <a:r>
              <a:rPr lang="en-IN" dirty="0"/>
              <a:t>T2 AND T3 ARE READING THE VAULES OF A AFTER COMMIT. SO SUCH SCHEDULE ARE CALLED CASCADELESS SCHEDULE.</a:t>
            </a:r>
          </a:p>
        </p:txBody>
      </p:sp>
      <p:sp>
        <p:nvSpPr>
          <p:cNvPr id="4" name="TextBox 3">
            <a:extLst>
              <a:ext uri="{FF2B5EF4-FFF2-40B4-BE49-F238E27FC236}">
                <a16:creationId xmlns:a16="http://schemas.microsoft.com/office/drawing/2014/main" id="{1D25999B-FCDD-257C-3783-547B0AA514A7}"/>
              </a:ext>
            </a:extLst>
          </p:cNvPr>
          <p:cNvSpPr txBox="1"/>
          <p:nvPr/>
        </p:nvSpPr>
        <p:spPr>
          <a:xfrm>
            <a:off x="1604191" y="2065901"/>
            <a:ext cx="522515" cy="338554"/>
          </a:xfrm>
          <a:prstGeom prst="rect">
            <a:avLst/>
          </a:prstGeom>
          <a:noFill/>
        </p:spPr>
        <p:txBody>
          <a:bodyPr wrap="square" rtlCol="0">
            <a:spAutoFit/>
          </a:bodyPr>
          <a:lstStyle/>
          <a:p>
            <a:r>
              <a:rPr lang="en-IN" dirty="0"/>
              <a:t>T1</a:t>
            </a:r>
          </a:p>
        </p:txBody>
      </p:sp>
      <p:sp>
        <p:nvSpPr>
          <p:cNvPr id="8" name="TextBox 7">
            <a:extLst>
              <a:ext uri="{FF2B5EF4-FFF2-40B4-BE49-F238E27FC236}">
                <a16:creationId xmlns:a16="http://schemas.microsoft.com/office/drawing/2014/main" id="{3CB5DC57-9BD8-9FC1-FD9B-9EB7DC4E9708}"/>
              </a:ext>
            </a:extLst>
          </p:cNvPr>
          <p:cNvSpPr txBox="1"/>
          <p:nvPr/>
        </p:nvSpPr>
        <p:spPr>
          <a:xfrm>
            <a:off x="3577410" y="1974720"/>
            <a:ext cx="620485" cy="338554"/>
          </a:xfrm>
          <a:prstGeom prst="rect">
            <a:avLst/>
          </a:prstGeom>
          <a:noFill/>
        </p:spPr>
        <p:txBody>
          <a:bodyPr wrap="square" rtlCol="0">
            <a:spAutoFit/>
          </a:bodyPr>
          <a:lstStyle/>
          <a:p>
            <a:r>
              <a:rPr lang="en-IN" dirty="0"/>
              <a:t>T2</a:t>
            </a:r>
          </a:p>
        </p:txBody>
      </p:sp>
      <p:sp>
        <p:nvSpPr>
          <p:cNvPr id="5" name="TextBox 4">
            <a:extLst>
              <a:ext uri="{FF2B5EF4-FFF2-40B4-BE49-F238E27FC236}">
                <a16:creationId xmlns:a16="http://schemas.microsoft.com/office/drawing/2014/main" id="{720A77D5-9B6E-283B-4B93-7688B73358C3}"/>
              </a:ext>
            </a:extLst>
          </p:cNvPr>
          <p:cNvSpPr txBox="1"/>
          <p:nvPr/>
        </p:nvSpPr>
        <p:spPr>
          <a:xfrm>
            <a:off x="5792378" y="1974720"/>
            <a:ext cx="620485" cy="338554"/>
          </a:xfrm>
          <a:prstGeom prst="rect">
            <a:avLst/>
          </a:prstGeom>
          <a:noFill/>
        </p:spPr>
        <p:txBody>
          <a:bodyPr wrap="square" rtlCol="0">
            <a:spAutoFit/>
          </a:bodyPr>
          <a:lstStyle/>
          <a:p>
            <a:r>
              <a:rPr lang="en-IN" dirty="0"/>
              <a:t>T3</a:t>
            </a:r>
          </a:p>
        </p:txBody>
      </p:sp>
      <p:graphicFrame>
        <p:nvGraphicFramePr>
          <p:cNvPr id="9" name="Table 8">
            <a:extLst>
              <a:ext uri="{FF2B5EF4-FFF2-40B4-BE49-F238E27FC236}">
                <a16:creationId xmlns:a16="http://schemas.microsoft.com/office/drawing/2014/main" id="{5F163F4C-D372-A9AE-4007-65F735B2FB8E}"/>
              </a:ext>
            </a:extLst>
          </p:cNvPr>
          <p:cNvGraphicFramePr>
            <a:graphicFrameLocks noGrp="1"/>
          </p:cNvGraphicFramePr>
          <p:nvPr>
            <p:extLst>
              <p:ext uri="{D42A27DB-BD31-4B8C-83A1-F6EECF244321}">
                <p14:modId xmlns:p14="http://schemas.microsoft.com/office/powerpoint/2010/main" val="3843976908"/>
              </p:ext>
            </p:extLst>
          </p:nvPr>
        </p:nvGraphicFramePr>
        <p:xfrm>
          <a:off x="1378494" y="2541883"/>
          <a:ext cx="6096000" cy="2312014"/>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388995258"/>
                    </a:ext>
                  </a:extLst>
                </a:gridCol>
                <a:gridCol w="2032000">
                  <a:extLst>
                    <a:ext uri="{9D8B030D-6E8A-4147-A177-3AD203B41FA5}">
                      <a16:colId xmlns:a16="http://schemas.microsoft.com/office/drawing/2014/main" val="3480563744"/>
                    </a:ext>
                  </a:extLst>
                </a:gridCol>
                <a:gridCol w="2032000">
                  <a:extLst>
                    <a:ext uri="{9D8B030D-6E8A-4147-A177-3AD203B41FA5}">
                      <a16:colId xmlns:a16="http://schemas.microsoft.com/office/drawing/2014/main" val="155227764"/>
                    </a:ext>
                  </a:extLst>
                </a:gridCol>
              </a:tblGrid>
              <a:tr h="0">
                <a:tc>
                  <a:txBody>
                    <a:bodyPr/>
                    <a:lstStyle/>
                    <a:p>
                      <a:r>
                        <a:rPr lang="en-IN" dirty="0"/>
                        <a:t>R(A)</a:t>
                      </a:r>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3890084226"/>
                  </a:ext>
                </a:extLst>
              </a:tr>
              <a:tr h="370840">
                <a:tc>
                  <a:txBody>
                    <a:bodyPr/>
                    <a:lstStyle/>
                    <a:p>
                      <a:r>
                        <a:rPr lang="en-IN" dirty="0"/>
                        <a:t>W(A)</a:t>
                      </a:r>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311613151"/>
                  </a:ext>
                </a:extLst>
              </a:tr>
              <a:tr h="370840">
                <a:tc>
                  <a:txBody>
                    <a:bodyPr/>
                    <a:lstStyle/>
                    <a:p>
                      <a:r>
                        <a:rPr lang="en-IN" dirty="0"/>
                        <a:t>COMMIT</a:t>
                      </a:r>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2894616920"/>
                  </a:ext>
                </a:extLst>
              </a:tr>
              <a:tr h="467974">
                <a:tc>
                  <a:txBody>
                    <a:bodyPr/>
                    <a:lstStyle/>
                    <a:p>
                      <a:endParaRPr lang="en-IN"/>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R(A)</a:t>
                      </a:r>
                    </a:p>
                  </a:txBody>
                  <a:tcPr/>
                </a:tc>
                <a:tc>
                  <a:txBody>
                    <a:bodyPr/>
                    <a:lstStyle/>
                    <a:p>
                      <a:endParaRPr lang="en-IN" dirty="0"/>
                    </a:p>
                  </a:txBody>
                  <a:tcPr/>
                </a:tc>
                <a:extLst>
                  <a:ext uri="{0D108BD9-81ED-4DB2-BD59-A6C34878D82A}">
                    <a16:rowId xmlns:a16="http://schemas.microsoft.com/office/drawing/2014/main" val="2476832633"/>
                  </a:ext>
                </a:extLst>
              </a:tr>
              <a:tr h="370840">
                <a:tc>
                  <a:txBody>
                    <a:bodyPr/>
                    <a:lstStyle/>
                    <a:p>
                      <a:endParaRPr lang="en-IN" dirty="0"/>
                    </a:p>
                  </a:txBody>
                  <a:tcPr/>
                </a:tc>
                <a:tc>
                  <a:txBody>
                    <a:bodyPr/>
                    <a:lstStyle/>
                    <a:p>
                      <a:endParaRPr lang="en-IN"/>
                    </a:p>
                  </a:txBody>
                  <a:tcPr/>
                </a:tc>
                <a:tc>
                  <a:txBody>
                    <a:bodyPr/>
                    <a:lstStyle/>
                    <a:p>
                      <a:r>
                        <a:rPr lang="en-IN" dirty="0"/>
                        <a:t>R(A)</a:t>
                      </a:r>
                    </a:p>
                  </a:txBody>
                  <a:tcPr/>
                </a:tc>
                <a:extLst>
                  <a:ext uri="{0D108BD9-81ED-4DB2-BD59-A6C34878D82A}">
                    <a16:rowId xmlns:a16="http://schemas.microsoft.com/office/drawing/2014/main" val="1790053756"/>
                  </a:ext>
                </a:extLst>
              </a:tr>
              <a:tr h="247149">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11344297"/>
                  </a:ext>
                </a:extLst>
              </a:tr>
            </a:tbl>
          </a:graphicData>
        </a:graphic>
      </p:graphicFrame>
    </p:spTree>
    <p:extLst>
      <p:ext uri="{BB962C8B-B14F-4D97-AF65-F5344CB8AC3E}">
        <p14:creationId xmlns:p14="http://schemas.microsoft.com/office/powerpoint/2010/main" val="377643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Serializability</a:t>
            </a:r>
          </a:p>
        </p:txBody>
      </p:sp>
      <p:sp>
        <p:nvSpPr>
          <p:cNvPr id="19459" name="Rectangle 3"/>
          <p:cNvSpPr>
            <a:spLocks noGrp="1" noChangeArrowheads="1"/>
          </p:cNvSpPr>
          <p:nvPr>
            <p:ph idx="1"/>
          </p:nvPr>
        </p:nvSpPr>
        <p:spPr>
          <a:xfrm>
            <a:off x="683580" y="1102497"/>
            <a:ext cx="8046083" cy="5367972"/>
          </a:xfrm>
        </p:spPr>
        <p:txBody>
          <a:bodyPr/>
          <a:lstStyle/>
          <a:p>
            <a:r>
              <a:rPr lang="en-US" altLang="en-US" b="1" dirty="0"/>
              <a:t>Basic Assumption</a:t>
            </a:r>
            <a:r>
              <a:rPr lang="en-US" altLang="en-US" dirty="0"/>
              <a:t> – </a:t>
            </a:r>
            <a:r>
              <a:rPr lang="en-US" altLang="en-US" dirty="0">
                <a:highlight>
                  <a:srgbClr val="FFFF00"/>
                </a:highlight>
              </a:rPr>
              <a:t>Each transaction preserves database consistency.</a:t>
            </a:r>
          </a:p>
          <a:p>
            <a:r>
              <a:rPr lang="en-US" altLang="en-US" dirty="0">
                <a:highlight>
                  <a:srgbClr val="FFFF00"/>
                </a:highlight>
              </a:rPr>
              <a:t>Thus, serial execution of a set of transactions preserves database consistency.</a:t>
            </a:r>
          </a:p>
          <a:p>
            <a:r>
              <a:rPr lang="en-US" altLang="en-US" sz="2400" b="1" dirty="0"/>
              <a:t>A (possibly concurrent) schedule is serializable if it is equivalent to a serial schedule</a:t>
            </a:r>
            <a:r>
              <a:rPr lang="en-US" altLang="en-US" sz="1800" dirty="0"/>
              <a:t>.  </a:t>
            </a:r>
          </a:p>
          <a:p>
            <a:r>
              <a:rPr lang="en-US" altLang="en-US" dirty="0"/>
              <a:t>Different forms of schedule equivalence give rise to the notions of:</a:t>
            </a:r>
          </a:p>
          <a:p>
            <a:pPr lvl="1">
              <a:buFont typeface="Monotype Sorts" charset="2"/>
              <a:buNone/>
            </a:pPr>
            <a:r>
              <a:rPr lang="en-US" altLang="en-US" dirty="0"/>
              <a:t>1.	</a:t>
            </a:r>
            <a:r>
              <a:rPr lang="en-US" altLang="en-US" b="1" dirty="0">
                <a:solidFill>
                  <a:srgbClr val="000099"/>
                </a:solidFill>
              </a:rPr>
              <a:t>Conflict serializability</a:t>
            </a:r>
          </a:p>
          <a:p>
            <a:pPr lvl="1">
              <a:buFont typeface="Monotype Sorts" charset="2"/>
              <a:buNone/>
            </a:pPr>
            <a:r>
              <a:rPr lang="en-US" altLang="en-US" dirty="0"/>
              <a:t>2.	</a:t>
            </a:r>
            <a:r>
              <a:rPr lang="en-US" altLang="en-US" b="1" dirty="0">
                <a:solidFill>
                  <a:srgbClr val="000099"/>
                </a:solidFill>
              </a:rPr>
              <a:t>View serializability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5BEC6-4D8F-2744-7A23-756651ABE3E6}"/>
            </a:ext>
          </a:extLst>
        </p:cNvPr>
        <p:cNvGrpSpPr/>
        <p:nvPr/>
      </p:nvGrpSpPr>
      <p:grpSpPr>
        <a:xfrm>
          <a:off x="0" y="0"/>
          <a:ext cx="0" cy="0"/>
          <a:chOff x="0" y="0"/>
          <a:chExt cx="0" cy="0"/>
        </a:xfrm>
      </p:grpSpPr>
      <p:sp>
        <p:nvSpPr>
          <p:cNvPr id="394242" name="Rectangle 2">
            <a:extLst>
              <a:ext uri="{FF2B5EF4-FFF2-40B4-BE49-F238E27FC236}">
                <a16:creationId xmlns:a16="http://schemas.microsoft.com/office/drawing/2014/main" id="{71FE523E-B0C3-8B21-4049-6848B40AC021}"/>
              </a:ext>
            </a:extLst>
          </p:cNvPr>
          <p:cNvSpPr>
            <a:spLocks noGrp="1" noChangeArrowheads="1"/>
          </p:cNvSpPr>
          <p:nvPr>
            <p:ph type="title"/>
          </p:nvPr>
        </p:nvSpPr>
        <p:spPr/>
        <p:txBody>
          <a:bodyPr/>
          <a:lstStyle/>
          <a:p>
            <a:pPr>
              <a:defRPr/>
            </a:pPr>
            <a:r>
              <a:rPr lang="en-US" dirty="0">
                <a:effectLst>
                  <a:outerShdw blurRad="38100" dist="38100" dir="2700000" algn="tl">
                    <a:srgbClr val="C0C0C0"/>
                  </a:outerShdw>
                </a:effectLst>
              </a:rPr>
              <a:t>Serializability</a:t>
            </a:r>
          </a:p>
        </p:txBody>
      </p:sp>
      <p:pic>
        <p:nvPicPr>
          <p:cNvPr id="2" name="Picture 18">
            <a:extLst>
              <a:ext uri="{FF2B5EF4-FFF2-40B4-BE49-F238E27FC236}">
                <a16:creationId xmlns:a16="http://schemas.microsoft.com/office/drawing/2014/main" id="{98BF8BB9-130C-94AA-F128-DA4AA0AB51E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63569" y="1843741"/>
            <a:ext cx="2249424" cy="1664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684C5639-D39D-395A-DC91-02DF835F7E0D}"/>
              </a:ext>
            </a:extLst>
          </p:cNvPr>
          <p:cNvSpPr txBox="1"/>
          <p:nvPr/>
        </p:nvSpPr>
        <p:spPr>
          <a:xfrm>
            <a:off x="1263569" y="936171"/>
            <a:ext cx="2437574" cy="338554"/>
          </a:xfrm>
          <a:prstGeom prst="rect">
            <a:avLst/>
          </a:prstGeom>
          <a:noFill/>
        </p:spPr>
        <p:txBody>
          <a:bodyPr wrap="square" rtlCol="0">
            <a:spAutoFit/>
          </a:bodyPr>
          <a:lstStyle/>
          <a:p>
            <a:r>
              <a:rPr lang="en-IN" dirty="0"/>
              <a:t>SERIAL SCHEDULE</a:t>
            </a:r>
          </a:p>
        </p:txBody>
      </p:sp>
      <p:sp>
        <p:nvSpPr>
          <p:cNvPr id="4" name="Oval 3">
            <a:extLst>
              <a:ext uri="{FF2B5EF4-FFF2-40B4-BE49-F238E27FC236}">
                <a16:creationId xmlns:a16="http://schemas.microsoft.com/office/drawing/2014/main" id="{C686258A-5AEE-5FBC-C347-42AD2AE7BAB5}"/>
              </a:ext>
            </a:extLst>
          </p:cNvPr>
          <p:cNvSpPr/>
          <p:nvPr/>
        </p:nvSpPr>
        <p:spPr bwMode="auto">
          <a:xfrm>
            <a:off x="881743" y="4517571"/>
            <a:ext cx="1110343" cy="6096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600" b="0" i="0" u="none" strike="noStrike" cap="none" normalizeH="0" baseline="0">
              <a:ln>
                <a:noFill/>
              </a:ln>
              <a:solidFill>
                <a:schemeClr val="tx1"/>
              </a:solidFill>
              <a:effectLst/>
              <a:latin typeface="Helvetica" charset="0"/>
            </a:endParaRPr>
          </a:p>
        </p:txBody>
      </p:sp>
      <p:sp>
        <p:nvSpPr>
          <p:cNvPr id="5" name="Oval 4">
            <a:extLst>
              <a:ext uri="{FF2B5EF4-FFF2-40B4-BE49-F238E27FC236}">
                <a16:creationId xmlns:a16="http://schemas.microsoft.com/office/drawing/2014/main" id="{F3FE0665-26C0-FCAD-EFB0-9D66A47811A0}"/>
              </a:ext>
            </a:extLst>
          </p:cNvPr>
          <p:cNvSpPr/>
          <p:nvPr/>
        </p:nvSpPr>
        <p:spPr bwMode="auto">
          <a:xfrm>
            <a:off x="3352800" y="4517571"/>
            <a:ext cx="707571" cy="60960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600" b="0" i="0" u="none" strike="noStrike" cap="none" normalizeH="0" baseline="0">
              <a:ln>
                <a:noFill/>
              </a:ln>
              <a:solidFill>
                <a:schemeClr val="tx1"/>
              </a:solidFill>
              <a:effectLst/>
              <a:latin typeface="Helvetica" charset="0"/>
            </a:endParaRPr>
          </a:p>
        </p:txBody>
      </p:sp>
      <p:cxnSp>
        <p:nvCxnSpPr>
          <p:cNvPr id="7" name="Straight Arrow Connector 6">
            <a:extLst>
              <a:ext uri="{FF2B5EF4-FFF2-40B4-BE49-F238E27FC236}">
                <a16:creationId xmlns:a16="http://schemas.microsoft.com/office/drawing/2014/main" id="{7CDE5857-D803-3A55-F420-95B3C7976C9C}"/>
              </a:ext>
            </a:extLst>
          </p:cNvPr>
          <p:cNvCxnSpPr>
            <a:endCxn id="5" idx="2"/>
          </p:cNvCxnSpPr>
          <p:nvPr/>
        </p:nvCxnSpPr>
        <p:spPr bwMode="auto">
          <a:xfrm flipV="1">
            <a:off x="2100943" y="4822371"/>
            <a:ext cx="1251857" cy="435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3C32DAEF-E43F-EF4C-99E9-D1AB3D9C1B12}"/>
                  </a:ext>
                </a:extLst>
              </p14:cNvPr>
              <p14:cNvContentPartPr/>
              <p14:nvPr/>
            </p14:nvContentPartPr>
            <p14:xfrm>
              <a:off x="1251000" y="4667400"/>
              <a:ext cx="3486600" cy="559080"/>
            </p14:xfrm>
          </p:contentPart>
        </mc:Choice>
        <mc:Fallback xmlns="">
          <p:pic>
            <p:nvPicPr>
              <p:cNvPr id="8" name="Ink 7">
                <a:extLst>
                  <a:ext uri="{FF2B5EF4-FFF2-40B4-BE49-F238E27FC236}">
                    <a16:creationId xmlns:a16="http://schemas.microsoft.com/office/drawing/2014/main" id="{3C32DAEF-E43F-EF4C-99E9-D1AB3D9C1B12}"/>
                  </a:ext>
                </a:extLst>
              </p:cNvPr>
              <p:cNvPicPr/>
              <p:nvPr/>
            </p:nvPicPr>
            <p:blipFill>
              <a:blip r:embed="rId5"/>
              <a:stretch>
                <a:fillRect/>
              </a:stretch>
            </p:blipFill>
            <p:spPr>
              <a:xfrm>
                <a:off x="1241640" y="4658040"/>
                <a:ext cx="3505320" cy="577800"/>
              </a:xfrm>
              <a:prstGeom prst="rect">
                <a:avLst/>
              </a:prstGeom>
            </p:spPr>
          </p:pic>
        </mc:Fallback>
      </mc:AlternateContent>
      <p:sp>
        <p:nvSpPr>
          <p:cNvPr id="10" name="TextBox 9">
            <a:extLst>
              <a:ext uri="{FF2B5EF4-FFF2-40B4-BE49-F238E27FC236}">
                <a16:creationId xmlns:a16="http://schemas.microsoft.com/office/drawing/2014/main" id="{20F84B6D-BBC6-11EE-3217-63979535A6AE}"/>
              </a:ext>
            </a:extLst>
          </p:cNvPr>
          <p:cNvSpPr txBox="1"/>
          <p:nvPr/>
        </p:nvSpPr>
        <p:spPr>
          <a:xfrm>
            <a:off x="6013225" y="946854"/>
            <a:ext cx="2437574" cy="338554"/>
          </a:xfrm>
          <a:prstGeom prst="rect">
            <a:avLst/>
          </a:prstGeom>
          <a:noFill/>
        </p:spPr>
        <p:txBody>
          <a:bodyPr wrap="square" rtlCol="0">
            <a:spAutoFit/>
          </a:bodyPr>
          <a:lstStyle/>
          <a:p>
            <a:r>
              <a:rPr lang="en-IN" dirty="0"/>
              <a:t>SERIAL SCHEDULE</a:t>
            </a:r>
          </a:p>
        </p:txBody>
      </p:sp>
      <p:pic>
        <p:nvPicPr>
          <p:cNvPr id="11" name="Picture 10">
            <a:extLst>
              <a:ext uri="{FF2B5EF4-FFF2-40B4-BE49-F238E27FC236}">
                <a16:creationId xmlns:a16="http://schemas.microsoft.com/office/drawing/2014/main" id="{C72D5ADE-613F-EE68-9621-C372B5686F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1009" y="1228688"/>
            <a:ext cx="2898775"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a:extLst>
              <a:ext uri="{FF2B5EF4-FFF2-40B4-BE49-F238E27FC236}">
                <a16:creationId xmlns:a16="http://schemas.microsoft.com/office/drawing/2014/main" id="{DF84FDC1-A66F-D572-8AED-2B303646730D}"/>
              </a:ext>
            </a:extLst>
          </p:cNvPr>
          <p:cNvSpPr/>
          <p:nvPr/>
        </p:nvSpPr>
        <p:spPr bwMode="auto">
          <a:xfrm>
            <a:off x="5631009" y="5366657"/>
            <a:ext cx="802448" cy="544489"/>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600" b="0" i="0" u="none" strike="noStrike" cap="none" normalizeH="0" baseline="0">
              <a:ln>
                <a:noFill/>
              </a:ln>
              <a:solidFill>
                <a:schemeClr val="tx1"/>
              </a:solidFill>
              <a:effectLst/>
              <a:latin typeface="Helvetica" charset="0"/>
            </a:endParaRPr>
          </a:p>
        </p:txBody>
      </p:sp>
      <p:sp>
        <p:nvSpPr>
          <p:cNvPr id="13" name="Oval 12">
            <a:extLst>
              <a:ext uri="{FF2B5EF4-FFF2-40B4-BE49-F238E27FC236}">
                <a16:creationId xmlns:a16="http://schemas.microsoft.com/office/drawing/2014/main" id="{C01DBADC-A552-8B7A-B779-577BC1F1A23B}"/>
              </a:ext>
            </a:extLst>
          </p:cNvPr>
          <p:cNvSpPr/>
          <p:nvPr/>
        </p:nvSpPr>
        <p:spPr bwMode="auto">
          <a:xfrm>
            <a:off x="7674429" y="5366657"/>
            <a:ext cx="802448" cy="544489"/>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600" b="0" i="0" u="none" strike="noStrike" cap="none" normalizeH="0" baseline="0">
              <a:ln>
                <a:noFill/>
              </a:ln>
              <a:solidFill>
                <a:schemeClr val="tx1"/>
              </a:solidFill>
              <a:effectLst/>
              <a:latin typeface="Helvetica" charset="0"/>
            </a:endParaRPr>
          </a:p>
        </p:txBody>
      </p:sp>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AF73EA73-1363-4F9E-F7F7-501069697288}"/>
                  </a:ext>
                </a:extLst>
              </p14:cNvPr>
              <p14:cNvContentPartPr/>
              <p14:nvPr/>
            </p14:nvContentPartPr>
            <p14:xfrm>
              <a:off x="5727960" y="5479920"/>
              <a:ext cx="2629080" cy="375120"/>
            </p14:xfrm>
          </p:contentPart>
        </mc:Choice>
        <mc:Fallback xmlns="">
          <p:pic>
            <p:nvPicPr>
              <p:cNvPr id="14" name="Ink 13">
                <a:extLst>
                  <a:ext uri="{FF2B5EF4-FFF2-40B4-BE49-F238E27FC236}">
                    <a16:creationId xmlns:a16="http://schemas.microsoft.com/office/drawing/2014/main" id="{AF73EA73-1363-4F9E-F7F7-501069697288}"/>
                  </a:ext>
                </a:extLst>
              </p:cNvPr>
              <p:cNvPicPr/>
              <p:nvPr/>
            </p:nvPicPr>
            <p:blipFill>
              <a:blip r:embed="rId8"/>
              <a:stretch>
                <a:fillRect/>
              </a:stretch>
            </p:blipFill>
            <p:spPr>
              <a:xfrm>
                <a:off x="5718600" y="5470560"/>
                <a:ext cx="2647800" cy="393840"/>
              </a:xfrm>
              <a:prstGeom prst="rect">
                <a:avLst/>
              </a:prstGeom>
            </p:spPr>
          </p:pic>
        </mc:Fallback>
      </mc:AlternateContent>
    </p:spTree>
    <p:extLst>
      <p:ext uri="{BB962C8B-B14F-4D97-AF65-F5344CB8AC3E}">
        <p14:creationId xmlns:p14="http://schemas.microsoft.com/office/powerpoint/2010/main" val="881382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Conflicting Instructions </a:t>
            </a:r>
          </a:p>
        </p:txBody>
      </p:sp>
      <p:sp>
        <p:nvSpPr>
          <p:cNvPr id="21507" name="Rectangle 3"/>
          <p:cNvSpPr>
            <a:spLocks noGrp="1" noChangeArrowheads="1"/>
          </p:cNvSpPr>
          <p:nvPr>
            <p:ph idx="1"/>
          </p:nvPr>
        </p:nvSpPr>
        <p:spPr>
          <a:xfrm>
            <a:off x="692458" y="1102497"/>
            <a:ext cx="7750206" cy="5367972"/>
          </a:xfrm>
        </p:spPr>
        <p:txBody>
          <a:bodyPr/>
          <a:lstStyle/>
          <a:p>
            <a:r>
              <a:rPr lang="en-US" altLang="en-US" dirty="0"/>
              <a:t>Instructions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dirty="0"/>
              <a:t> of transactions </a:t>
            </a:r>
            <a:r>
              <a:rPr lang="en-US" altLang="en-US" i="1" dirty="0"/>
              <a:t>T</a:t>
            </a:r>
            <a:r>
              <a:rPr lang="en-US" altLang="en-US" i="1" baseline="-25000" dirty="0"/>
              <a:t>i</a:t>
            </a:r>
            <a:r>
              <a:rPr lang="en-US" altLang="en-US" dirty="0"/>
              <a:t> and </a:t>
            </a:r>
            <a:r>
              <a:rPr lang="en-US" altLang="en-US" i="1" dirty="0"/>
              <a:t>T</a:t>
            </a:r>
            <a:r>
              <a:rPr lang="en-US" altLang="en-US" i="1" baseline="-25000" dirty="0"/>
              <a:t>j</a:t>
            </a:r>
            <a:r>
              <a:rPr lang="en-US" altLang="en-US" dirty="0"/>
              <a:t> respectively, </a:t>
            </a:r>
            <a:r>
              <a:rPr lang="en-US" altLang="en-US" b="1" dirty="0">
                <a:solidFill>
                  <a:srgbClr val="000099"/>
                </a:solidFill>
              </a:rPr>
              <a:t>conflict</a:t>
            </a:r>
            <a:r>
              <a:rPr lang="en-US" altLang="en-US" dirty="0"/>
              <a:t> if and only if there exists some item </a:t>
            </a:r>
            <a:r>
              <a:rPr lang="en-US" altLang="en-US" i="1" dirty="0"/>
              <a:t>Q</a:t>
            </a:r>
            <a:r>
              <a:rPr lang="en-US" altLang="en-US" dirty="0"/>
              <a:t> accessed by both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dirty="0"/>
              <a:t>, and </a:t>
            </a:r>
            <a:r>
              <a:rPr lang="en-US" altLang="en-US" dirty="0">
                <a:highlight>
                  <a:srgbClr val="FFFF00"/>
                </a:highlight>
              </a:rPr>
              <a:t>at least one of these instructions wrote </a:t>
            </a:r>
            <a:r>
              <a:rPr lang="en-US" altLang="en-US" i="1" dirty="0">
                <a:highlight>
                  <a:srgbClr val="FFFF00"/>
                </a:highlight>
              </a:rPr>
              <a:t>Q.</a:t>
            </a:r>
            <a:endParaRPr lang="en-US" altLang="en-US" dirty="0">
              <a:highlight>
                <a:srgbClr val="FFFF00"/>
              </a:highlight>
            </a:endParaRPr>
          </a:p>
          <a:p>
            <a:pPr>
              <a:buFont typeface="Monotype Sorts" charset="2"/>
              <a:buNone/>
            </a:pPr>
            <a:r>
              <a:rPr lang="en-US" altLang="en-US" dirty="0"/>
              <a:t>	   1.   </a:t>
            </a:r>
            <a:r>
              <a:rPr lang="en-US" altLang="en-US" i="1" dirty="0"/>
              <a:t>l</a:t>
            </a:r>
            <a:r>
              <a:rPr lang="en-US" altLang="en-US" i="1" baseline="-25000" dirty="0"/>
              <a:t>i</a:t>
            </a:r>
            <a:r>
              <a:rPr lang="en-US" altLang="en-US" dirty="0"/>
              <a:t> = </a:t>
            </a:r>
            <a:r>
              <a:rPr lang="en-US" altLang="en-US" b="1" dirty="0"/>
              <a:t>read</a:t>
            </a:r>
            <a:r>
              <a:rPr lang="en-US" altLang="en-US" dirty="0"/>
              <a:t>(</a:t>
            </a:r>
            <a:r>
              <a:rPr lang="en-US" altLang="en-US" i="1" dirty="0"/>
              <a:t>Q), </a:t>
            </a:r>
            <a:r>
              <a:rPr lang="en-US" altLang="en-US" i="1" dirty="0" err="1"/>
              <a:t>l</a:t>
            </a:r>
            <a:r>
              <a:rPr lang="en-US" altLang="en-US" i="1" baseline="-25000" dirty="0" err="1"/>
              <a:t>j</a:t>
            </a:r>
            <a:r>
              <a:rPr lang="en-US" altLang="en-US" i="1" dirty="0"/>
              <a:t> = </a:t>
            </a:r>
            <a:r>
              <a:rPr lang="en-US" altLang="en-US" b="1" dirty="0"/>
              <a:t>read</a:t>
            </a:r>
            <a:r>
              <a:rPr lang="en-US" altLang="en-US" dirty="0"/>
              <a:t>(</a:t>
            </a:r>
            <a:r>
              <a:rPr lang="en-US" altLang="en-US" i="1" dirty="0"/>
              <a:t>Q</a:t>
            </a:r>
            <a:r>
              <a:rPr lang="en-US" altLang="en-US" dirty="0"/>
              <a:t>).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i="1" dirty="0"/>
              <a:t> </a:t>
            </a:r>
            <a:r>
              <a:rPr lang="en-US" altLang="en-US" dirty="0"/>
              <a:t>don</a:t>
            </a:r>
            <a:r>
              <a:rPr lang="ja-JP" altLang="en-US" dirty="0"/>
              <a:t>’</a:t>
            </a:r>
            <a:r>
              <a:rPr lang="en-US" altLang="ja-JP" dirty="0"/>
              <a:t>t conflict.</a:t>
            </a:r>
            <a:br>
              <a:rPr lang="en-US" altLang="ja-JP" dirty="0"/>
            </a:br>
            <a:r>
              <a:rPr lang="en-US" altLang="ja-JP" dirty="0"/>
              <a:t>   2.   </a:t>
            </a:r>
            <a:r>
              <a:rPr lang="en-US" altLang="ja-JP" i="1" dirty="0"/>
              <a:t>l</a:t>
            </a:r>
            <a:r>
              <a:rPr lang="en-US" altLang="ja-JP" i="1" baseline="-25000" dirty="0"/>
              <a:t>i</a:t>
            </a:r>
            <a:r>
              <a:rPr lang="en-US" altLang="ja-JP" dirty="0"/>
              <a:t> = </a:t>
            </a:r>
            <a:r>
              <a:rPr lang="en-US" altLang="ja-JP" b="1" dirty="0"/>
              <a:t>read</a:t>
            </a:r>
            <a:r>
              <a:rPr lang="en-US" altLang="ja-JP" dirty="0"/>
              <a:t>(</a:t>
            </a:r>
            <a:r>
              <a:rPr lang="en-US" altLang="ja-JP" i="1" dirty="0"/>
              <a:t>Q),  </a:t>
            </a:r>
            <a:r>
              <a:rPr lang="en-US" altLang="ja-JP" i="1" dirty="0" err="1"/>
              <a:t>l</a:t>
            </a:r>
            <a:r>
              <a:rPr lang="en-US" altLang="ja-JP" i="1" baseline="-25000" dirty="0" err="1"/>
              <a:t>j</a:t>
            </a:r>
            <a:r>
              <a:rPr lang="en-US" altLang="ja-JP" i="1" dirty="0"/>
              <a:t> = </a:t>
            </a:r>
            <a:r>
              <a:rPr lang="en-US" altLang="ja-JP" b="1" dirty="0"/>
              <a:t>write</a:t>
            </a:r>
            <a:r>
              <a:rPr lang="en-US" altLang="ja-JP" dirty="0"/>
              <a:t>(</a:t>
            </a:r>
            <a:r>
              <a:rPr lang="en-US" altLang="ja-JP" i="1" dirty="0"/>
              <a:t>Q</a:t>
            </a:r>
            <a:r>
              <a:rPr lang="en-US" altLang="ja-JP" dirty="0"/>
              <a:t>).  They conflict.</a:t>
            </a:r>
            <a:br>
              <a:rPr lang="en-US" altLang="ja-JP" dirty="0"/>
            </a:br>
            <a:r>
              <a:rPr lang="en-US" altLang="ja-JP" dirty="0"/>
              <a:t>   3.   </a:t>
            </a:r>
            <a:r>
              <a:rPr lang="en-US" altLang="ja-JP" i="1" dirty="0"/>
              <a:t>l</a:t>
            </a:r>
            <a:r>
              <a:rPr lang="en-US" altLang="ja-JP" i="1" baseline="-25000" dirty="0"/>
              <a:t>i</a:t>
            </a:r>
            <a:r>
              <a:rPr lang="en-US" altLang="ja-JP" dirty="0"/>
              <a:t> = </a:t>
            </a:r>
            <a:r>
              <a:rPr lang="en-US" altLang="ja-JP" b="1" dirty="0"/>
              <a:t>write</a:t>
            </a:r>
            <a:r>
              <a:rPr lang="en-US" altLang="ja-JP" dirty="0"/>
              <a:t>(</a:t>
            </a:r>
            <a:r>
              <a:rPr lang="en-US" altLang="ja-JP" i="1" dirty="0"/>
              <a:t>Q), </a:t>
            </a:r>
            <a:r>
              <a:rPr lang="en-US" altLang="ja-JP" i="1" dirty="0" err="1"/>
              <a:t>l</a:t>
            </a:r>
            <a:r>
              <a:rPr lang="en-US" altLang="ja-JP" i="1" baseline="-25000" dirty="0" err="1"/>
              <a:t>j</a:t>
            </a:r>
            <a:r>
              <a:rPr lang="en-US" altLang="ja-JP" i="1" dirty="0"/>
              <a:t> = </a:t>
            </a:r>
            <a:r>
              <a:rPr lang="en-US" altLang="ja-JP" b="1" dirty="0"/>
              <a:t>read</a:t>
            </a:r>
            <a:r>
              <a:rPr lang="en-US" altLang="ja-JP" dirty="0"/>
              <a:t>(</a:t>
            </a:r>
            <a:r>
              <a:rPr lang="en-US" altLang="ja-JP" i="1" dirty="0"/>
              <a:t>Q</a:t>
            </a:r>
            <a:r>
              <a:rPr lang="en-US" altLang="ja-JP" dirty="0"/>
              <a:t>).   They conflict</a:t>
            </a:r>
            <a:br>
              <a:rPr lang="en-US" altLang="ja-JP" dirty="0"/>
            </a:br>
            <a:r>
              <a:rPr lang="en-US" altLang="ja-JP" dirty="0"/>
              <a:t>   4.   </a:t>
            </a:r>
            <a:r>
              <a:rPr lang="en-US" altLang="ja-JP" i="1" dirty="0"/>
              <a:t>l</a:t>
            </a:r>
            <a:r>
              <a:rPr lang="en-US" altLang="ja-JP" i="1" baseline="-25000" dirty="0"/>
              <a:t>i</a:t>
            </a:r>
            <a:r>
              <a:rPr lang="en-US" altLang="ja-JP" dirty="0"/>
              <a:t> = </a:t>
            </a:r>
            <a:r>
              <a:rPr lang="en-US" altLang="ja-JP" b="1" dirty="0"/>
              <a:t>write</a:t>
            </a:r>
            <a:r>
              <a:rPr lang="en-US" altLang="ja-JP" dirty="0"/>
              <a:t>(</a:t>
            </a:r>
            <a:r>
              <a:rPr lang="en-US" altLang="ja-JP" i="1" dirty="0"/>
              <a:t>Q), </a:t>
            </a:r>
            <a:r>
              <a:rPr lang="en-US" altLang="ja-JP" i="1" dirty="0" err="1"/>
              <a:t>l</a:t>
            </a:r>
            <a:r>
              <a:rPr lang="en-US" altLang="ja-JP" i="1" baseline="-25000" dirty="0" err="1"/>
              <a:t>j</a:t>
            </a:r>
            <a:r>
              <a:rPr lang="en-US" altLang="ja-JP" i="1" dirty="0"/>
              <a:t> = </a:t>
            </a:r>
            <a:r>
              <a:rPr lang="en-US" altLang="ja-JP" b="1" dirty="0"/>
              <a:t>write</a:t>
            </a:r>
            <a:r>
              <a:rPr lang="en-US" altLang="ja-JP" dirty="0"/>
              <a:t>(</a:t>
            </a:r>
            <a:r>
              <a:rPr lang="en-US" altLang="ja-JP" i="1" dirty="0"/>
              <a:t>Q</a:t>
            </a:r>
            <a:r>
              <a:rPr lang="en-US" altLang="ja-JP" dirty="0"/>
              <a:t>).  They conflict</a:t>
            </a:r>
          </a:p>
          <a:p>
            <a:r>
              <a:rPr lang="en-US" altLang="en-US" dirty="0"/>
              <a:t>Intuitively, a conflict between </a:t>
            </a:r>
            <a:r>
              <a:rPr lang="en-US" altLang="en-US" i="1" dirty="0"/>
              <a:t>l</a:t>
            </a:r>
            <a:r>
              <a:rPr lang="en-US" altLang="en-US" i="1" baseline="-25000" dirty="0"/>
              <a:t>i</a:t>
            </a:r>
            <a:r>
              <a:rPr lang="en-US" altLang="en-US" i="1" dirty="0"/>
              <a:t> </a:t>
            </a:r>
            <a:r>
              <a:rPr lang="en-US" altLang="en-US" dirty="0"/>
              <a:t>and </a:t>
            </a:r>
            <a:r>
              <a:rPr lang="en-US" altLang="en-US" i="1" dirty="0" err="1"/>
              <a:t>l</a:t>
            </a:r>
            <a:r>
              <a:rPr lang="en-US" altLang="en-US" i="1" baseline="-25000" dirty="0" err="1"/>
              <a:t>j</a:t>
            </a:r>
            <a:r>
              <a:rPr lang="en-US" altLang="en-US" dirty="0"/>
              <a:t> forces a (logical) temporal order between them.  </a:t>
            </a:r>
          </a:p>
          <a:p>
            <a:r>
              <a:rPr lang="en-US" altLang="en-US" dirty="0">
                <a:highlight>
                  <a:srgbClr val="FFFF00"/>
                </a:highlight>
              </a:rPr>
              <a:t>If </a:t>
            </a:r>
            <a:r>
              <a:rPr lang="en-US" altLang="en-US" i="1" dirty="0">
                <a:highlight>
                  <a:srgbClr val="FFFF00"/>
                </a:highlight>
              </a:rPr>
              <a:t>l</a:t>
            </a:r>
            <a:r>
              <a:rPr lang="en-US" altLang="en-US" i="1" baseline="-25000" dirty="0">
                <a:highlight>
                  <a:srgbClr val="FFFF00"/>
                </a:highlight>
              </a:rPr>
              <a:t>i</a:t>
            </a:r>
            <a:r>
              <a:rPr lang="en-US" altLang="en-US" dirty="0">
                <a:highlight>
                  <a:srgbClr val="FFFF00"/>
                </a:highlight>
              </a:rPr>
              <a:t> and </a:t>
            </a:r>
            <a:r>
              <a:rPr lang="en-US" altLang="en-US" i="1" dirty="0" err="1">
                <a:highlight>
                  <a:srgbClr val="FFFF00"/>
                </a:highlight>
              </a:rPr>
              <a:t>l</a:t>
            </a:r>
            <a:r>
              <a:rPr lang="en-US" altLang="en-US" i="1" baseline="-25000" dirty="0" err="1">
                <a:highlight>
                  <a:srgbClr val="FFFF00"/>
                </a:highlight>
              </a:rPr>
              <a:t>j</a:t>
            </a:r>
            <a:r>
              <a:rPr lang="en-US" altLang="en-US" dirty="0">
                <a:highlight>
                  <a:srgbClr val="FFFF00"/>
                </a:highlight>
              </a:rPr>
              <a:t> are consecutive in a schedule and they do not conflict, their results would remain the same even if they had been interchanged in the schedule</a:t>
            </a:r>
            <a:r>
              <a:rPr lang="en-US" altLang="en-US"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78586-C508-6C12-D38F-8054FBC0D050}"/>
            </a:ext>
          </a:extLst>
        </p:cNvPr>
        <p:cNvGrpSpPr/>
        <p:nvPr/>
      </p:nvGrpSpPr>
      <p:grpSpPr>
        <a:xfrm>
          <a:off x="0" y="0"/>
          <a:ext cx="0" cy="0"/>
          <a:chOff x="0" y="0"/>
          <a:chExt cx="0" cy="0"/>
        </a:xfrm>
      </p:grpSpPr>
      <p:sp>
        <p:nvSpPr>
          <p:cNvPr id="394242" name="Rectangle 2">
            <a:extLst>
              <a:ext uri="{FF2B5EF4-FFF2-40B4-BE49-F238E27FC236}">
                <a16:creationId xmlns:a16="http://schemas.microsoft.com/office/drawing/2014/main" id="{4B4155D7-1035-2C42-0292-CF7E458FB0F9}"/>
              </a:ext>
            </a:extLst>
          </p:cNvPr>
          <p:cNvSpPr>
            <a:spLocks noGrp="1" noChangeArrowheads="1"/>
          </p:cNvSpPr>
          <p:nvPr>
            <p:ph type="title"/>
          </p:nvPr>
        </p:nvSpPr>
        <p:spPr/>
        <p:txBody>
          <a:bodyPr/>
          <a:lstStyle/>
          <a:p>
            <a:pPr>
              <a:defRPr/>
            </a:pPr>
            <a:r>
              <a:rPr lang="en-US" dirty="0">
                <a:effectLst>
                  <a:outerShdw blurRad="38100" dist="38100" dir="2700000" algn="tl">
                    <a:srgbClr val="C0C0C0"/>
                  </a:outerShdw>
                </a:effectLst>
              </a:rPr>
              <a:t>Serializability</a:t>
            </a:r>
          </a:p>
        </p:txBody>
      </p:sp>
      <p:pic>
        <p:nvPicPr>
          <p:cNvPr id="2" name="Picture 18">
            <a:extLst>
              <a:ext uri="{FF2B5EF4-FFF2-40B4-BE49-F238E27FC236}">
                <a16:creationId xmlns:a16="http://schemas.microsoft.com/office/drawing/2014/main" id="{4FCE468D-6A10-B36E-E3B4-09BBCA724B6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63569" y="1843741"/>
            <a:ext cx="2249424" cy="1664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2F54E230-908D-694D-E1FF-26281AC30DA9}"/>
              </a:ext>
            </a:extLst>
          </p:cNvPr>
          <p:cNvSpPr txBox="1"/>
          <p:nvPr/>
        </p:nvSpPr>
        <p:spPr>
          <a:xfrm>
            <a:off x="1263569" y="936171"/>
            <a:ext cx="2437574" cy="338554"/>
          </a:xfrm>
          <a:prstGeom prst="rect">
            <a:avLst/>
          </a:prstGeom>
          <a:noFill/>
        </p:spPr>
        <p:txBody>
          <a:bodyPr wrap="square" rtlCol="0">
            <a:spAutoFit/>
          </a:bodyPr>
          <a:lstStyle/>
          <a:p>
            <a:r>
              <a:rPr lang="en-IN" dirty="0"/>
              <a:t>SERIAL SCHEDULE</a:t>
            </a:r>
          </a:p>
        </p:txBody>
      </p:sp>
      <p:pic>
        <p:nvPicPr>
          <p:cNvPr id="9" name="Picture 17">
            <a:extLst>
              <a:ext uri="{FF2B5EF4-FFF2-40B4-BE49-F238E27FC236}">
                <a16:creationId xmlns:a16="http://schemas.microsoft.com/office/drawing/2014/main" id="{4337E7CE-B5FF-3EB2-DCA0-F01DD43631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9143" y="1749643"/>
            <a:ext cx="3040063"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70EE535B-B942-EFAE-472F-E012D9B77993}"/>
              </a:ext>
            </a:extLst>
          </p:cNvPr>
          <p:cNvSpPr txBox="1"/>
          <p:nvPr/>
        </p:nvSpPr>
        <p:spPr>
          <a:xfrm>
            <a:off x="6013225" y="946854"/>
            <a:ext cx="2437574" cy="338554"/>
          </a:xfrm>
          <a:prstGeom prst="rect">
            <a:avLst/>
          </a:prstGeom>
          <a:noFill/>
        </p:spPr>
        <p:txBody>
          <a:bodyPr wrap="square" rtlCol="0">
            <a:spAutoFit/>
          </a:bodyPr>
          <a:lstStyle/>
          <a:p>
            <a:r>
              <a:rPr lang="en-IN" dirty="0"/>
              <a:t>PARRLLEL SCHEDULE</a:t>
            </a:r>
          </a:p>
        </p:txBody>
      </p:sp>
    </p:spTree>
    <p:extLst>
      <p:ext uri="{BB962C8B-B14F-4D97-AF65-F5344CB8AC3E}">
        <p14:creationId xmlns:p14="http://schemas.microsoft.com/office/powerpoint/2010/main" val="32355306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F19ED-913B-137F-5315-F1A97199F707}"/>
              </a:ext>
            </a:extLst>
          </p:cNvPr>
          <p:cNvSpPr>
            <a:spLocks noGrp="1"/>
          </p:cNvSpPr>
          <p:nvPr>
            <p:ph type="title"/>
          </p:nvPr>
        </p:nvSpPr>
        <p:spPr/>
        <p:txBody>
          <a:bodyPr/>
          <a:lstStyle/>
          <a:p>
            <a:r>
              <a:rPr lang="en-IN" dirty="0"/>
              <a:t>SERIALIZABILITY</a:t>
            </a:r>
          </a:p>
        </p:txBody>
      </p:sp>
      <p:graphicFrame>
        <p:nvGraphicFramePr>
          <p:cNvPr id="4" name="Content Placeholder 3">
            <a:extLst>
              <a:ext uri="{FF2B5EF4-FFF2-40B4-BE49-F238E27FC236}">
                <a16:creationId xmlns:a16="http://schemas.microsoft.com/office/drawing/2014/main" id="{70DB8F5B-70C9-D591-BB78-6AF92A2619AE}"/>
              </a:ext>
            </a:extLst>
          </p:cNvPr>
          <p:cNvGraphicFramePr>
            <a:graphicFrameLocks noGrp="1"/>
          </p:cNvGraphicFramePr>
          <p:nvPr>
            <p:ph idx="1"/>
            <p:extLst>
              <p:ext uri="{D42A27DB-BD31-4B8C-83A1-F6EECF244321}">
                <p14:modId xmlns:p14="http://schemas.microsoft.com/office/powerpoint/2010/main" val="1077002097"/>
              </p:ext>
            </p:extLst>
          </p:nvPr>
        </p:nvGraphicFramePr>
        <p:xfrm>
          <a:off x="2427514" y="1306286"/>
          <a:ext cx="3733800" cy="4539348"/>
        </p:xfrm>
        <a:graphic>
          <a:graphicData uri="http://schemas.openxmlformats.org/drawingml/2006/table">
            <a:tbl>
              <a:tblPr>
                <a:tableStyleId>{5C22544A-7EE6-4342-B048-85BDC9FD1C3A}</a:tableStyleId>
              </a:tblPr>
              <a:tblGrid>
                <a:gridCol w="1244600">
                  <a:extLst>
                    <a:ext uri="{9D8B030D-6E8A-4147-A177-3AD203B41FA5}">
                      <a16:colId xmlns:a16="http://schemas.microsoft.com/office/drawing/2014/main" val="1823269875"/>
                    </a:ext>
                  </a:extLst>
                </a:gridCol>
                <a:gridCol w="1244600">
                  <a:extLst>
                    <a:ext uri="{9D8B030D-6E8A-4147-A177-3AD203B41FA5}">
                      <a16:colId xmlns:a16="http://schemas.microsoft.com/office/drawing/2014/main" val="2583051298"/>
                    </a:ext>
                  </a:extLst>
                </a:gridCol>
                <a:gridCol w="1244600">
                  <a:extLst>
                    <a:ext uri="{9D8B030D-6E8A-4147-A177-3AD203B41FA5}">
                      <a16:colId xmlns:a16="http://schemas.microsoft.com/office/drawing/2014/main" val="4180510988"/>
                    </a:ext>
                  </a:extLst>
                </a:gridCol>
              </a:tblGrid>
              <a:tr h="412668">
                <a:tc>
                  <a:txBody>
                    <a:bodyPr/>
                    <a:lstStyle/>
                    <a:p>
                      <a:pPr algn="l" fontAlgn="b">
                        <a:buNone/>
                      </a:pPr>
                      <a:r>
                        <a:rPr lang="en-IN" sz="1400" u="none" strike="noStrike">
                          <a:effectLst/>
                        </a:rPr>
                        <a:t>T1</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T2</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T3</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39243297"/>
                  </a:ext>
                </a:extLst>
              </a:tr>
              <a:tr h="412668">
                <a:tc>
                  <a:txBody>
                    <a:bodyPr/>
                    <a:lstStyle/>
                    <a:p>
                      <a:pPr algn="l" fontAlgn="b">
                        <a:buNone/>
                      </a:pPr>
                      <a:r>
                        <a:rPr lang="en-IN" sz="1400" u="none" strike="noStrike">
                          <a:effectLst/>
                        </a:rPr>
                        <a:t>R(X)</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810788185"/>
                  </a:ext>
                </a:extLst>
              </a:tr>
              <a:tr h="412668">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R(Y)</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925539777"/>
                  </a:ext>
                </a:extLst>
              </a:tr>
              <a:tr h="412668">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R(X)</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034613272"/>
                  </a:ext>
                </a:extLst>
              </a:tr>
              <a:tr h="412668">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R(Y)</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dirty="0">
                          <a:effectLst/>
                        </a:rPr>
                        <a:t> </a:t>
                      </a:r>
                      <a:endParaRPr lang="en-IN" sz="1400" b="1"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690449816"/>
                  </a:ext>
                </a:extLst>
              </a:tr>
              <a:tr h="412668">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R(Z)</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733653360"/>
                  </a:ext>
                </a:extLst>
              </a:tr>
              <a:tr h="412668">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W(Y)</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10884155"/>
                  </a:ext>
                </a:extLst>
              </a:tr>
              <a:tr h="412668">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W(Z)</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963394361"/>
                  </a:ext>
                </a:extLst>
              </a:tr>
              <a:tr h="412668">
                <a:tc>
                  <a:txBody>
                    <a:bodyPr/>
                    <a:lstStyle/>
                    <a:p>
                      <a:pPr algn="l" fontAlgn="b">
                        <a:buNone/>
                      </a:pPr>
                      <a:r>
                        <a:rPr lang="en-IN" sz="1400" u="none" strike="noStrike">
                          <a:effectLst/>
                        </a:rPr>
                        <a:t>R(Z)</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370591460"/>
                  </a:ext>
                </a:extLst>
              </a:tr>
              <a:tr h="412668">
                <a:tc>
                  <a:txBody>
                    <a:bodyPr/>
                    <a:lstStyle/>
                    <a:p>
                      <a:pPr algn="l" fontAlgn="b">
                        <a:buNone/>
                      </a:pPr>
                      <a:r>
                        <a:rPr lang="en-IN" sz="1400" u="none" strike="noStrike">
                          <a:effectLst/>
                        </a:rPr>
                        <a:t>W(X)</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800129798"/>
                  </a:ext>
                </a:extLst>
              </a:tr>
              <a:tr h="412668">
                <a:tc>
                  <a:txBody>
                    <a:bodyPr/>
                    <a:lstStyle/>
                    <a:p>
                      <a:pPr algn="l" fontAlgn="b">
                        <a:buNone/>
                      </a:pPr>
                      <a:r>
                        <a:rPr lang="en-IN" sz="1400" u="none" strike="noStrike">
                          <a:effectLst/>
                        </a:rPr>
                        <a:t>W(Z)</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dirty="0">
                          <a:effectLst/>
                        </a:rPr>
                        <a:t> </a:t>
                      </a:r>
                      <a:endParaRPr lang="en-IN" sz="1400" b="1"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330308459"/>
                  </a:ext>
                </a:extLst>
              </a:tr>
            </a:tbl>
          </a:graphicData>
        </a:graphic>
      </p:graphicFrame>
      <p:sp>
        <p:nvSpPr>
          <p:cNvPr id="3" name="TextBox 2">
            <a:extLst>
              <a:ext uri="{FF2B5EF4-FFF2-40B4-BE49-F238E27FC236}">
                <a16:creationId xmlns:a16="http://schemas.microsoft.com/office/drawing/2014/main" id="{00F9CBAD-9D38-33C7-BB7B-52A3DE6625CE}"/>
              </a:ext>
            </a:extLst>
          </p:cNvPr>
          <p:cNvSpPr txBox="1"/>
          <p:nvPr/>
        </p:nvSpPr>
        <p:spPr>
          <a:xfrm>
            <a:off x="6749142" y="1164771"/>
            <a:ext cx="2096407" cy="3293209"/>
          </a:xfrm>
          <a:prstGeom prst="rect">
            <a:avLst/>
          </a:prstGeom>
          <a:noFill/>
        </p:spPr>
        <p:txBody>
          <a:bodyPr wrap="square" rtlCol="0">
            <a:spAutoFit/>
          </a:bodyPr>
          <a:lstStyle/>
          <a:p>
            <a:r>
              <a:rPr lang="en-IN" dirty="0"/>
              <a:t>THESE PARALLEL SCHEDULE CAN BE CONVERTED IN TO 3! SERIAL SCHEDULE</a:t>
            </a:r>
          </a:p>
          <a:p>
            <a:r>
              <a:rPr lang="en-IN" dirty="0"/>
              <a:t>T1-&gt;T2-&gt;T3</a:t>
            </a:r>
          </a:p>
          <a:p>
            <a:r>
              <a:rPr lang="en-IN" dirty="0"/>
              <a:t>T1-&gt;T3-&gt;T2</a:t>
            </a:r>
          </a:p>
          <a:p>
            <a:r>
              <a:rPr lang="en-IN" dirty="0"/>
              <a:t>T2-&gt;T1-&gt;T3</a:t>
            </a:r>
          </a:p>
          <a:p>
            <a:r>
              <a:rPr lang="en-IN" dirty="0"/>
              <a:t>T2-&gt;T3-&gt;T1</a:t>
            </a:r>
          </a:p>
          <a:p>
            <a:r>
              <a:rPr lang="en-IN" dirty="0"/>
              <a:t>T3-&gt;T2-&gt;T1</a:t>
            </a:r>
          </a:p>
          <a:p>
            <a:r>
              <a:rPr lang="en-IN" dirty="0"/>
              <a:t>T3-&gt;T1-&gt;T2</a:t>
            </a:r>
          </a:p>
          <a:p>
            <a:endParaRPr lang="en-IN" dirty="0"/>
          </a:p>
          <a:p>
            <a:endParaRPr lang="en-IN" dirty="0"/>
          </a:p>
        </p:txBody>
      </p:sp>
      <p:sp>
        <p:nvSpPr>
          <p:cNvPr id="5" name="TextBox 4">
            <a:extLst>
              <a:ext uri="{FF2B5EF4-FFF2-40B4-BE49-F238E27FC236}">
                <a16:creationId xmlns:a16="http://schemas.microsoft.com/office/drawing/2014/main" id="{32658E8B-0053-D631-452D-21A7CB1BAF9E}"/>
              </a:ext>
            </a:extLst>
          </p:cNvPr>
          <p:cNvSpPr txBox="1"/>
          <p:nvPr/>
        </p:nvSpPr>
        <p:spPr>
          <a:xfrm>
            <a:off x="3015343" y="881743"/>
            <a:ext cx="2688771" cy="338554"/>
          </a:xfrm>
          <a:prstGeom prst="rect">
            <a:avLst/>
          </a:prstGeom>
          <a:noFill/>
        </p:spPr>
        <p:txBody>
          <a:bodyPr wrap="square" rtlCol="0">
            <a:spAutoFit/>
          </a:bodyPr>
          <a:lstStyle/>
          <a:p>
            <a:r>
              <a:rPr lang="en-IN" dirty="0"/>
              <a:t>PARALLEL SCHEDULE </a:t>
            </a:r>
          </a:p>
        </p:txBody>
      </p:sp>
    </p:spTree>
    <p:extLst>
      <p:ext uri="{BB962C8B-B14F-4D97-AF65-F5344CB8AC3E}">
        <p14:creationId xmlns:p14="http://schemas.microsoft.com/office/powerpoint/2010/main" val="12061135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p:txBody>
          <a:bodyPr/>
          <a:lstStyle/>
          <a:p>
            <a:pPr>
              <a:defRPr/>
            </a:pPr>
            <a:r>
              <a:rPr lang="en-US" i="1">
                <a:effectLst>
                  <a:outerShdw blurRad="38100" dist="38100" dir="2700000" algn="tl">
                    <a:srgbClr val="C0C0C0"/>
                  </a:outerShdw>
                </a:effectLst>
              </a:rPr>
              <a:t>Simplified view of transactions</a:t>
            </a:r>
          </a:p>
        </p:txBody>
      </p:sp>
      <p:sp>
        <p:nvSpPr>
          <p:cNvPr id="20483" name="Rectangle 3"/>
          <p:cNvSpPr>
            <a:spLocks noGrp="1" noChangeArrowheads="1"/>
          </p:cNvSpPr>
          <p:nvPr>
            <p:ph idx="1"/>
          </p:nvPr>
        </p:nvSpPr>
        <p:spPr>
          <a:xfrm>
            <a:off x="674703" y="1102497"/>
            <a:ext cx="7874494" cy="5367972"/>
          </a:xfrm>
        </p:spPr>
        <p:txBody>
          <a:bodyPr/>
          <a:lstStyle/>
          <a:p>
            <a:r>
              <a:rPr lang="en-US" altLang="en-US" dirty="0">
                <a:highlight>
                  <a:srgbClr val="FFFF00"/>
                </a:highlight>
              </a:rPr>
              <a:t>We ignore operations other than </a:t>
            </a:r>
            <a:r>
              <a:rPr lang="en-US" altLang="en-US" b="1" dirty="0">
                <a:highlight>
                  <a:srgbClr val="FFFF00"/>
                </a:highlight>
              </a:rPr>
              <a:t>read</a:t>
            </a:r>
            <a:r>
              <a:rPr lang="en-US" altLang="en-US" dirty="0">
                <a:highlight>
                  <a:srgbClr val="FFFF00"/>
                </a:highlight>
              </a:rPr>
              <a:t> and </a:t>
            </a:r>
            <a:r>
              <a:rPr lang="en-US" altLang="en-US" b="1" dirty="0">
                <a:highlight>
                  <a:srgbClr val="FFFF00"/>
                </a:highlight>
              </a:rPr>
              <a:t>write</a:t>
            </a:r>
            <a:r>
              <a:rPr lang="en-US" altLang="en-US" dirty="0">
                <a:highlight>
                  <a:srgbClr val="FFFF00"/>
                </a:highlight>
              </a:rPr>
              <a:t> instructions</a:t>
            </a:r>
          </a:p>
          <a:p>
            <a:r>
              <a:rPr lang="en-US" altLang="en-US" dirty="0">
                <a:highlight>
                  <a:srgbClr val="FFFF00"/>
                </a:highlight>
              </a:rPr>
              <a:t>We assume that transactions may perform arbitrary computations on data in local buffers in between reads and writes.  </a:t>
            </a:r>
          </a:p>
          <a:p>
            <a:r>
              <a:rPr lang="en-US" altLang="en-US" dirty="0">
                <a:highlight>
                  <a:srgbClr val="FFFF00"/>
                </a:highlight>
              </a:rPr>
              <a:t>Our simplified schedules consist of only </a:t>
            </a:r>
            <a:r>
              <a:rPr lang="en-US" altLang="en-US" b="1" dirty="0">
                <a:highlight>
                  <a:srgbClr val="FFFF00"/>
                </a:highlight>
              </a:rPr>
              <a:t>read</a:t>
            </a:r>
            <a:r>
              <a:rPr lang="en-US" altLang="en-US" dirty="0">
                <a:highlight>
                  <a:srgbClr val="FFFF00"/>
                </a:highlight>
              </a:rPr>
              <a:t> and </a:t>
            </a:r>
            <a:r>
              <a:rPr lang="en-US" altLang="en-US" b="1" dirty="0">
                <a:highlight>
                  <a:srgbClr val="FFFF00"/>
                </a:highlight>
              </a:rPr>
              <a:t>write </a:t>
            </a:r>
            <a:r>
              <a:rPr lang="en-US" altLang="en-US" dirty="0">
                <a:highlight>
                  <a:srgbClr val="FFFF00"/>
                </a:highlight>
              </a:rPr>
              <a:t>instructions.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a:t>
            </a:r>
          </a:p>
        </p:txBody>
      </p:sp>
      <p:sp>
        <p:nvSpPr>
          <p:cNvPr id="22531" name="Rectangle 3"/>
          <p:cNvSpPr>
            <a:spLocks noGrp="1" noChangeArrowheads="1"/>
          </p:cNvSpPr>
          <p:nvPr>
            <p:ph idx="1"/>
          </p:nvPr>
        </p:nvSpPr>
        <p:spPr>
          <a:xfrm>
            <a:off x="683581" y="1102497"/>
            <a:ext cx="7750206" cy="5367972"/>
          </a:xfrm>
        </p:spPr>
        <p:txBody>
          <a:bodyPr/>
          <a:lstStyle/>
          <a:p>
            <a:pPr>
              <a:tabLst>
                <a:tab pos="2222500" algn="l"/>
                <a:tab pos="2568575" algn="l"/>
                <a:tab pos="3319463" algn="l"/>
                <a:tab pos="3594100" algn="l"/>
              </a:tabLst>
            </a:pPr>
            <a:r>
              <a:rPr lang="en-US" altLang="en-US" dirty="0">
                <a:highlight>
                  <a:srgbClr val="FFFF00"/>
                </a:highlight>
              </a:rPr>
              <a:t>If a schedule </a:t>
            </a:r>
            <a:r>
              <a:rPr lang="en-US" altLang="en-US" i="1" dirty="0">
                <a:highlight>
                  <a:srgbClr val="FFFF00"/>
                </a:highlight>
              </a:rPr>
              <a:t>S</a:t>
            </a:r>
            <a:r>
              <a:rPr lang="en-US" altLang="en-US" dirty="0">
                <a:highlight>
                  <a:srgbClr val="FFFF00"/>
                </a:highlight>
              </a:rPr>
              <a:t> can be transformed into a schedule </a:t>
            </a:r>
            <a:r>
              <a:rPr lang="en-US" altLang="en-US" i="1" dirty="0">
                <a:highlight>
                  <a:srgbClr val="FFFF00"/>
                </a:highlight>
              </a:rPr>
              <a:t>S’ </a:t>
            </a:r>
            <a:r>
              <a:rPr lang="en-US" altLang="en-US" dirty="0">
                <a:highlight>
                  <a:srgbClr val="FFFF00"/>
                </a:highlight>
              </a:rPr>
              <a:t>by a series of swaps of non-conflicting instructions, we say that </a:t>
            </a:r>
            <a:r>
              <a:rPr lang="en-US" altLang="en-US" i="1" dirty="0">
                <a:highlight>
                  <a:srgbClr val="FFFF00"/>
                </a:highlight>
              </a:rPr>
              <a:t>S</a:t>
            </a:r>
            <a:r>
              <a:rPr lang="en-US" altLang="en-US" dirty="0">
                <a:highlight>
                  <a:srgbClr val="FFFF00"/>
                </a:highlight>
              </a:rPr>
              <a:t> and </a:t>
            </a:r>
            <a:r>
              <a:rPr lang="en-US" altLang="en-US" i="1" dirty="0">
                <a:highlight>
                  <a:srgbClr val="FFFF00"/>
                </a:highlight>
              </a:rPr>
              <a:t>S’ </a:t>
            </a:r>
            <a:r>
              <a:rPr lang="en-US" altLang="en-US" dirty="0">
                <a:highlight>
                  <a:srgbClr val="FFFF00"/>
                </a:highlight>
              </a:rPr>
              <a:t>are </a:t>
            </a:r>
            <a:r>
              <a:rPr lang="en-US" altLang="en-US" b="1" dirty="0">
                <a:solidFill>
                  <a:srgbClr val="000099"/>
                </a:solidFill>
                <a:highlight>
                  <a:srgbClr val="FFFF00"/>
                </a:highlight>
              </a:rPr>
              <a:t>conflict equivalent</a:t>
            </a:r>
            <a:r>
              <a:rPr lang="en-US" altLang="en-US" i="1" dirty="0">
                <a:highlight>
                  <a:srgbClr val="FFFF00"/>
                </a:highlight>
              </a:rPr>
              <a:t>.</a:t>
            </a:r>
            <a:endParaRPr lang="en-US" altLang="en-US" dirty="0">
              <a:highlight>
                <a:srgbClr val="FFFF00"/>
              </a:highlight>
            </a:endParaRPr>
          </a:p>
          <a:p>
            <a:pPr>
              <a:tabLst>
                <a:tab pos="2222500" algn="l"/>
                <a:tab pos="2568575" algn="l"/>
                <a:tab pos="3319463" algn="l"/>
                <a:tab pos="3594100" algn="l"/>
              </a:tabLst>
            </a:pPr>
            <a:r>
              <a:rPr lang="en-US" altLang="en-US" dirty="0">
                <a:highlight>
                  <a:srgbClr val="FFFF00"/>
                </a:highlight>
              </a:rPr>
              <a:t>We say that a schedule </a:t>
            </a:r>
            <a:r>
              <a:rPr lang="en-US" altLang="en-US" i="1" dirty="0">
                <a:highlight>
                  <a:srgbClr val="FFFF00"/>
                </a:highlight>
              </a:rPr>
              <a:t>S</a:t>
            </a:r>
            <a:r>
              <a:rPr lang="en-US" altLang="en-US" dirty="0">
                <a:highlight>
                  <a:srgbClr val="FFFF00"/>
                </a:highlight>
              </a:rPr>
              <a:t> is </a:t>
            </a:r>
            <a:r>
              <a:rPr lang="en-US" altLang="en-US" b="1" dirty="0">
                <a:solidFill>
                  <a:srgbClr val="000099"/>
                </a:solidFill>
                <a:highlight>
                  <a:srgbClr val="FFFF00"/>
                </a:highlight>
              </a:rPr>
              <a:t>conflict serializable</a:t>
            </a:r>
            <a:r>
              <a:rPr lang="en-US" altLang="en-US" dirty="0">
                <a:highlight>
                  <a:srgbClr val="FFFF00"/>
                </a:highlight>
              </a:rPr>
              <a:t> if it is conflict equivalent to a serial schedule</a:t>
            </a:r>
          </a:p>
          <a:p>
            <a:pPr>
              <a:tabLst>
                <a:tab pos="2222500" algn="l"/>
                <a:tab pos="2568575" algn="l"/>
                <a:tab pos="3319463" algn="l"/>
                <a:tab pos="3594100" algn="l"/>
              </a:tabLst>
            </a:pPr>
            <a:r>
              <a:rPr lang="en-US" b="1" dirty="0"/>
              <a:t>Conflict serializability</a:t>
            </a:r>
            <a:r>
              <a:rPr lang="en-US" dirty="0"/>
              <a:t> is a concept in transaction management within database systems. It ensures that a schedule (sequence of read and write operations from different transactions) is </a:t>
            </a:r>
            <a:r>
              <a:rPr lang="en-US" sz="2000" b="1" dirty="0"/>
              <a:t>conflict-serializable</a:t>
            </a:r>
            <a:r>
              <a:rPr lang="en-US" b="1" dirty="0"/>
              <a:t> </a:t>
            </a:r>
            <a:r>
              <a:rPr lang="en-US" dirty="0"/>
              <a:t>if it can be transformed into a </a:t>
            </a:r>
            <a:r>
              <a:rPr lang="en-US" sz="1800" b="1" dirty="0"/>
              <a:t>serial schedule </a:t>
            </a:r>
            <a:r>
              <a:rPr lang="en-US" dirty="0"/>
              <a:t>by swapping non-conflicting operations.</a:t>
            </a:r>
          </a:p>
          <a:p>
            <a:pPr>
              <a:tabLst>
                <a:tab pos="2222500" algn="l"/>
                <a:tab pos="2568575" algn="l"/>
                <a:tab pos="3319463" algn="l"/>
                <a:tab pos="3594100" algn="l"/>
              </a:tabLst>
            </a:pP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CB4A4-7C45-C224-6CC2-6F6682B63DAB}"/>
              </a:ext>
            </a:extLst>
          </p:cNvPr>
          <p:cNvSpPr>
            <a:spLocks noGrp="1"/>
          </p:cNvSpPr>
          <p:nvPr>
            <p:ph type="title"/>
          </p:nvPr>
        </p:nvSpPr>
        <p:spPr/>
        <p:txBody>
          <a:bodyPr/>
          <a:lstStyle/>
          <a:p>
            <a:endParaRPr lang="en-GB"/>
          </a:p>
        </p:txBody>
      </p:sp>
      <p:sp>
        <p:nvSpPr>
          <p:cNvPr id="4" name="Rectangle 1">
            <a:extLst>
              <a:ext uri="{FF2B5EF4-FFF2-40B4-BE49-F238E27FC236}">
                <a16:creationId xmlns:a16="http://schemas.microsoft.com/office/drawing/2014/main" id="{7A8ED362-4D33-3F14-774F-08931F13EDFE}"/>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Read-Write conflict</a:t>
            </a:r>
            <a:r>
              <a:rPr kumimoji="0" lang="en-US" altLang="en-US" sz="1800" b="0" i="0" u="none" strike="noStrike" cap="none" normalizeH="0" baseline="0">
                <a:ln>
                  <a:noFill/>
                </a:ln>
                <a:solidFill>
                  <a:schemeClr val="tx1"/>
                </a:solidFill>
                <a:effectLst/>
                <a:latin typeface="Arial" panose="020B0604020202020204" pitchFamily="34" charset="0"/>
              </a:rPr>
              <a:t>: One transaction reads a data item, and another writes to 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Write-Write conflict</a:t>
            </a:r>
            <a:r>
              <a:rPr kumimoji="0" lang="en-US" altLang="en-US" sz="1800" b="0" i="0" u="none" strike="noStrike" cap="none" normalizeH="0" baseline="0">
                <a:ln>
                  <a:noFill/>
                </a:ln>
                <a:solidFill>
                  <a:schemeClr val="tx1"/>
                </a:solidFill>
                <a:effectLst/>
                <a:latin typeface="Arial" panose="020B0604020202020204" pitchFamily="34" charset="0"/>
              </a:rPr>
              <a:t>: Two transactions write to the same data item.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Write-Read conflict</a:t>
            </a:r>
            <a:r>
              <a:rPr kumimoji="0" lang="en-US" altLang="en-US" sz="1800" b="0" i="0" u="none" strike="noStrike" cap="none" normalizeH="0" baseline="0">
                <a:ln>
                  <a:noFill/>
                </a:ln>
                <a:solidFill>
                  <a:schemeClr val="tx1"/>
                </a:solidFill>
                <a:effectLst/>
                <a:latin typeface="Arial" panose="020B0604020202020204" pitchFamily="34" charset="0"/>
              </a:rPr>
              <a:t>: One transaction writes to a data item, and another reads it. </a:t>
            </a:r>
          </a:p>
        </p:txBody>
      </p:sp>
    </p:spTree>
    <p:extLst>
      <p:ext uri="{BB962C8B-B14F-4D97-AF65-F5344CB8AC3E}">
        <p14:creationId xmlns:p14="http://schemas.microsoft.com/office/powerpoint/2010/main" val="40541947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p>
        </p:txBody>
      </p:sp>
      <p:sp>
        <p:nvSpPr>
          <p:cNvPr id="23555" name="Rectangle 3"/>
          <p:cNvSpPr>
            <a:spLocks noGrp="1" noChangeArrowheads="1"/>
          </p:cNvSpPr>
          <p:nvPr>
            <p:ph idx="1"/>
          </p:nvPr>
        </p:nvSpPr>
        <p:spPr>
          <a:xfrm>
            <a:off x="683580" y="1102497"/>
            <a:ext cx="8161969" cy="5367972"/>
          </a:xfrm>
        </p:spPr>
        <p:txBody>
          <a:bodyPr/>
          <a:lstStyle/>
          <a:p>
            <a:pPr>
              <a:tabLst>
                <a:tab pos="2063750" algn="l"/>
                <a:tab pos="2511425" algn="l"/>
                <a:tab pos="3262313" algn="l"/>
                <a:tab pos="3881438" algn="l"/>
              </a:tabLst>
            </a:pPr>
            <a:r>
              <a:rPr lang="en-US" altLang="en-US" dirty="0"/>
              <a:t>Schedule 3 can be transformed into Schedule 6, a serial schedule where </a:t>
            </a:r>
            <a:r>
              <a:rPr lang="en-US" altLang="en-US" i="1" dirty="0"/>
              <a:t>T</a:t>
            </a:r>
            <a:r>
              <a:rPr lang="en-US" altLang="en-US" baseline="-25000" dirty="0"/>
              <a:t>2</a:t>
            </a:r>
            <a:r>
              <a:rPr lang="en-US" altLang="en-US" dirty="0"/>
              <a:t> follows </a:t>
            </a:r>
            <a:r>
              <a:rPr lang="en-US" altLang="en-US" i="1" dirty="0"/>
              <a:t>T</a:t>
            </a:r>
            <a:r>
              <a:rPr lang="en-US" altLang="en-US" baseline="-25000" dirty="0"/>
              <a:t>1</a:t>
            </a:r>
            <a:r>
              <a:rPr lang="en-US" altLang="en-US" dirty="0"/>
              <a:t>, by series of swaps of non-conflicting instructions.  FIRST CHECK ADJUSTING NON CONFLICT PAIR AND THEN SWAP THEM.</a:t>
            </a:r>
          </a:p>
          <a:p>
            <a:pPr>
              <a:tabLst>
                <a:tab pos="2063750" algn="l"/>
                <a:tab pos="2511425" algn="l"/>
                <a:tab pos="3262313" algn="l"/>
                <a:tab pos="3881438" algn="l"/>
              </a:tabLst>
            </a:pPr>
            <a:r>
              <a:rPr lang="en-US" altLang="en-US" dirty="0"/>
              <a:t>Therefore </a:t>
            </a:r>
            <a:r>
              <a:rPr lang="en-US" altLang="en-US" b="1" dirty="0"/>
              <a:t>Schedule 3 is </a:t>
            </a:r>
            <a:r>
              <a:rPr lang="en-US" altLang="en-US" sz="2000" b="1" dirty="0"/>
              <a:t>conflict serializable</a:t>
            </a:r>
            <a:r>
              <a:rPr lang="en-US" altLang="en-US" b="1" dirty="0"/>
              <a:t>.</a:t>
            </a:r>
          </a:p>
        </p:txBody>
      </p:sp>
      <p:sp>
        <p:nvSpPr>
          <p:cNvPr id="23556" name="Text Box 11"/>
          <p:cNvSpPr txBox="1">
            <a:spLocks noChangeArrowheads="1"/>
          </p:cNvSpPr>
          <p:nvPr/>
        </p:nvSpPr>
        <p:spPr bwMode="auto">
          <a:xfrm>
            <a:off x="2209808" y="5804709"/>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3</a:t>
            </a:r>
          </a:p>
        </p:txBody>
      </p:sp>
      <p:sp>
        <p:nvSpPr>
          <p:cNvPr id="23557" name="Text Box 12"/>
          <p:cNvSpPr txBox="1">
            <a:spLocks noChangeArrowheads="1"/>
          </p:cNvSpPr>
          <p:nvPr/>
        </p:nvSpPr>
        <p:spPr bwMode="auto">
          <a:xfrm>
            <a:off x="6294433" y="5627737"/>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6</a:t>
            </a:r>
          </a:p>
        </p:txBody>
      </p:sp>
      <p:pic>
        <p:nvPicPr>
          <p:cNvPr id="23558"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937" y="3030680"/>
            <a:ext cx="3040063"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0357" y="3030680"/>
            <a:ext cx="3111500"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3ABBA45C-FDD4-DDD2-D388-5D52A463A0FD}"/>
              </a:ext>
            </a:extLst>
          </p:cNvPr>
          <p:cNvSpPr txBox="1"/>
          <p:nvPr/>
        </p:nvSpPr>
        <p:spPr>
          <a:xfrm>
            <a:off x="2590801" y="6082095"/>
            <a:ext cx="5941056" cy="584775"/>
          </a:xfrm>
          <a:prstGeom prst="rect">
            <a:avLst/>
          </a:prstGeom>
          <a:noFill/>
        </p:spPr>
        <p:txBody>
          <a:bodyPr wrap="square" rtlCol="0">
            <a:spAutoFit/>
          </a:bodyPr>
          <a:lstStyle/>
          <a:p>
            <a:r>
              <a:rPr lang="en-IN" b="1" dirty="0"/>
              <a:t>SO SCHEDULE 3 AND SCHEDULE 6 ARE CONFLICT EQUIVALENT SCHEDULE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p>
        </p:txBody>
      </p:sp>
      <p:sp>
        <p:nvSpPr>
          <p:cNvPr id="24579" name="Rectangle 3"/>
          <p:cNvSpPr>
            <a:spLocks noGrp="1" noChangeArrowheads="1"/>
          </p:cNvSpPr>
          <p:nvPr>
            <p:ph idx="1"/>
          </p:nvPr>
        </p:nvSpPr>
        <p:spPr>
          <a:xfrm>
            <a:off x="701336" y="1102497"/>
            <a:ext cx="7688062" cy="5367972"/>
          </a:xfrm>
        </p:spPr>
        <p:txBody>
          <a:bodyPr/>
          <a:lstStyle/>
          <a:p>
            <a:pPr>
              <a:tabLst>
                <a:tab pos="2222500" algn="l"/>
                <a:tab pos="2568575" algn="l"/>
                <a:tab pos="3319463" algn="l"/>
                <a:tab pos="3594100" algn="l"/>
              </a:tabLst>
            </a:pPr>
            <a:r>
              <a:rPr lang="en-US" altLang="en-US" dirty="0"/>
              <a:t>Example of a schedule that is not conflict serializable:</a:t>
            </a:r>
            <a:br>
              <a:rPr lang="en-US" altLang="en-US" dirty="0"/>
            </a:br>
            <a:br>
              <a:rPr lang="en-US" altLang="en-US" dirty="0"/>
            </a:br>
            <a:br>
              <a:rPr lang="en-US" altLang="en-US" dirty="0"/>
            </a:br>
            <a:br>
              <a:rPr lang="en-US" altLang="en-US" dirty="0"/>
            </a:br>
            <a:br>
              <a:rPr lang="en-US" altLang="en-US" dirty="0"/>
            </a:br>
            <a:endParaRPr lang="en-US" altLang="en-US" dirty="0"/>
          </a:p>
          <a:p>
            <a:pPr>
              <a:tabLst>
                <a:tab pos="2222500" algn="l"/>
                <a:tab pos="2568575" algn="l"/>
                <a:tab pos="3319463" algn="l"/>
                <a:tab pos="3594100" algn="l"/>
              </a:tabLst>
            </a:pPr>
            <a:r>
              <a:rPr lang="en-US" altLang="en-US" dirty="0"/>
              <a:t>We are unable to swap instructions in the above schedule to obtain either the serial schedule </a:t>
            </a:r>
            <a:r>
              <a:rPr lang="en-US" altLang="en-US" b="1" dirty="0"/>
              <a:t>&lt; </a:t>
            </a:r>
            <a:r>
              <a:rPr lang="en-US" altLang="en-US" b="1" i="1" dirty="0"/>
              <a:t>T</a:t>
            </a:r>
            <a:r>
              <a:rPr lang="en-US" altLang="en-US" b="1" baseline="-25000" dirty="0"/>
              <a:t>3</a:t>
            </a:r>
            <a:r>
              <a:rPr lang="en-US" altLang="en-US" b="1" dirty="0"/>
              <a:t>, </a:t>
            </a:r>
            <a:r>
              <a:rPr lang="en-US" altLang="en-US" b="1" i="1" dirty="0"/>
              <a:t>T</a:t>
            </a:r>
            <a:r>
              <a:rPr lang="en-US" altLang="en-US" b="1" baseline="-25000" dirty="0"/>
              <a:t>4</a:t>
            </a:r>
            <a:r>
              <a:rPr lang="en-US" altLang="en-US" b="1" dirty="0"/>
              <a:t> &gt;, </a:t>
            </a:r>
            <a:r>
              <a:rPr lang="en-US" altLang="en-US" dirty="0"/>
              <a:t>or the serial schedule </a:t>
            </a:r>
            <a:r>
              <a:rPr lang="en-US" altLang="en-US" b="1" dirty="0"/>
              <a:t>&lt; </a:t>
            </a:r>
            <a:r>
              <a:rPr lang="en-US" altLang="en-US" b="1" i="1" dirty="0"/>
              <a:t>T</a:t>
            </a:r>
            <a:r>
              <a:rPr lang="en-US" altLang="en-US" b="1" baseline="-25000" dirty="0"/>
              <a:t>4</a:t>
            </a:r>
            <a:r>
              <a:rPr lang="en-US" altLang="en-US" b="1" dirty="0"/>
              <a:t>, </a:t>
            </a:r>
            <a:r>
              <a:rPr lang="en-US" altLang="en-US" b="1" i="1" dirty="0"/>
              <a:t>T</a:t>
            </a:r>
            <a:r>
              <a:rPr lang="en-US" altLang="en-US" b="1" baseline="-25000" dirty="0"/>
              <a:t>3</a:t>
            </a:r>
            <a:r>
              <a:rPr lang="en-US" altLang="en-US" b="1" dirty="0"/>
              <a:t> &gt;.</a:t>
            </a:r>
          </a:p>
        </p:txBody>
      </p:sp>
      <p:pic>
        <p:nvPicPr>
          <p:cNvPr id="2458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0380" y="1557335"/>
            <a:ext cx="2840037"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Testing for Serializability </a:t>
            </a:r>
          </a:p>
        </p:txBody>
      </p:sp>
      <p:sp>
        <p:nvSpPr>
          <p:cNvPr id="28675" name="Rectangle 3"/>
          <p:cNvSpPr>
            <a:spLocks noGrp="1" noChangeArrowheads="1"/>
          </p:cNvSpPr>
          <p:nvPr>
            <p:ph idx="1"/>
          </p:nvPr>
        </p:nvSpPr>
        <p:spPr>
          <a:xfrm>
            <a:off x="692458" y="1102497"/>
            <a:ext cx="7522855" cy="5367972"/>
          </a:xfrm>
        </p:spPr>
        <p:txBody>
          <a:bodyPr/>
          <a:lstStyle/>
          <a:p>
            <a:r>
              <a:rPr lang="en-US" altLang="en-US" dirty="0"/>
              <a:t>Consider some schedule of a set of transactions </a:t>
            </a:r>
            <a:r>
              <a:rPr lang="en-US" altLang="en-US" i="1" dirty="0"/>
              <a:t>T</a:t>
            </a:r>
            <a:r>
              <a:rPr lang="en-US" altLang="en-US" baseline="-25000" dirty="0"/>
              <a:t>1</a:t>
            </a:r>
            <a:r>
              <a:rPr lang="en-US" altLang="en-US" dirty="0"/>
              <a:t>, </a:t>
            </a:r>
            <a:r>
              <a:rPr lang="en-US" altLang="en-US" i="1" dirty="0"/>
              <a:t>T</a:t>
            </a:r>
            <a:r>
              <a:rPr lang="en-US" altLang="en-US" baseline="-25000" dirty="0"/>
              <a:t>2</a:t>
            </a:r>
            <a:r>
              <a:rPr lang="en-US" altLang="en-US" dirty="0"/>
              <a:t>, ..., </a:t>
            </a:r>
            <a:r>
              <a:rPr lang="en-US" altLang="en-US" i="1" dirty="0"/>
              <a:t>T</a:t>
            </a:r>
            <a:r>
              <a:rPr lang="en-US" altLang="en-US" i="1" baseline="-25000" dirty="0"/>
              <a:t>n</a:t>
            </a:r>
            <a:endParaRPr lang="en-US" altLang="en-US" dirty="0"/>
          </a:p>
          <a:p>
            <a:r>
              <a:rPr lang="en-US" altLang="en-US" b="1" dirty="0">
                <a:solidFill>
                  <a:srgbClr val="000099"/>
                </a:solidFill>
              </a:rPr>
              <a:t>Precedence graph</a:t>
            </a:r>
            <a:r>
              <a:rPr lang="en-US" altLang="en-US" i="1" dirty="0"/>
              <a:t> </a:t>
            </a:r>
            <a:r>
              <a:rPr lang="en-US" altLang="en-US" dirty="0"/>
              <a:t>— a direct graph where the vertices are the transactions (names).</a:t>
            </a:r>
          </a:p>
          <a:p>
            <a:r>
              <a:rPr lang="en-US" altLang="en-US" dirty="0"/>
              <a:t>We draw an arc from </a:t>
            </a:r>
            <a:r>
              <a:rPr lang="en-US" altLang="en-US" i="1" dirty="0"/>
              <a:t>T</a:t>
            </a:r>
            <a:r>
              <a:rPr lang="en-US" altLang="en-US" i="1" baseline="-25000" dirty="0"/>
              <a:t>i</a:t>
            </a:r>
            <a:r>
              <a:rPr lang="en-US" altLang="en-US" i="1" dirty="0"/>
              <a:t> </a:t>
            </a:r>
            <a:r>
              <a:rPr lang="en-US" altLang="en-US" dirty="0"/>
              <a:t>to </a:t>
            </a:r>
            <a:r>
              <a:rPr lang="en-US" altLang="en-US" i="1" dirty="0"/>
              <a:t>T</a:t>
            </a:r>
            <a:r>
              <a:rPr lang="en-US" altLang="en-US" i="1" baseline="-25000" dirty="0"/>
              <a:t>j</a:t>
            </a:r>
            <a:r>
              <a:rPr lang="en-US" altLang="en-US" i="1" dirty="0"/>
              <a:t> </a:t>
            </a:r>
            <a:r>
              <a:rPr lang="en-US" altLang="en-US" dirty="0"/>
              <a:t>if the two transaction conflict, and </a:t>
            </a:r>
            <a:r>
              <a:rPr lang="en-US" altLang="en-US" i="1" dirty="0"/>
              <a:t>T</a:t>
            </a:r>
            <a:r>
              <a:rPr lang="en-US" altLang="en-US" i="1" baseline="-25000" dirty="0"/>
              <a:t>i</a:t>
            </a:r>
            <a:r>
              <a:rPr lang="en-US" altLang="en-US" i="1" dirty="0"/>
              <a:t> </a:t>
            </a:r>
            <a:r>
              <a:rPr lang="en-US" altLang="en-US" dirty="0"/>
              <a:t>accessed the data item on which the conflict arose earlier.</a:t>
            </a:r>
          </a:p>
          <a:p>
            <a:r>
              <a:rPr lang="en-US" altLang="en-US" dirty="0"/>
              <a:t>We may label the arc by the item that was accessed.</a:t>
            </a:r>
          </a:p>
          <a:p>
            <a:r>
              <a:rPr lang="en-US" altLang="en-US" dirty="0"/>
              <a:t>Example</a:t>
            </a:r>
            <a:r>
              <a:rPr lang="en-US" altLang="en-US" b="1" dirty="0"/>
              <a:t> </a:t>
            </a:r>
            <a:r>
              <a:rPr lang="en-US" altLang="en-US" dirty="0"/>
              <a:t>of a precedence graph</a:t>
            </a:r>
          </a:p>
        </p:txBody>
      </p:sp>
      <p:pic>
        <p:nvPicPr>
          <p:cNvPr id="28676"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6379" y="3471867"/>
            <a:ext cx="2174782"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98358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Conflict Serializability</a:t>
            </a:r>
          </a:p>
        </p:txBody>
      </p:sp>
      <p:sp>
        <p:nvSpPr>
          <p:cNvPr id="29699" name="Rectangle 3"/>
          <p:cNvSpPr>
            <a:spLocks noGrp="1" noChangeArrowheads="1"/>
          </p:cNvSpPr>
          <p:nvPr>
            <p:ph idx="1"/>
          </p:nvPr>
        </p:nvSpPr>
        <p:spPr>
          <a:xfrm>
            <a:off x="665825" y="1102497"/>
            <a:ext cx="4919966" cy="5367972"/>
          </a:xfrm>
        </p:spPr>
        <p:txBody>
          <a:bodyPr/>
          <a:lstStyle/>
          <a:p>
            <a:r>
              <a:rPr lang="en-US" altLang="en-US" dirty="0">
                <a:highlight>
                  <a:srgbClr val="FFFF00"/>
                </a:highlight>
              </a:rPr>
              <a:t>A schedule is conflict serializable </a:t>
            </a:r>
            <a:r>
              <a:rPr lang="en-US" altLang="en-US" b="1" dirty="0">
                <a:highlight>
                  <a:srgbClr val="FFFF00"/>
                </a:highlight>
              </a:rPr>
              <a:t>if and only if its precedence graph is acyclic.</a:t>
            </a:r>
          </a:p>
          <a:p>
            <a:r>
              <a:rPr lang="en-US" altLang="en-US" dirty="0"/>
              <a:t>Cycle-detection algorithms exist which take order </a:t>
            </a:r>
            <a:r>
              <a:rPr lang="en-US" altLang="en-US" i="1" dirty="0"/>
              <a:t>n</a:t>
            </a:r>
            <a:r>
              <a:rPr lang="en-US" altLang="en-US" baseline="30000" dirty="0"/>
              <a:t>2</a:t>
            </a:r>
            <a:r>
              <a:rPr lang="en-US" altLang="en-US" dirty="0"/>
              <a:t> time, where </a:t>
            </a:r>
            <a:r>
              <a:rPr lang="en-US" altLang="en-US" i="1" dirty="0"/>
              <a:t>n </a:t>
            </a:r>
            <a:r>
              <a:rPr lang="en-US" altLang="en-US" dirty="0"/>
              <a:t>is the number of vertices in the graph.  </a:t>
            </a:r>
          </a:p>
          <a:p>
            <a:pPr lvl="1"/>
            <a:r>
              <a:rPr lang="en-US" altLang="en-US" dirty="0"/>
              <a:t>(Better algorithms take order </a:t>
            </a:r>
            <a:r>
              <a:rPr lang="en-US" altLang="en-US" i="1" dirty="0"/>
              <a:t>n</a:t>
            </a:r>
            <a:r>
              <a:rPr lang="en-US" altLang="en-US" dirty="0"/>
              <a:t> + </a:t>
            </a:r>
            <a:r>
              <a:rPr lang="en-US" altLang="en-US" i="1" dirty="0"/>
              <a:t>e</a:t>
            </a:r>
            <a:r>
              <a:rPr lang="en-US" altLang="en-US" dirty="0"/>
              <a:t> where </a:t>
            </a:r>
            <a:r>
              <a:rPr lang="en-US" altLang="en-US" i="1" dirty="0"/>
              <a:t>e</a:t>
            </a:r>
            <a:r>
              <a:rPr lang="en-US" altLang="en-US" dirty="0"/>
              <a:t> is the number of edges.)</a:t>
            </a:r>
          </a:p>
          <a:p>
            <a:r>
              <a:rPr lang="en-US" altLang="en-US" dirty="0">
                <a:highlight>
                  <a:srgbClr val="FFFF00"/>
                </a:highlight>
              </a:rPr>
              <a:t>If precedence graph is acyclic, the serializability order can be obtained by a </a:t>
            </a:r>
            <a:r>
              <a:rPr lang="en-US" altLang="en-US" i="1" dirty="0">
                <a:solidFill>
                  <a:srgbClr val="000099"/>
                </a:solidFill>
                <a:highlight>
                  <a:srgbClr val="FFFF00"/>
                </a:highlight>
              </a:rPr>
              <a:t>topological sorting</a:t>
            </a:r>
            <a:r>
              <a:rPr lang="en-US" altLang="en-US" dirty="0">
                <a:highlight>
                  <a:srgbClr val="FFFF00"/>
                </a:highlight>
              </a:rPr>
              <a:t> of the graph. </a:t>
            </a:r>
          </a:p>
          <a:p>
            <a:pPr lvl="1"/>
            <a:r>
              <a:rPr lang="en-US" altLang="en-US" dirty="0"/>
              <a:t> This is a linear order consistent with the partial order of the graph.</a:t>
            </a:r>
          </a:p>
          <a:p>
            <a:pPr lvl="1"/>
            <a:r>
              <a:rPr lang="en-US" altLang="en-US" dirty="0"/>
              <a:t>For example, a serializability order for Schedule A would be</a:t>
            </a:r>
            <a:br>
              <a:rPr lang="en-US" altLang="en-US" dirty="0"/>
            </a:br>
            <a:r>
              <a:rPr lang="en-US" altLang="en-US" i="1" dirty="0"/>
              <a:t>T</a:t>
            </a:r>
            <a:r>
              <a:rPr lang="en-US" altLang="en-US" baseline="-25000" dirty="0"/>
              <a:t>5</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1</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3</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2</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4</a:t>
            </a:r>
            <a:endParaRPr lang="en-US" altLang="en-US" dirty="0"/>
          </a:p>
          <a:p>
            <a:pPr lvl="2"/>
            <a:r>
              <a:rPr lang="en-US" altLang="en-US" dirty="0">
                <a:sym typeface="Monotype Sorts" charset="2"/>
              </a:rPr>
              <a:t>Are there others?</a:t>
            </a:r>
          </a:p>
        </p:txBody>
      </p:sp>
      <p:pic>
        <p:nvPicPr>
          <p:cNvPr id="2970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9613" y="1055688"/>
            <a:ext cx="2954337" cy="534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6859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6C63D-95E0-C6FC-F252-893A7C59B2EB}"/>
              </a:ext>
            </a:extLst>
          </p:cNvPr>
          <p:cNvSpPr>
            <a:spLocks noGrp="1"/>
          </p:cNvSpPr>
          <p:nvPr>
            <p:ph type="title"/>
          </p:nvPr>
        </p:nvSpPr>
        <p:spPr/>
        <p:txBody>
          <a:bodyPr/>
          <a:lstStyle/>
          <a:p>
            <a:r>
              <a:rPr lang="en-IN" dirty="0"/>
              <a:t>ARE TWO  SCHEDULES EQUIVALENT</a:t>
            </a:r>
          </a:p>
        </p:txBody>
      </p:sp>
      <p:graphicFrame>
        <p:nvGraphicFramePr>
          <p:cNvPr id="4" name="Content Placeholder 3">
            <a:extLst>
              <a:ext uri="{FF2B5EF4-FFF2-40B4-BE49-F238E27FC236}">
                <a16:creationId xmlns:a16="http://schemas.microsoft.com/office/drawing/2014/main" id="{C32D892E-DC0C-8A00-3277-AEC5B589DF24}"/>
              </a:ext>
            </a:extLst>
          </p:cNvPr>
          <p:cNvGraphicFramePr>
            <a:graphicFrameLocks noGrp="1"/>
          </p:cNvGraphicFramePr>
          <p:nvPr>
            <p:ph idx="1"/>
          </p:nvPr>
        </p:nvGraphicFramePr>
        <p:xfrm>
          <a:off x="886279" y="1858508"/>
          <a:ext cx="1584778" cy="1570493"/>
        </p:xfrm>
        <a:graphic>
          <a:graphicData uri="http://schemas.openxmlformats.org/drawingml/2006/table">
            <a:tbl>
              <a:tblPr>
                <a:tableStyleId>{5C22544A-7EE6-4342-B048-85BDC9FD1C3A}</a:tableStyleId>
              </a:tblPr>
              <a:tblGrid>
                <a:gridCol w="792389">
                  <a:extLst>
                    <a:ext uri="{9D8B030D-6E8A-4147-A177-3AD203B41FA5}">
                      <a16:colId xmlns:a16="http://schemas.microsoft.com/office/drawing/2014/main" val="3573298280"/>
                    </a:ext>
                  </a:extLst>
                </a:gridCol>
                <a:gridCol w="792389">
                  <a:extLst>
                    <a:ext uri="{9D8B030D-6E8A-4147-A177-3AD203B41FA5}">
                      <a16:colId xmlns:a16="http://schemas.microsoft.com/office/drawing/2014/main" val="1675271373"/>
                    </a:ext>
                  </a:extLst>
                </a:gridCol>
              </a:tblGrid>
              <a:tr h="417473">
                <a:tc>
                  <a:txBody>
                    <a:bodyPr/>
                    <a:lstStyle/>
                    <a:p>
                      <a:pPr algn="l" fontAlgn="b">
                        <a:buNone/>
                      </a:pPr>
                      <a:r>
                        <a:rPr lang="en-IN" sz="1600" u="none" strike="noStrike">
                          <a:effectLst/>
                        </a:rPr>
                        <a:t>T1</a:t>
                      </a:r>
                      <a:endParaRPr lang="en-IN" sz="16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600" u="none" strike="noStrike">
                          <a:effectLst/>
                        </a:rPr>
                        <a:t>T2</a:t>
                      </a:r>
                      <a:endParaRPr lang="en-IN" sz="16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731576408"/>
                  </a:ext>
                </a:extLst>
              </a:tr>
              <a:tr h="288255">
                <a:tc>
                  <a:txBody>
                    <a:bodyPr/>
                    <a:lstStyle/>
                    <a:p>
                      <a:pPr algn="l" fontAlgn="b">
                        <a:buNone/>
                      </a:pPr>
                      <a:r>
                        <a:rPr lang="en-IN" sz="1100" u="none" strike="noStrike">
                          <a:effectLst/>
                        </a:rPr>
                        <a:t>R(A)</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487771589"/>
                  </a:ext>
                </a:extLst>
              </a:tr>
              <a:tr h="288255">
                <a:tc>
                  <a:txBody>
                    <a:bodyPr/>
                    <a:lstStyle/>
                    <a:p>
                      <a:pPr algn="l" fontAlgn="b">
                        <a:buNone/>
                      </a:pPr>
                      <a:r>
                        <a:rPr lang="en-IN" sz="1100" u="none" strike="noStrike">
                          <a:effectLst/>
                        </a:rPr>
                        <a:t>W(A)</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dirty="0">
                          <a:effectLst/>
                        </a:rPr>
                        <a:t>R(A)</a:t>
                      </a:r>
                      <a:endParaRPr lang="en-IN"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52111376"/>
                  </a:ext>
                </a:extLst>
              </a:tr>
              <a:tr h="288255">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W(A)</a:t>
                      </a:r>
                      <a:endParaRPr lang="en-IN"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687082634"/>
                  </a:ext>
                </a:extLst>
              </a:tr>
              <a:tr h="288255">
                <a:tc>
                  <a:txBody>
                    <a:bodyPr/>
                    <a:lstStyle/>
                    <a:p>
                      <a:pPr algn="l" fontAlgn="b">
                        <a:buNone/>
                      </a:pPr>
                      <a:r>
                        <a:rPr lang="en-IN" sz="1100" u="none" strike="noStrike">
                          <a:effectLst/>
                        </a:rPr>
                        <a:t>R(B)</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dirty="0">
                          <a:effectLst/>
                        </a:rPr>
                        <a:t> </a:t>
                      </a:r>
                      <a:endParaRPr lang="en-IN"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832895094"/>
                  </a:ext>
                </a:extLst>
              </a:tr>
            </a:tbl>
          </a:graphicData>
        </a:graphic>
      </p:graphicFrame>
      <p:graphicFrame>
        <p:nvGraphicFramePr>
          <p:cNvPr id="5" name="Table 4">
            <a:extLst>
              <a:ext uri="{FF2B5EF4-FFF2-40B4-BE49-F238E27FC236}">
                <a16:creationId xmlns:a16="http://schemas.microsoft.com/office/drawing/2014/main" id="{2DF05ED1-5B27-1436-F1C1-F66F4A474B2B}"/>
              </a:ext>
            </a:extLst>
          </p:cNvPr>
          <p:cNvGraphicFramePr>
            <a:graphicFrameLocks noGrp="1"/>
          </p:cNvGraphicFramePr>
          <p:nvPr/>
        </p:nvGraphicFramePr>
        <p:xfrm>
          <a:off x="4401002" y="1975188"/>
          <a:ext cx="1890942" cy="1570491"/>
        </p:xfrm>
        <a:graphic>
          <a:graphicData uri="http://schemas.openxmlformats.org/drawingml/2006/table">
            <a:tbl>
              <a:tblPr>
                <a:tableStyleId>{5C22544A-7EE6-4342-B048-85BDC9FD1C3A}</a:tableStyleId>
              </a:tblPr>
              <a:tblGrid>
                <a:gridCol w="945471">
                  <a:extLst>
                    <a:ext uri="{9D8B030D-6E8A-4147-A177-3AD203B41FA5}">
                      <a16:colId xmlns:a16="http://schemas.microsoft.com/office/drawing/2014/main" val="4004632271"/>
                    </a:ext>
                  </a:extLst>
                </a:gridCol>
                <a:gridCol w="945471">
                  <a:extLst>
                    <a:ext uri="{9D8B030D-6E8A-4147-A177-3AD203B41FA5}">
                      <a16:colId xmlns:a16="http://schemas.microsoft.com/office/drawing/2014/main" val="3153310625"/>
                    </a:ext>
                  </a:extLst>
                </a:gridCol>
              </a:tblGrid>
              <a:tr h="352731">
                <a:tc>
                  <a:txBody>
                    <a:bodyPr/>
                    <a:lstStyle/>
                    <a:p>
                      <a:pPr algn="l" fontAlgn="b">
                        <a:buNone/>
                      </a:pPr>
                      <a:r>
                        <a:rPr lang="en-IN" sz="1600" u="none" strike="noStrike">
                          <a:effectLst/>
                        </a:rPr>
                        <a:t>T1</a:t>
                      </a:r>
                      <a:endParaRPr lang="en-IN" sz="16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600" u="none" strike="noStrike">
                          <a:effectLst/>
                        </a:rPr>
                        <a:t>T2</a:t>
                      </a:r>
                      <a:endParaRPr lang="en-IN" sz="16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658943835"/>
                  </a:ext>
                </a:extLst>
              </a:tr>
              <a:tr h="243552">
                <a:tc>
                  <a:txBody>
                    <a:bodyPr/>
                    <a:lstStyle/>
                    <a:p>
                      <a:pPr algn="l" fontAlgn="b">
                        <a:buNone/>
                      </a:pPr>
                      <a:r>
                        <a:rPr lang="en-IN" sz="1100" u="none" strike="noStrike">
                          <a:effectLst/>
                        </a:rPr>
                        <a:t>R(A)</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843082454"/>
                  </a:ext>
                </a:extLst>
              </a:tr>
              <a:tr h="243552">
                <a:tc>
                  <a:txBody>
                    <a:bodyPr/>
                    <a:lstStyle/>
                    <a:p>
                      <a:pPr algn="l" fontAlgn="b">
                        <a:buNone/>
                      </a:pPr>
                      <a:r>
                        <a:rPr lang="en-IN" sz="1100" u="none" strike="noStrike">
                          <a:effectLst/>
                        </a:rPr>
                        <a:t>W(A)</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786106882"/>
                  </a:ext>
                </a:extLst>
              </a:tr>
              <a:tr h="243552">
                <a:tc>
                  <a:txBody>
                    <a:bodyPr/>
                    <a:lstStyle/>
                    <a:p>
                      <a:pPr algn="l" fontAlgn="b">
                        <a:buNone/>
                      </a:pPr>
                      <a:r>
                        <a:rPr lang="en-IN" sz="1100" u="none" strike="noStrike">
                          <a:effectLst/>
                        </a:rPr>
                        <a:t>R(B)</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577501056"/>
                  </a:ext>
                </a:extLst>
              </a:tr>
              <a:tr h="243552">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R(A)</a:t>
                      </a:r>
                      <a:endParaRPr lang="en-IN"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581594460"/>
                  </a:ext>
                </a:extLst>
              </a:tr>
              <a:tr h="243552">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dirty="0">
                          <a:effectLst/>
                        </a:rPr>
                        <a:t>W(A)</a:t>
                      </a:r>
                      <a:endParaRPr lang="en-IN"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68143308"/>
                  </a:ext>
                </a:extLst>
              </a:tr>
            </a:tbl>
          </a:graphicData>
        </a:graphic>
      </p:graphicFrame>
      <p:sp>
        <p:nvSpPr>
          <p:cNvPr id="6" name="TextBox 5">
            <a:extLst>
              <a:ext uri="{FF2B5EF4-FFF2-40B4-BE49-F238E27FC236}">
                <a16:creationId xmlns:a16="http://schemas.microsoft.com/office/drawing/2014/main" id="{6D69880B-38B5-E582-35D6-7D3400AC535D}"/>
              </a:ext>
            </a:extLst>
          </p:cNvPr>
          <p:cNvSpPr txBox="1"/>
          <p:nvPr/>
        </p:nvSpPr>
        <p:spPr>
          <a:xfrm>
            <a:off x="4828722" y="4093029"/>
            <a:ext cx="1687286" cy="338554"/>
          </a:xfrm>
          <a:prstGeom prst="rect">
            <a:avLst/>
          </a:prstGeom>
          <a:noFill/>
        </p:spPr>
        <p:txBody>
          <a:bodyPr wrap="square" rtlCol="0">
            <a:spAutoFit/>
          </a:bodyPr>
          <a:lstStyle/>
          <a:p>
            <a:r>
              <a:rPr lang="en-IN" dirty="0"/>
              <a:t>SCHEDULE B</a:t>
            </a:r>
          </a:p>
        </p:txBody>
      </p:sp>
      <p:sp>
        <p:nvSpPr>
          <p:cNvPr id="7" name="TextBox 6">
            <a:extLst>
              <a:ext uri="{FF2B5EF4-FFF2-40B4-BE49-F238E27FC236}">
                <a16:creationId xmlns:a16="http://schemas.microsoft.com/office/drawing/2014/main" id="{EE692460-8E58-A4E2-1A6E-D17F6E995679}"/>
              </a:ext>
            </a:extLst>
          </p:cNvPr>
          <p:cNvSpPr txBox="1"/>
          <p:nvPr/>
        </p:nvSpPr>
        <p:spPr>
          <a:xfrm>
            <a:off x="685800" y="4191000"/>
            <a:ext cx="1687286" cy="338554"/>
          </a:xfrm>
          <a:prstGeom prst="rect">
            <a:avLst/>
          </a:prstGeom>
          <a:noFill/>
        </p:spPr>
        <p:txBody>
          <a:bodyPr wrap="square" rtlCol="0">
            <a:spAutoFit/>
          </a:bodyPr>
          <a:lstStyle/>
          <a:p>
            <a:r>
              <a:rPr lang="en-IN" dirty="0"/>
              <a:t>SCHEDULE A</a:t>
            </a:r>
          </a:p>
        </p:txBody>
      </p:sp>
    </p:spTree>
    <p:extLst>
      <p:ext uri="{BB962C8B-B14F-4D97-AF65-F5344CB8AC3E}">
        <p14:creationId xmlns:p14="http://schemas.microsoft.com/office/powerpoint/2010/main" val="297628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988E6-F4A9-BF86-C726-518C3EDD0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19F18-1BF0-CEA3-8B12-73360E4C4D86}"/>
              </a:ext>
            </a:extLst>
          </p:cNvPr>
          <p:cNvSpPr>
            <a:spLocks noGrp="1"/>
          </p:cNvSpPr>
          <p:nvPr>
            <p:ph type="title"/>
          </p:nvPr>
        </p:nvSpPr>
        <p:spPr/>
        <p:txBody>
          <a:bodyPr/>
          <a:lstStyle/>
          <a:p>
            <a:r>
              <a:rPr lang="en-IN" dirty="0"/>
              <a:t>EXAMPLE-CONFLICT SERIALIZABILITY</a:t>
            </a:r>
          </a:p>
        </p:txBody>
      </p:sp>
      <p:graphicFrame>
        <p:nvGraphicFramePr>
          <p:cNvPr id="4" name="Content Placeholder 3">
            <a:extLst>
              <a:ext uri="{FF2B5EF4-FFF2-40B4-BE49-F238E27FC236}">
                <a16:creationId xmlns:a16="http://schemas.microsoft.com/office/drawing/2014/main" id="{B51509A6-2C24-19AF-9AAC-18C8971CDE49}"/>
              </a:ext>
            </a:extLst>
          </p:cNvPr>
          <p:cNvGraphicFramePr>
            <a:graphicFrameLocks noGrp="1"/>
          </p:cNvGraphicFramePr>
          <p:nvPr>
            <p:ph idx="1"/>
          </p:nvPr>
        </p:nvGraphicFramePr>
        <p:xfrm>
          <a:off x="2427514" y="1306286"/>
          <a:ext cx="3733800" cy="4539348"/>
        </p:xfrm>
        <a:graphic>
          <a:graphicData uri="http://schemas.openxmlformats.org/drawingml/2006/table">
            <a:tbl>
              <a:tblPr>
                <a:tableStyleId>{5C22544A-7EE6-4342-B048-85BDC9FD1C3A}</a:tableStyleId>
              </a:tblPr>
              <a:tblGrid>
                <a:gridCol w="1244600">
                  <a:extLst>
                    <a:ext uri="{9D8B030D-6E8A-4147-A177-3AD203B41FA5}">
                      <a16:colId xmlns:a16="http://schemas.microsoft.com/office/drawing/2014/main" val="1823269875"/>
                    </a:ext>
                  </a:extLst>
                </a:gridCol>
                <a:gridCol w="1244600">
                  <a:extLst>
                    <a:ext uri="{9D8B030D-6E8A-4147-A177-3AD203B41FA5}">
                      <a16:colId xmlns:a16="http://schemas.microsoft.com/office/drawing/2014/main" val="2583051298"/>
                    </a:ext>
                  </a:extLst>
                </a:gridCol>
                <a:gridCol w="1244600">
                  <a:extLst>
                    <a:ext uri="{9D8B030D-6E8A-4147-A177-3AD203B41FA5}">
                      <a16:colId xmlns:a16="http://schemas.microsoft.com/office/drawing/2014/main" val="4180510988"/>
                    </a:ext>
                  </a:extLst>
                </a:gridCol>
              </a:tblGrid>
              <a:tr h="412668">
                <a:tc>
                  <a:txBody>
                    <a:bodyPr/>
                    <a:lstStyle/>
                    <a:p>
                      <a:pPr algn="l" fontAlgn="b">
                        <a:buNone/>
                      </a:pPr>
                      <a:r>
                        <a:rPr lang="en-IN" sz="1400" u="none" strike="noStrike">
                          <a:effectLst/>
                        </a:rPr>
                        <a:t>T1</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T2</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T3</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39243297"/>
                  </a:ext>
                </a:extLst>
              </a:tr>
              <a:tr h="412668">
                <a:tc>
                  <a:txBody>
                    <a:bodyPr/>
                    <a:lstStyle/>
                    <a:p>
                      <a:pPr algn="l" fontAlgn="b">
                        <a:buNone/>
                      </a:pPr>
                      <a:r>
                        <a:rPr lang="en-IN" sz="1400" u="none" strike="noStrike">
                          <a:effectLst/>
                        </a:rPr>
                        <a:t>R(X)</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810788185"/>
                  </a:ext>
                </a:extLst>
              </a:tr>
              <a:tr h="412668">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R(Y)</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925539777"/>
                  </a:ext>
                </a:extLst>
              </a:tr>
              <a:tr h="412668">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R(X)</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034613272"/>
                  </a:ext>
                </a:extLst>
              </a:tr>
              <a:tr h="412668">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R(Y)</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690449816"/>
                  </a:ext>
                </a:extLst>
              </a:tr>
              <a:tr h="412668">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R(Z)</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733653360"/>
                  </a:ext>
                </a:extLst>
              </a:tr>
              <a:tr h="412668">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W(Y)</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10884155"/>
                  </a:ext>
                </a:extLst>
              </a:tr>
              <a:tr h="412668">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W(Z)</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963394361"/>
                  </a:ext>
                </a:extLst>
              </a:tr>
              <a:tr h="412668">
                <a:tc>
                  <a:txBody>
                    <a:bodyPr/>
                    <a:lstStyle/>
                    <a:p>
                      <a:pPr algn="l" fontAlgn="b">
                        <a:buNone/>
                      </a:pPr>
                      <a:r>
                        <a:rPr lang="en-IN" sz="1400" u="none" strike="noStrike">
                          <a:effectLst/>
                        </a:rPr>
                        <a:t>R(Z)</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370591460"/>
                  </a:ext>
                </a:extLst>
              </a:tr>
              <a:tr h="412668">
                <a:tc>
                  <a:txBody>
                    <a:bodyPr/>
                    <a:lstStyle/>
                    <a:p>
                      <a:pPr algn="l" fontAlgn="b">
                        <a:buNone/>
                      </a:pPr>
                      <a:r>
                        <a:rPr lang="en-IN" sz="1400" u="none" strike="noStrike">
                          <a:effectLst/>
                        </a:rPr>
                        <a:t>W(X)</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800129798"/>
                  </a:ext>
                </a:extLst>
              </a:tr>
              <a:tr h="412668">
                <a:tc>
                  <a:txBody>
                    <a:bodyPr/>
                    <a:lstStyle/>
                    <a:p>
                      <a:pPr algn="l" fontAlgn="b">
                        <a:buNone/>
                      </a:pPr>
                      <a:r>
                        <a:rPr lang="en-IN" sz="1400" u="none" strike="noStrike">
                          <a:effectLst/>
                        </a:rPr>
                        <a:t>W(Z)</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a:effectLst/>
                        </a:rPr>
                        <a:t> </a:t>
                      </a:r>
                      <a:endParaRPr lang="en-IN" sz="14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400" u="none" strike="noStrike" dirty="0">
                          <a:effectLst/>
                        </a:rPr>
                        <a:t> </a:t>
                      </a:r>
                      <a:endParaRPr lang="en-IN" sz="1400" b="1"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330308459"/>
                  </a:ext>
                </a:extLst>
              </a:tr>
            </a:tbl>
          </a:graphicData>
        </a:graphic>
      </p:graphicFrame>
      <p:sp>
        <p:nvSpPr>
          <p:cNvPr id="3" name="TextBox 2">
            <a:extLst>
              <a:ext uri="{FF2B5EF4-FFF2-40B4-BE49-F238E27FC236}">
                <a16:creationId xmlns:a16="http://schemas.microsoft.com/office/drawing/2014/main" id="{8F3BC224-B749-32C9-7A08-0730385C942F}"/>
              </a:ext>
            </a:extLst>
          </p:cNvPr>
          <p:cNvSpPr txBox="1"/>
          <p:nvPr/>
        </p:nvSpPr>
        <p:spPr>
          <a:xfrm>
            <a:off x="6749143" y="1164771"/>
            <a:ext cx="1611086" cy="584775"/>
          </a:xfrm>
          <a:prstGeom prst="rect">
            <a:avLst/>
          </a:prstGeom>
          <a:noFill/>
        </p:spPr>
        <p:txBody>
          <a:bodyPr wrap="square" rtlCol="0">
            <a:spAutoFit/>
          </a:bodyPr>
          <a:lstStyle/>
          <a:p>
            <a:r>
              <a:rPr lang="en-IN" dirty="0"/>
              <a:t>Conflict Serializable</a:t>
            </a:r>
          </a:p>
        </p:txBody>
      </p:sp>
      <p:sp>
        <p:nvSpPr>
          <p:cNvPr id="5" name="TextBox 4">
            <a:extLst>
              <a:ext uri="{FF2B5EF4-FFF2-40B4-BE49-F238E27FC236}">
                <a16:creationId xmlns:a16="http://schemas.microsoft.com/office/drawing/2014/main" id="{A88972E3-03F5-44AC-7FBA-E0D9AC8B22E8}"/>
              </a:ext>
            </a:extLst>
          </p:cNvPr>
          <p:cNvSpPr txBox="1"/>
          <p:nvPr/>
        </p:nvSpPr>
        <p:spPr>
          <a:xfrm>
            <a:off x="6749143" y="2928257"/>
            <a:ext cx="1611086" cy="830997"/>
          </a:xfrm>
          <a:prstGeom prst="rect">
            <a:avLst/>
          </a:prstGeom>
          <a:noFill/>
        </p:spPr>
        <p:txBody>
          <a:bodyPr wrap="square" rtlCol="0">
            <a:spAutoFit/>
          </a:bodyPr>
          <a:lstStyle/>
          <a:p>
            <a:r>
              <a:rPr lang="en-IN" dirty="0"/>
              <a:t>T2-&gt;T3-&gt;T1 SERIAL SCHEDULE</a:t>
            </a:r>
          </a:p>
        </p:txBody>
      </p:sp>
    </p:spTree>
    <p:extLst>
      <p:ext uri="{BB962C8B-B14F-4D97-AF65-F5344CB8AC3E}">
        <p14:creationId xmlns:p14="http://schemas.microsoft.com/office/powerpoint/2010/main" val="12831501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D86B4-9DB0-61A0-ABD0-4C82D40FEC46}"/>
              </a:ext>
            </a:extLst>
          </p:cNvPr>
          <p:cNvSpPr>
            <a:spLocks noGrp="1"/>
          </p:cNvSpPr>
          <p:nvPr>
            <p:ph type="title"/>
          </p:nvPr>
        </p:nvSpPr>
        <p:spPr/>
        <p:txBody>
          <a:bodyPr/>
          <a:lstStyle/>
          <a:p>
            <a:r>
              <a:rPr lang="en-IN" dirty="0"/>
              <a:t>EXAMPLE-CONFLICT SERIALIZABILITY</a:t>
            </a:r>
          </a:p>
        </p:txBody>
      </p:sp>
      <p:graphicFrame>
        <p:nvGraphicFramePr>
          <p:cNvPr id="4" name="Content Placeholder 3">
            <a:extLst>
              <a:ext uri="{FF2B5EF4-FFF2-40B4-BE49-F238E27FC236}">
                <a16:creationId xmlns:a16="http://schemas.microsoft.com/office/drawing/2014/main" id="{C0C2B6F8-49DD-2338-5DE6-A127BE756651}"/>
              </a:ext>
            </a:extLst>
          </p:cNvPr>
          <p:cNvGraphicFramePr>
            <a:graphicFrameLocks noGrp="1"/>
          </p:cNvGraphicFramePr>
          <p:nvPr>
            <p:ph idx="1"/>
          </p:nvPr>
        </p:nvGraphicFramePr>
        <p:xfrm>
          <a:off x="1567543" y="1839685"/>
          <a:ext cx="4724400" cy="3439884"/>
        </p:xfrm>
        <a:graphic>
          <a:graphicData uri="http://schemas.openxmlformats.org/drawingml/2006/table">
            <a:tbl>
              <a:tblPr>
                <a:tableStyleId>{5C22544A-7EE6-4342-B048-85BDC9FD1C3A}</a:tableStyleId>
              </a:tblPr>
              <a:tblGrid>
                <a:gridCol w="1574800">
                  <a:extLst>
                    <a:ext uri="{9D8B030D-6E8A-4147-A177-3AD203B41FA5}">
                      <a16:colId xmlns:a16="http://schemas.microsoft.com/office/drawing/2014/main" val="3747003996"/>
                    </a:ext>
                  </a:extLst>
                </a:gridCol>
                <a:gridCol w="1574800">
                  <a:extLst>
                    <a:ext uri="{9D8B030D-6E8A-4147-A177-3AD203B41FA5}">
                      <a16:colId xmlns:a16="http://schemas.microsoft.com/office/drawing/2014/main" val="2451321503"/>
                    </a:ext>
                  </a:extLst>
                </a:gridCol>
                <a:gridCol w="1574800">
                  <a:extLst>
                    <a:ext uri="{9D8B030D-6E8A-4147-A177-3AD203B41FA5}">
                      <a16:colId xmlns:a16="http://schemas.microsoft.com/office/drawing/2014/main" val="2009886511"/>
                    </a:ext>
                  </a:extLst>
                </a:gridCol>
              </a:tblGrid>
              <a:tr h="914400">
                <a:tc>
                  <a:txBody>
                    <a:bodyPr/>
                    <a:lstStyle/>
                    <a:p>
                      <a:pPr algn="l" fontAlgn="b">
                        <a:buNone/>
                      </a:pPr>
                      <a:r>
                        <a:rPr lang="en-IN" sz="1600" u="none" strike="noStrike">
                          <a:effectLst/>
                        </a:rPr>
                        <a:t>T1</a:t>
                      </a:r>
                      <a:endParaRPr lang="en-IN" sz="16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600" u="none" strike="noStrike">
                          <a:effectLst/>
                        </a:rPr>
                        <a:t>T2</a:t>
                      </a:r>
                      <a:endParaRPr lang="en-IN" sz="1600" b="1"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600" u="none" strike="noStrike">
                          <a:effectLst/>
                        </a:rPr>
                        <a:t>T3</a:t>
                      </a:r>
                      <a:endParaRPr lang="en-IN" sz="16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406283014"/>
                  </a:ext>
                </a:extLst>
              </a:tr>
              <a:tr h="631371">
                <a:tc>
                  <a:txBody>
                    <a:bodyPr/>
                    <a:lstStyle/>
                    <a:p>
                      <a:pPr algn="l" fontAlgn="b">
                        <a:buNone/>
                      </a:pPr>
                      <a:r>
                        <a:rPr lang="en-IN" sz="1100" u="none" strike="noStrike">
                          <a:effectLst/>
                        </a:rPr>
                        <a:t>R(A)</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204408424"/>
                  </a:ext>
                </a:extLst>
              </a:tr>
              <a:tr h="631371">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W(A)</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947852302"/>
                  </a:ext>
                </a:extLst>
              </a:tr>
              <a:tr h="631371">
                <a:tc>
                  <a:txBody>
                    <a:bodyPr/>
                    <a:lstStyle/>
                    <a:p>
                      <a:pPr algn="l" fontAlgn="b">
                        <a:buNone/>
                      </a:pPr>
                      <a:r>
                        <a:rPr lang="en-IN" sz="1100" u="none" strike="noStrike">
                          <a:effectLst/>
                        </a:rPr>
                        <a:t>W(A)</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800254253"/>
                  </a:ext>
                </a:extLst>
              </a:tr>
              <a:tr h="631371">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a:effectLst/>
                        </a:rPr>
                        <a:t> </a:t>
                      </a:r>
                      <a:endParaRPr lang="en-IN"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en-IN" sz="1100" u="none" strike="noStrike" dirty="0">
                          <a:effectLst/>
                        </a:rPr>
                        <a:t>W(A)</a:t>
                      </a:r>
                      <a:endParaRPr lang="en-IN" sz="11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196574888"/>
                  </a:ext>
                </a:extLst>
              </a:tr>
            </a:tbl>
          </a:graphicData>
        </a:graphic>
      </p:graphicFrame>
      <p:sp>
        <p:nvSpPr>
          <p:cNvPr id="5" name="TextBox 4">
            <a:extLst>
              <a:ext uri="{FF2B5EF4-FFF2-40B4-BE49-F238E27FC236}">
                <a16:creationId xmlns:a16="http://schemas.microsoft.com/office/drawing/2014/main" id="{D4F464B6-7477-6F75-6E69-6F15BD6C62DF}"/>
              </a:ext>
            </a:extLst>
          </p:cNvPr>
          <p:cNvSpPr txBox="1"/>
          <p:nvPr/>
        </p:nvSpPr>
        <p:spPr>
          <a:xfrm>
            <a:off x="6749143" y="1164771"/>
            <a:ext cx="1611086" cy="584775"/>
          </a:xfrm>
          <a:prstGeom prst="rect">
            <a:avLst/>
          </a:prstGeom>
          <a:noFill/>
        </p:spPr>
        <p:txBody>
          <a:bodyPr wrap="square" rtlCol="0">
            <a:spAutoFit/>
          </a:bodyPr>
          <a:lstStyle/>
          <a:p>
            <a:r>
              <a:rPr lang="en-IN" dirty="0"/>
              <a:t>Not Conflict Serializable</a:t>
            </a:r>
          </a:p>
        </p:txBody>
      </p:sp>
    </p:spTree>
    <p:extLst>
      <p:ext uri="{BB962C8B-B14F-4D97-AF65-F5344CB8AC3E}">
        <p14:creationId xmlns:p14="http://schemas.microsoft.com/office/powerpoint/2010/main" val="36834880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View Serializability</a:t>
            </a:r>
          </a:p>
        </p:txBody>
      </p:sp>
      <p:sp>
        <p:nvSpPr>
          <p:cNvPr id="30723" name="Rectangle 3"/>
          <p:cNvSpPr>
            <a:spLocks noGrp="1" noChangeArrowheads="1"/>
          </p:cNvSpPr>
          <p:nvPr>
            <p:ph idx="1"/>
          </p:nvPr>
        </p:nvSpPr>
        <p:spPr>
          <a:xfrm>
            <a:off x="701336" y="1102497"/>
            <a:ext cx="7581530" cy="5367972"/>
          </a:xfrm>
        </p:spPr>
        <p:txBody>
          <a:bodyPr/>
          <a:lstStyle/>
          <a:p>
            <a:r>
              <a:rPr lang="en-US" altLang="en-US" b="1" dirty="0"/>
              <a:t>The precedence graph test for conflict serializability </a:t>
            </a:r>
            <a:r>
              <a:rPr lang="en-US" altLang="en-US" dirty="0"/>
              <a:t>cannot be used directly to test for view serializability.</a:t>
            </a:r>
          </a:p>
          <a:p>
            <a:pPr lvl="1"/>
            <a:r>
              <a:rPr lang="en-US" altLang="en-US" dirty="0"/>
              <a:t>Extension to test for view serializability has cost exponential in the size of the precedence graph.</a:t>
            </a:r>
          </a:p>
          <a:p>
            <a:r>
              <a:rPr lang="en-US" altLang="en-US" dirty="0"/>
              <a:t>The problem of checking if a schedule is view serializable falls in the class of </a:t>
            </a:r>
            <a:r>
              <a:rPr lang="en-US" altLang="en-US" i="1" dirty="0"/>
              <a:t>NP</a:t>
            </a:r>
            <a:r>
              <a:rPr lang="en-US" altLang="en-US" dirty="0"/>
              <a:t>-complete problems. </a:t>
            </a:r>
          </a:p>
          <a:p>
            <a:pPr lvl="1"/>
            <a:r>
              <a:rPr lang="en-US" altLang="en-US" dirty="0"/>
              <a:t>Thus, existence of an efficient algorithm is </a:t>
            </a:r>
            <a:r>
              <a:rPr lang="en-US" altLang="en-US" i="1" dirty="0"/>
              <a:t>extremely</a:t>
            </a:r>
            <a:r>
              <a:rPr lang="en-US" altLang="en-US" dirty="0"/>
              <a:t> unlikely.</a:t>
            </a:r>
          </a:p>
          <a:p>
            <a:r>
              <a:rPr lang="en-US" altLang="en-US" dirty="0"/>
              <a:t>However practical algorithms that just check some </a:t>
            </a:r>
            <a:r>
              <a:rPr lang="en-US" altLang="en-US" b="1" dirty="0"/>
              <a:t>sufficient</a:t>
            </a:r>
            <a:r>
              <a:rPr lang="en-US" altLang="en-US" i="1" dirty="0"/>
              <a:t> </a:t>
            </a:r>
            <a:r>
              <a:rPr lang="en-US" altLang="en-US" b="1" dirty="0"/>
              <a:t>conditions</a:t>
            </a:r>
            <a:r>
              <a:rPr lang="en-US" altLang="en-US" dirty="0"/>
              <a:t> for view serializability can still be used.</a:t>
            </a:r>
          </a:p>
        </p:txBody>
      </p:sp>
    </p:spTree>
    <p:extLst>
      <p:ext uri="{BB962C8B-B14F-4D97-AF65-F5344CB8AC3E}">
        <p14:creationId xmlns:p14="http://schemas.microsoft.com/office/powerpoint/2010/main" val="30920148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View Serializability</a:t>
            </a:r>
          </a:p>
        </p:txBody>
      </p:sp>
      <p:sp>
        <p:nvSpPr>
          <p:cNvPr id="25603" name="Rectangle 3"/>
          <p:cNvSpPr>
            <a:spLocks noGrp="1" noChangeArrowheads="1"/>
          </p:cNvSpPr>
          <p:nvPr>
            <p:ph idx="1"/>
          </p:nvPr>
        </p:nvSpPr>
        <p:spPr>
          <a:xfrm>
            <a:off x="692458" y="1102497"/>
            <a:ext cx="7937192" cy="5367972"/>
          </a:xfrm>
        </p:spPr>
        <p:txBody>
          <a:bodyPr/>
          <a:lstStyle/>
          <a:p>
            <a:pPr>
              <a:defRPr/>
            </a:pPr>
            <a:r>
              <a:rPr lang="en-US" dirty="0"/>
              <a:t>Let </a:t>
            </a:r>
            <a:r>
              <a:rPr lang="en-US" i="1" dirty="0"/>
              <a:t>S</a:t>
            </a:r>
            <a:r>
              <a:rPr lang="en-US" dirty="0"/>
              <a:t> and </a:t>
            </a:r>
            <a:r>
              <a:rPr lang="en-US" i="1" dirty="0"/>
              <a:t>S’</a:t>
            </a:r>
            <a:r>
              <a:rPr lang="en-IN" dirty="0"/>
              <a:t> </a:t>
            </a:r>
            <a:r>
              <a:rPr lang="en-US" dirty="0"/>
              <a:t>be two schedules with the same set of transactions.  </a:t>
            </a:r>
            <a:r>
              <a:rPr lang="en-US" i="1" dirty="0"/>
              <a:t>S</a:t>
            </a:r>
            <a:r>
              <a:rPr lang="en-US" dirty="0"/>
              <a:t> and </a:t>
            </a:r>
            <a:r>
              <a:rPr lang="en-US" i="1" dirty="0"/>
              <a:t>S’ </a:t>
            </a:r>
            <a:r>
              <a:rPr lang="en-US" dirty="0"/>
              <a:t>are </a:t>
            </a:r>
            <a:r>
              <a:rPr lang="en-US" b="1" dirty="0">
                <a:solidFill>
                  <a:srgbClr val="000099"/>
                </a:solidFill>
              </a:rPr>
              <a:t>view equivalent</a:t>
            </a:r>
            <a:r>
              <a:rPr lang="en-US" i="1" dirty="0"/>
              <a:t> </a:t>
            </a:r>
            <a:r>
              <a:rPr lang="en-US" dirty="0"/>
              <a:t>if the following three conditions are met, for each data item </a:t>
            </a:r>
            <a:r>
              <a:rPr lang="en-US" i="1" dirty="0"/>
              <a:t>Q,</a:t>
            </a:r>
            <a:r>
              <a:rPr lang="en-US" dirty="0"/>
              <a:t> </a:t>
            </a:r>
          </a:p>
          <a:p>
            <a:pPr marL="457200" lvl="1" indent="0">
              <a:spcBef>
                <a:spcPts val="0"/>
              </a:spcBef>
              <a:buNone/>
              <a:defRPr/>
            </a:pPr>
            <a:r>
              <a:rPr lang="en-US" dirty="0">
                <a:solidFill>
                  <a:srgbClr val="FF9900"/>
                </a:solidFill>
              </a:rPr>
              <a:t>1.   </a:t>
            </a:r>
            <a:r>
              <a:rPr lang="en-US" dirty="0">
                <a:highlight>
                  <a:srgbClr val="FFFF00"/>
                </a:highlight>
              </a:rPr>
              <a:t>If in schedule S, transaction </a:t>
            </a:r>
            <a:r>
              <a:rPr lang="en-US" i="1" dirty="0">
                <a:highlight>
                  <a:srgbClr val="FFFF00"/>
                </a:highlight>
              </a:rPr>
              <a:t>T</a:t>
            </a:r>
            <a:r>
              <a:rPr lang="en-US" i="1" baseline="-25000" dirty="0">
                <a:highlight>
                  <a:srgbClr val="FFFF00"/>
                </a:highlight>
              </a:rPr>
              <a:t>i</a:t>
            </a:r>
            <a:r>
              <a:rPr lang="en-US" i="1" dirty="0">
                <a:highlight>
                  <a:srgbClr val="FFFF00"/>
                </a:highlight>
              </a:rPr>
              <a:t> </a:t>
            </a:r>
            <a:r>
              <a:rPr lang="en-US" dirty="0">
                <a:highlight>
                  <a:srgbClr val="FFFF00"/>
                </a:highlight>
              </a:rPr>
              <a:t>reads the initial value of </a:t>
            </a:r>
            <a:r>
              <a:rPr lang="en-US" i="1" dirty="0">
                <a:highlight>
                  <a:srgbClr val="FFFF00"/>
                </a:highlight>
              </a:rPr>
              <a:t>Q</a:t>
            </a:r>
            <a:r>
              <a:rPr lang="en-US" dirty="0">
                <a:highlight>
                  <a:srgbClr val="FFFF00"/>
                </a:highlight>
              </a:rPr>
              <a:t>, then in </a:t>
            </a:r>
          </a:p>
          <a:p>
            <a:pPr marL="457200" lvl="1" indent="0">
              <a:spcBef>
                <a:spcPts val="0"/>
              </a:spcBef>
              <a:buNone/>
              <a:defRPr/>
            </a:pPr>
            <a:r>
              <a:rPr lang="en-US" dirty="0">
                <a:highlight>
                  <a:srgbClr val="FFFF00"/>
                </a:highlight>
              </a:rPr>
              <a:t>      schedule </a:t>
            </a:r>
            <a:r>
              <a:rPr lang="en-US" i="1" dirty="0">
                <a:highlight>
                  <a:srgbClr val="FFFF00"/>
                </a:highlight>
              </a:rPr>
              <a:t>S</a:t>
            </a:r>
            <a:r>
              <a:rPr lang="en-IN" i="1" dirty="0">
                <a:highlight>
                  <a:srgbClr val="FFFF00"/>
                </a:highlight>
              </a:rPr>
              <a:t>’</a:t>
            </a:r>
            <a:r>
              <a:rPr lang="en-US" altLang="ja-JP" dirty="0">
                <a:highlight>
                  <a:srgbClr val="FFFF00"/>
                </a:highlight>
              </a:rPr>
              <a:t> also transaction </a:t>
            </a:r>
            <a:r>
              <a:rPr lang="en-US" altLang="ja-JP" i="1" dirty="0">
                <a:highlight>
                  <a:srgbClr val="FFFF00"/>
                </a:highlight>
              </a:rPr>
              <a:t>T</a:t>
            </a:r>
            <a:r>
              <a:rPr lang="en-US" altLang="ja-JP" i="1" baseline="-25000" dirty="0">
                <a:highlight>
                  <a:srgbClr val="FFFF00"/>
                </a:highlight>
              </a:rPr>
              <a:t>i</a:t>
            </a:r>
            <a:r>
              <a:rPr lang="en-US" altLang="ja-JP" i="1" dirty="0">
                <a:highlight>
                  <a:srgbClr val="FFFF00"/>
                </a:highlight>
              </a:rPr>
              <a:t> </a:t>
            </a:r>
            <a:r>
              <a:rPr lang="en-US" altLang="ja-JP" dirty="0">
                <a:highlight>
                  <a:srgbClr val="FFFF00"/>
                </a:highlight>
              </a:rPr>
              <a:t> must read the initial value of </a:t>
            </a:r>
            <a:r>
              <a:rPr lang="en-US" altLang="ja-JP" i="1" dirty="0">
                <a:highlight>
                  <a:srgbClr val="FFFF00"/>
                </a:highlight>
              </a:rPr>
              <a:t>Q.</a:t>
            </a:r>
          </a:p>
          <a:p>
            <a:pPr marL="457200" lvl="1" indent="0">
              <a:spcBef>
                <a:spcPts val="0"/>
              </a:spcBef>
              <a:buNone/>
              <a:defRPr/>
            </a:pPr>
            <a:r>
              <a:rPr lang="en-US" dirty="0">
                <a:solidFill>
                  <a:srgbClr val="FF9900"/>
                </a:solidFill>
              </a:rPr>
              <a:t>2.</a:t>
            </a:r>
            <a:r>
              <a:rPr lang="en-US" dirty="0"/>
              <a:t>   If in schedule S transaction </a:t>
            </a:r>
            <a:r>
              <a:rPr lang="en-US" i="1" dirty="0"/>
              <a:t>T</a:t>
            </a:r>
            <a:r>
              <a:rPr lang="en-US" i="1" baseline="-25000" dirty="0"/>
              <a:t>i</a:t>
            </a:r>
            <a:r>
              <a:rPr lang="en-US" i="1" dirty="0"/>
              <a:t> </a:t>
            </a:r>
            <a:r>
              <a:rPr lang="en-US" dirty="0"/>
              <a:t>executes </a:t>
            </a:r>
            <a:r>
              <a:rPr lang="en-US" b="1" dirty="0"/>
              <a:t>read</a:t>
            </a:r>
            <a:r>
              <a:rPr lang="en-US" dirty="0"/>
              <a:t>(</a:t>
            </a:r>
            <a:r>
              <a:rPr lang="en-US" i="1" dirty="0"/>
              <a:t>Q)</a:t>
            </a:r>
            <a:r>
              <a:rPr lang="en-US" dirty="0"/>
              <a:t>, and that value was </a:t>
            </a:r>
          </a:p>
          <a:p>
            <a:pPr marL="457200" lvl="1" indent="0">
              <a:spcBef>
                <a:spcPts val="0"/>
              </a:spcBef>
              <a:buNone/>
              <a:defRPr/>
            </a:pPr>
            <a:r>
              <a:rPr lang="en-US" dirty="0"/>
              <a:t>      produced by transaction </a:t>
            </a:r>
            <a:r>
              <a:rPr lang="en-US" i="1" dirty="0"/>
              <a:t>T</a:t>
            </a:r>
            <a:r>
              <a:rPr lang="en-US" i="1" baseline="-25000" dirty="0"/>
              <a:t>j</a:t>
            </a:r>
            <a:r>
              <a:rPr lang="en-US" dirty="0"/>
              <a:t> </a:t>
            </a:r>
            <a:r>
              <a:rPr lang="en-US" i="1" dirty="0"/>
              <a:t> </a:t>
            </a:r>
            <a:r>
              <a:rPr lang="en-US" dirty="0"/>
              <a:t>(if any), then in schedule </a:t>
            </a:r>
            <a:r>
              <a:rPr lang="en-US" i="1" dirty="0"/>
              <a:t>S</a:t>
            </a:r>
            <a:r>
              <a:rPr lang="en-IN" i="1" dirty="0"/>
              <a:t>’</a:t>
            </a:r>
            <a:r>
              <a:rPr lang="en-US" altLang="ja-JP" dirty="0"/>
              <a:t> also </a:t>
            </a:r>
          </a:p>
          <a:p>
            <a:pPr marL="457200" lvl="1" indent="0">
              <a:spcBef>
                <a:spcPts val="0"/>
              </a:spcBef>
              <a:buNone/>
              <a:defRPr/>
            </a:pPr>
            <a:r>
              <a:rPr lang="en-US" altLang="ja-JP" dirty="0"/>
              <a:t>      transaction </a:t>
            </a:r>
            <a:r>
              <a:rPr lang="en-US" altLang="ja-JP" i="1" dirty="0"/>
              <a:t>T</a:t>
            </a:r>
            <a:r>
              <a:rPr lang="en-US" altLang="ja-JP" i="1" baseline="-25000" dirty="0"/>
              <a:t>i</a:t>
            </a:r>
            <a:r>
              <a:rPr lang="en-US" altLang="ja-JP" dirty="0"/>
              <a:t> must read the value of </a:t>
            </a:r>
            <a:r>
              <a:rPr lang="en-US" altLang="ja-JP" i="1" dirty="0"/>
              <a:t>Q</a:t>
            </a:r>
            <a:r>
              <a:rPr lang="en-US" altLang="ja-JP" dirty="0"/>
              <a:t> that was produced by the </a:t>
            </a:r>
          </a:p>
          <a:p>
            <a:pPr marL="457200" lvl="1" indent="0">
              <a:spcBef>
                <a:spcPts val="0"/>
              </a:spcBef>
              <a:buNone/>
              <a:defRPr/>
            </a:pPr>
            <a:r>
              <a:rPr lang="en-US" altLang="ja-JP" dirty="0"/>
              <a:t>      same </a:t>
            </a:r>
            <a:r>
              <a:rPr lang="en-US" altLang="ja-JP" b="1" dirty="0"/>
              <a:t>write</a:t>
            </a:r>
            <a:r>
              <a:rPr lang="en-US" altLang="ja-JP" dirty="0"/>
              <a:t>(Q) operation of transaction </a:t>
            </a:r>
            <a:r>
              <a:rPr lang="en-US" altLang="ja-JP" i="1" dirty="0"/>
              <a:t>T</a:t>
            </a:r>
            <a:r>
              <a:rPr lang="en-US" altLang="ja-JP" i="1" baseline="-25000" dirty="0"/>
              <a:t>j</a:t>
            </a:r>
            <a:r>
              <a:rPr lang="en-US" altLang="ja-JP" dirty="0"/>
              <a:t> .</a:t>
            </a:r>
          </a:p>
          <a:p>
            <a:pPr marL="457200" lvl="1" indent="0">
              <a:spcBef>
                <a:spcPts val="0"/>
              </a:spcBef>
              <a:buNone/>
              <a:defRPr/>
            </a:pPr>
            <a:r>
              <a:rPr lang="en-US" dirty="0">
                <a:solidFill>
                  <a:srgbClr val="FF9900"/>
                </a:solidFill>
              </a:rPr>
              <a:t>3.   </a:t>
            </a:r>
            <a:r>
              <a:rPr lang="en-US" dirty="0">
                <a:highlight>
                  <a:srgbClr val="FFFF00"/>
                </a:highlight>
              </a:rPr>
              <a:t>The transaction (if any) that performs the final </a:t>
            </a:r>
            <a:r>
              <a:rPr lang="en-US" b="1" dirty="0">
                <a:highlight>
                  <a:srgbClr val="FFFF00"/>
                </a:highlight>
              </a:rPr>
              <a:t>write</a:t>
            </a:r>
            <a:r>
              <a:rPr lang="en-US" dirty="0">
                <a:highlight>
                  <a:srgbClr val="FFFF00"/>
                </a:highlight>
              </a:rPr>
              <a:t>(</a:t>
            </a:r>
            <a:r>
              <a:rPr lang="en-US" i="1" dirty="0">
                <a:highlight>
                  <a:srgbClr val="FFFF00"/>
                </a:highlight>
              </a:rPr>
              <a:t>Q</a:t>
            </a:r>
            <a:r>
              <a:rPr lang="en-US" dirty="0">
                <a:highlight>
                  <a:srgbClr val="FFFF00"/>
                </a:highlight>
              </a:rPr>
              <a:t>) operation in </a:t>
            </a:r>
          </a:p>
          <a:p>
            <a:pPr marL="457200" lvl="1" indent="0">
              <a:spcBef>
                <a:spcPts val="0"/>
              </a:spcBef>
              <a:buNone/>
              <a:defRPr/>
            </a:pPr>
            <a:r>
              <a:rPr lang="en-US" dirty="0">
                <a:highlight>
                  <a:srgbClr val="FFFF00"/>
                </a:highlight>
              </a:rPr>
              <a:t>      schedule </a:t>
            </a:r>
            <a:r>
              <a:rPr lang="en-US" i="1" dirty="0">
                <a:highlight>
                  <a:srgbClr val="FFFF00"/>
                </a:highlight>
              </a:rPr>
              <a:t>S </a:t>
            </a:r>
            <a:r>
              <a:rPr lang="en-US" dirty="0">
                <a:highlight>
                  <a:srgbClr val="FFFF00"/>
                </a:highlight>
              </a:rPr>
              <a:t>must also perform the final</a:t>
            </a:r>
            <a:r>
              <a:rPr lang="en-US" i="1" dirty="0">
                <a:highlight>
                  <a:srgbClr val="FFFF00"/>
                </a:highlight>
              </a:rPr>
              <a:t> </a:t>
            </a:r>
            <a:r>
              <a:rPr lang="en-US" b="1" dirty="0">
                <a:highlight>
                  <a:srgbClr val="FFFF00"/>
                </a:highlight>
              </a:rPr>
              <a:t>write</a:t>
            </a:r>
            <a:r>
              <a:rPr lang="en-US" dirty="0">
                <a:highlight>
                  <a:srgbClr val="FFFF00"/>
                </a:highlight>
              </a:rPr>
              <a:t>(</a:t>
            </a:r>
            <a:r>
              <a:rPr lang="en-US" i="1" dirty="0">
                <a:highlight>
                  <a:srgbClr val="FFFF00"/>
                </a:highlight>
              </a:rPr>
              <a:t>Q</a:t>
            </a:r>
            <a:r>
              <a:rPr lang="en-US" dirty="0">
                <a:highlight>
                  <a:srgbClr val="FFFF00"/>
                </a:highlight>
              </a:rPr>
              <a:t>) operation in schedule </a:t>
            </a:r>
            <a:r>
              <a:rPr lang="en-US" i="1" dirty="0">
                <a:highlight>
                  <a:srgbClr val="FFFF00"/>
                </a:highlight>
              </a:rPr>
              <a:t>S</a:t>
            </a:r>
            <a:r>
              <a:rPr lang="en-IN" altLang="ja-JP" i="1" dirty="0">
                <a:highlight>
                  <a:srgbClr val="FFFF00"/>
                </a:highlight>
              </a:rPr>
              <a:t>’</a:t>
            </a:r>
            <a:r>
              <a:rPr lang="en-US" altLang="ja-JP" i="1" dirty="0"/>
              <a:t>.</a:t>
            </a:r>
          </a:p>
          <a:p>
            <a:pPr marL="400050">
              <a:defRPr/>
            </a:pPr>
            <a:r>
              <a:rPr lang="en-US" dirty="0">
                <a:highlight>
                  <a:srgbClr val="FFFF00"/>
                </a:highlight>
              </a:rPr>
              <a:t>As can be seen, view equivalence is also based purely on </a:t>
            </a:r>
            <a:r>
              <a:rPr lang="en-US" b="1" dirty="0">
                <a:highlight>
                  <a:srgbClr val="FFFF00"/>
                </a:highlight>
              </a:rPr>
              <a:t>reads </a:t>
            </a:r>
            <a:r>
              <a:rPr lang="en-US" dirty="0">
                <a:highlight>
                  <a:srgbClr val="FFFF00"/>
                </a:highlight>
              </a:rPr>
              <a:t>and </a:t>
            </a:r>
            <a:r>
              <a:rPr lang="en-US" b="1" dirty="0">
                <a:highlight>
                  <a:srgbClr val="FFFF00"/>
                </a:highlight>
              </a:rPr>
              <a:t>writes</a:t>
            </a:r>
            <a:r>
              <a:rPr lang="en-US" dirty="0">
                <a:highlight>
                  <a:srgbClr val="FFFF00"/>
                </a:highlight>
              </a:rPr>
              <a:t> alone</a:t>
            </a:r>
            <a:r>
              <a:rPr lang="en-US" dirty="0"/>
              <a:t>.</a:t>
            </a:r>
          </a:p>
        </p:txBody>
      </p:sp>
    </p:spTree>
    <p:extLst>
      <p:ext uri="{BB962C8B-B14F-4D97-AF65-F5344CB8AC3E}">
        <p14:creationId xmlns:p14="http://schemas.microsoft.com/office/powerpoint/2010/main" val="8011284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View Serializability (Cont.)</a:t>
            </a:r>
          </a:p>
        </p:txBody>
      </p:sp>
      <p:sp>
        <p:nvSpPr>
          <p:cNvPr id="26627" name="Rectangle 3"/>
          <p:cNvSpPr>
            <a:spLocks noGrp="1" noChangeArrowheads="1"/>
          </p:cNvSpPr>
          <p:nvPr>
            <p:ph idx="1"/>
          </p:nvPr>
        </p:nvSpPr>
        <p:spPr>
          <a:xfrm>
            <a:off x="683580" y="1102497"/>
            <a:ext cx="7634797" cy="5367972"/>
          </a:xfrm>
        </p:spPr>
        <p:txBody>
          <a:bodyPr/>
          <a:lstStyle/>
          <a:p>
            <a:pPr>
              <a:tabLst>
                <a:tab pos="1890713" algn="l"/>
                <a:tab pos="2338388" algn="l"/>
                <a:tab pos="2914650" algn="l"/>
                <a:tab pos="3203575" algn="l"/>
                <a:tab pos="3881438" algn="l"/>
                <a:tab pos="4286250" algn="l"/>
              </a:tabLst>
            </a:pPr>
            <a:r>
              <a:rPr lang="en-US" altLang="en-US" sz="2000" dirty="0"/>
              <a:t>A schedule </a:t>
            </a:r>
            <a:r>
              <a:rPr lang="en-US" altLang="en-US" sz="2000" i="1" dirty="0"/>
              <a:t>S</a:t>
            </a:r>
            <a:r>
              <a:rPr lang="en-US" altLang="en-US" sz="2000" dirty="0"/>
              <a:t> is </a:t>
            </a:r>
            <a:r>
              <a:rPr lang="en-US" altLang="en-US" sz="2400" b="1" dirty="0">
                <a:solidFill>
                  <a:srgbClr val="000099"/>
                </a:solidFill>
              </a:rPr>
              <a:t>view serializable</a:t>
            </a:r>
            <a:r>
              <a:rPr lang="en-US" altLang="en-US" sz="2400" i="1" dirty="0"/>
              <a:t> </a:t>
            </a:r>
            <a:r>
              <a:rPr lang="en-US" altLang="en-US" sz="2000" dirty="0"/>
              <a:t>if it is view equivalent to a </a:t>
            </a:r>
            <a:r>
              <a:rPr lang="en-US" altLang="en-US" sz="2400" b="1" dirty="0"/>
              <a:t>serial schedule</a:t>
            </a:r>
            <a:r>
              <a:rPr lang="en-US" altLang="en-US" sz="2000" b="1" dirty="0"/>
              <a:t>.</a:t>
            </a:r>
          </a:p>
          <a:p>
            <a:pPr>
              <a:tabLst>
                <a:tab pos="1890713" algn="l"/>
                <a:tab pos="2338388" algn="l"/>
                <a:tab pos="2914650" algn="l"/>
                <a:tab pos="3203575" algn="l"/>
                <a:tab pos="3881438" algn="l"/>
                <a:tab pos="4286250" algn="l"/>
              </a:tabLst>
            </a:pPr>
            <a:r>
              <a:rPr lang="en-US" altLang="en-US" dirty="0"/>
              <a:t>Every conflict serializable schedule is also view serializable.</a:t>
            </a:r>
          </a:p>
          <a:p>
            <a:pPr>
              <a:tabLst>
                <a:tab pos="1890713" algn="l"/>
                <a:tab pos="2338388" algn="l"/>
                <a:tab pos="2914650" algn="l"/>
                <a:tab pos="3203575" algn="l"/>
                <a:tab pos="3881438" algn="l"/>
                <a:tab pos="4286250" algn="l"/>
              </a:tabLst>
            </a:pPr>
            <a:r>
              <a:rPr lang="en-US" altLang="en-US" dirty="0"/>
              <a:t>Below is a schedule which is view-serializable but </a:t>
            </a:r>
            <a:r>
              <a:rPr lang="en-US" altLang="en-US" i="1" dirty="0"/>
              <a:t>not </a:t>
            </a:r>
            <a:r>
              <a:rPr lang="en-US" altLang="en-US" dirty="0"/>
              <a:t>conflict serializable.</a:t>
            </a:r>
            <a:br>
              <a:rPr lang="en-US" altLang="en-US" dirty="0"/>
            </a:br>
            <a:endParaRPr lang="en-US" altLang="en-US" dirty="0"/>
          </a:p>
          <a:p>
            <a:pPr>
              <a:buFont typeface="Monotype Sorts" charset="2"/>
              <a:buNone/>
              <a:tabLst>
                <a:tab pos="1890713" algn="l"/>
                <a:tab pos="2338388" algn="l"/>
                <a:tab pos="2914650" algn="l"/>
                <a:tab pos="3203575" algn="l"/>
                <a:tab pos="3881438" algn="l"/>
                <a:tab pos="4286250" algn="l"/>
              </a:tabLst>
            </a:pPr>
            <a:r>
              <a:rPr lang="en-US" altLang="en-US" dirty="0"/>
              <a:t>		</a:t>
            </a:r>
          </a:p>
          <a:p>
            <a:pPr>
              <a:buFont typeface="Monotype Sorts" charset="2"/>
              <a:buNone/>
              <a:tabLst>
                <a:tab pos="1890713" algn="l"/>
                <a:tab pos="2338388" algn="l"/>
                <a:tab pos="2914650" algn="l"/>
                <a:tab pos="3203575" algn="l"/>
                <a:tab pos="3881438" algn="l"/>
                <a:tab pos="4286250" algn="l"/>
              </a:tabLst>
            </a:pPr>
            <a:endParaRPr lang="en-US" altLang="en-US" dirty="0"/>
          </a:p>
          <a:p>
            <a:pPr>
              <a:tabLst>
                <a:tab pos="1890713" algn="l"/>
                <a:tab pos="2338388" algn="l"/>
                <a:tab pos="2914650" algn="l"/>
                <a:tab pos="3203575" algn="l"/>
                <a:tab pos="3881438" algn="l"/>
                <a:tab pos="4286250" algn="l"/>
              </a:tabLst>
            </a:pPr>
            <a:endParaRPr lang="en-US" altLang="en-US" dirty="0"/>
          </a:p>
          <a:p>
            <a:pPr>
              <a:buFont typeface="Monotype Sorts" charset="2"/>
              <a:buNone/>
              <a:tabLst>
                <a:tab pos="1890713" algn="l"/>
                <a:tab pos="2338388" algn="l"/>
                <a:tab pos="2914650" algn="l"/>
                <a:tab pos="3203575" algn="l"/>
                <a:tab pos="3881438" algn="l"/>
                <a:tab pos="4286250" algn="l"/>
              </a:tabLst>
            </a:pPr>
            <a:endParaRPr lang="en-US" altLang="en-US" dirty="0"/>
          </a:p>
          <a:p>
            <a:pPr>
              <a:tabLst>
                <a:tab pos="1890713" algn="l"/>
                <a:tab pos="2338388" algn="l"/>
                <a:tab pos="2914650" algn="l"/>
                <a:tab pos="3203575" algn="l"/>
                <a:tab pos="3881438" algn="l"/>
                <a:tab pos="4286250" algn="l"/>
              </a:tabLst>
            </a:pPr>
            <a:r>
              <a:rPr lang="en-US" altLang="en-US" dirty="0"/>
              <a:t>What serial schedule is above equivalent to?</a:t>
            </a:r>
          </a:p>
          <a:p>
            <a:pPr>
              <a:tabLst>
                <a:tab pos="1890713" algn="l"/>
                <a:tab pos="2338388" algn="l"/>
                <a:tab pos="2914650" algn="l"/>
                <a:tab pos="3203575" algn="l"/>
                <a:tab pos="3881438" algn="l"/>
                <a:tab pos="4286250" algn="l"/>
              </a:tabLst>
            </a:pPr>
            <a:r>
              <a:rPr lang="en-US" altLang="en-US" dirty="0"/>
              <a:t>Every view serializable schedule that is not conflict serializable has </a:t>
            </a:r>
            <a:r>
              <a:rPr lang="en-US" altLang="en-US" b="1" dirty="0">
                <a:solidFill>
                  <a:srgbClr val="000099"/>
                </a:solidFill>
              </a:rPr>
              <a:t>blind writes</a:t>
            </a:r>
            <a:r>
              <a:rPr lang="en-US" altLang="en-US" b="1" dirty="0"/>
              <a:t>.</a:t>
            </a:r>
          </a:p>
        </p:txBody>
      </p:sp>
      <p:pic>
        <p:nvPicPr>
          <p:cNvPr id="26628" name="Picture 4" descr="New PDF from Images Output-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77613" y="2590707"/>
            <a:ext cx="2936875"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99115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Concurrency Control</a:t>
            </a:r>
          </a:p>
        </p:txBody>
      </p:sp>
      <p:sp>
        <p:nvSpPr>
          <p:cNvPr id="34819" name="Rectangle 3"/>
          <p:cNvSpPr>
            <a:spLocks noGrp="1" noChangeArrowheads="1"/>
          </p:cNvSpPr>
          <p:nvPr>
            <p:ph idx="1"/>
          </p:nvPr>
        </p:nvSpPr>
        <p:spPr>
          <a:xfrm>
            <a:off x="656948" y="1102497"/>
            <a:ext cx="7812349" cy="5367972"/>
          </a:xfrm>
        </p:spPr>
        <p:txBody>
          <a:bodyPr/>
          <a:lstStyle/>
          <a:p>
            <a:r>
              <a:rPr lang="en-US" altLang="en-US" dirty="0">
                <a:highlight>
                  <a:srgbClr val="FFFF00"/>
                </a:highlight>
              </a:rPr>
              <a:t>A database must provide a mechanism that will ensure that all possible schedules are </a:t>
            </a:r>
          </a:p>
          <a:p>
            <a:pPr lvl="1"/>
            <a:r>
              <a:rPr lang="en-US" altLang="en-US" b="1" dirty="0">
                <a:highlight>
                  <a:srgbClr val="FFFF00"/>
                </a:highlight>
              </a:rPr>
              <a:t>either conflict or view serializable, and </a:t>
            </a:r>
          </a:p>
          <a:p>
            <a:pPr lvl="1"/>
            <a:r>
              <a:rPr lang="en-US" altLang="en-US" b="1" dirty="0">
                <a:highlight>
                  <a:srgbClr val="FFFF00"/>
                </a:highlight>
              </a:rPr>
              <a:t>are recoverable and preferably cascadeless</a:t>
            </a:r>
          </a:p>
          <a:p>
            <a:r>
              <a:rPr lang="en-US" altLang="en-US" b="1" dirty="0"/>
              <a:t>A policy in which only one transaction can execute at a time generates serial schedules, but provides a poor degree of concurrency</a:t>
            </a:r>
          </a:p>
          <a:p>
            <a:pPr lvl="1"/>
            <a:r>
              <a:rPr lang="en-US" altLang="en-US" dirty="0"/>
              <a:t>Are serial schedules recoverable/</a:t>
            </a:r>
            <a:r>
              <a:rPr lang="en-US" altLang="en-US" dirty="0" err="1"/>
              <a:t>cascadeless</a:t>
            </a:r>
            <a:r>
              <a:rPr lang="en-US" altLang="en-US" dirty="0"/>
              <a:t>?</a:t>
            </a:r>
          </a:p>
          <a:p>
            <a:r>
              <a:rPr lang="en-US" altLang="en-US" dirty="0"/>
              <a:t>Testing a schedule for serializability </a:t>
            </a:r>
            <a:r>
              <a:rPr lang="en-US" altLang="en-US" i="1" dirty="0"/>
              <a:t>after</a:t>
            </a:r>
            <a:r>
              <a:rPr lang="en-US" altLang="en-US" dirty="0"/>
              <a:t> it has executed is a little too late!</a:t>
            </a:r>
          </a:p>
          <a:p>
            <a:r>
              <a:rPr lang="en-US" altLang="en-US" b="1" dirty="0">
                <a:solidFill>
                  <a:srgbClr val="000099"/>
                </a:solidFill>
              </a:rPr>
              <a:t>Goal</a:t>
            </a:r>
            <a:r>
              <a:rPr lang="en-US" altLang="en-US" dirty="0"/>
              <a:t> </a:t>
            </a:r>
            <a:r>
              <a:rPr lang="en-US" altLang="en-US" b="1" dirty="0"/>
              <a:t>– to develop concurrency control protocols that will assure serializability.</a:t>
            </a:r>
          </a:p>
        </p:txBody>
      </p:sp>
    </p:spTree>
    <p:extLst>
      <p:ext uri="{BB962C8B-B14F-4D97-AF65-F5344CB8AC3E}">
        <p14:creationId xmlns:p14="http://schemas.microsoft.com/office/powerpoint/2010/main" val="26815661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Concurrency Control (Cont.)</a:t>
            </a:r>
          </a:p>
        </p:txBody>
      </p:sp>
      <p:sp>
        <p:nvSpPr>
          <p:cNvPr id="35843" name="Rectangle 3"/>
          <p:cNvSpPr>
            <a:spLocks noGrp="1" noChangeArrowheads="1"/>
          </p:cNvSpPr>
          <p:nvPr>
            <p:ph idx="1"/>
          </p:nvPr>
        </p:nvSpPr>
        <p:spPr>
          <a:xfrm>
            <a:off x="656948" y="1102497"/>
            <a:ext cx="7803471" cy="5367972"/>
          </a:xfrm>
        </p:spPr>
        <p:txBody>
          <a:bodyPr/>
          <a:lstStyle/>
          <a:p>
            <a:r>
              <a:rPr lang="en-US" altLang="en-US" b="1" dirty="0">
                <a:highlight>
                  <a:srgbClr val="FFFF00"/>
                </a:highlight>
              </a:rPr>
              <a:t>Schedules must be conflict or view serializable, and recoverable, for the sake of database consistency, and preferably cascadeless</a:t>
            </a:r>
            <a:r>
              <a:rPr lang="en-US" altLang="en-US" dirty="0">
                <a:highlight>
                  <a:srgbClr val="FFFF00"/>
                </a:highlight>
              </a:rPr>
              <a:t>.</a:t>
            </a:r>
          </a:p>
          <a:p>
            <a:r>
              <a:rPr lang="en-US" altLang="en-US" dirty="0">
                <a:highlight>
                  <a:srgbClr val="FFFF00"/>
                </a:highlight>
              </a:rPr>
              <a:t>A policy in which only one transaction can execute at a time generates serial schedules, but provides a poor degree of concurrency</a:t>
            </a:r>
            <a:r>
              <a:rPr lang="en-US" altLang="en-US" dirty="0"/>
              <a:t>.</a:t>
            </a:r>
          </a:p>
          <a:p>
            <a:r>
              <a:rPr lang="en-US" altLang="en-US" b="1" dirty="0"/>
              <a:t>Concurrency-control schemes tradeoff between the amount of concurrency they allow and the amount of overhead that they incur.</a:t>
            </a:r>
          </a:p>
          <a:p>
            <a:r>
              <a:rPr lang="en-US" altLang="en-US" dirty="0">
                <a:highlight>
                  <a:srgbClr val="FFFF00"/>
                </a:highlight>
              </a:rPr>
              <a:t>Some schemes allow only conflict-serializable schedules to be generated, while others allow  view-serializable schedules that are not conflict-serializable</a:t>
            </a:r>
            <a:r>
              <a:rPr lang="en-US" altLang="en-US" dirty="0"/>
              <a:t>.</a:t>
            </a:r>
          </a:p>
        </p:txBody>
      </p:sp>
    </p:spTree>
    <p:extLst>
      <p:ext uri="{BB962C8B-B14F-4D97-AF65-F5344CB8AC3E}">
        <p14:creationId xmlns:p14="http://schemas.microsoft.com/office/powerpoint/2010/main" val="34078073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Transaction Concept</a:t>
            </a:r>
            <a:endParaRPr/>
          </a:p>
        </p:txBody>
      </p:sp>
      <p:sp>
        <p:nvSpPr>
          <p:cNvPr id="101" name="Google Shape;101;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ct val="114285"/>
              <a:buChar char="•"/>
            </a:pPr>
            <a:r>
              <a:rPr lang="en-US"/>
              <a:t>A transaction is a unit of program execution that accesses and possibly updates various data items.</a:t>
            </a:r>
            <a:endParaRPr sz="2800"/>
          </a:p>
          <a:p>
            <a:pPr marL="342900" lvl="0" indent="-342900" algn="l" rtl="0">
              <a:spcBef>
                <a:spcPts val="592"/>
              </a:spcBef>
              <a:spcAft>
                <a:spcPts val="0"/>
              </a:spcAft>
              <a:buClr>
                <a:schemeClr val="dk1"/>
              </a:buClr>
              <a:buSzPct val="114285"/>
              <a:buChar char="•"/>
            </a:pPr>
            <a:r>
              <a:rPr lang="en-US"/>
              <a:t>A transaction must see a consistent database.</a:t>
            </a:r>
            <a:endParaRPr sz="2800"/>
          </a:p>
          <a:p>
            <a:pPr marL="342900" lvl="0" indent="-342900" algn="l" rtl="0">
              <a:spcBef>
                <a:spcPts val="592"/>
              </a:spcBef>
              <a:spcAft>
                <a:spcPts val="0"/>
              </a:spcAft>
              <a:buClr>
                <a:schemeClr val="dk1"/>
              </a:buClr>
              <a:buSzPct val="114285"/>
              <a:buChar char="•"/>
            </a:pPr>
            <a:r>
              <a:rPr lang="en-US"/>
              <a:t>The database may be inconsistent during transaction execution.</a:t>
            </a:r>
            <a:endParaRPr sz="2800"/>
          </a:p>
          <a:p>
            <a:pPr marL="342900" lvl="0" indent="-342900" algn="l" rtl="0">
              <a:spcBef>
                <a:spcPts val="592"/>
              </a:spcBef>
              <a:spcAft>
                <a:spcPts val="0"/>
              </a:spcAft>
              <a:buClr>
                <a:schemeClr val="dk1"/>
              </a:buClr>
              <a:buSzPct val="114285"/>
              <a:buChar char="•"/>
            </a:pPr>
            <a:r>
              <a:rPr lang="en-US"/>
              <a:t>After a transaction is committed, the database must be consistent.</a:t>
            </a:r>
            <a:endParaRPr sz="2800"/>
          </a:p>
          <a:p>
            <a:pPr marL="342900" lvl="0" indent="-342900" algn="l" rtl="0">
              <a:spcBef>
                <a:spcPts val="592"/>
              </a:spcBef>
              <a:spcAft>
                <a:spcPts val="0"/>
              </a:spcAft>
              <a:buClr>
                <a:schemeClr val="dk1"/>
              </a:buClr>
              <a:buSzPct val="114285"/>
              <a:buChar char="•"/>
            </a:pPr>
            <a:r>
              <a:rPr lang="en-US"/>
              <a:t>Two main issues: </a:t>
            </a:r>
            <a:endParaRPr sz="2800"/>
          </a:p>
          <a:p>
            <a:pPr marL="742950" lvl="1" indent="-285750" algn="l" rtl="0">
              <a:spcBef>
                <a:spcPts val="518"/>
              </a:spcBef>
              <a:spcAft>
                <a:spcPts val="0"/>
              </a:spcAft>
              <a:buClr>
                <a:schemeClr val="dk1"/>
              </a:buClr>
              <a:buSzPct val="116666"/>
              <a:buChar char="–"/>
            </a:pPr>
            <a:r>
              <a:rPr lang="en-US" b="1"/>
              <a:t>Failures:</a:t>
            </a:r>
            <a:r>
              <a:rPr lang="en-US"/>
              <a:t> Hardware failures and system crashes.</a:t>
            </a:r>
            <a:endParaRPr sz="2400"/>
          </a:p>
          <a:p>
            <a:pPr marL="742950" lvl="1" indent="-285750" algn="l" rtl="0">
              <a:spcBef>
                <a:spcPts val="518"/>
              </a:spcBef>
              <a:spcAft>
                <a:spcPts val="0"/>
              </a:spcAft>
              <a:buClr>
                <a:schemeClr val="dk1"/>
              </a:buClr>
              <a:buSzPct val="116666"/>
              <a:buChar char="–"/>
            </a:pPr>
            <a:r>
              <a:rPr lang="en-US" b="1"/>
              <a:t>Concurrency:</a:t>
            </a:r>
            <a:r>
              <a:rPr lang="en-US"/>
              <a:t> Multiple transactions executing simultaneously.</a:t>
            </a:r>
            <a:endParaRPr sz="2400"/>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en-US" b="1"/>
              <a:t>Q1:</a:t>
            </a:r>
            <a:r>
              <a:rPr lang="en-US"/>
              <a:t> Which of the following is true for a transaction in DBMS? </a:t>
            </a:r>
            <a:endParaRPr/>
          </a:p>
        </p:txBody>
      </p:sp>
      <p:sp>
        <p:nvSpPr>
          <p:cNvPr id="107" name="Google Shape;107;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 A transaction is a set of operations that performs a single logical function in a database. </a:t>
            </a:r>
            <a:endParaRPr/>
          </a:p>
          <a:p>
            <a:pPr marL="342900" lvl="0" indent="-342900" algn="l" rtl="0">
              <a:spcBef>
                <a:spcPts val="640"/>
              </a:spcBef>
              <a:spcAft>
                <a:spcPts val="0"/>
              </a:spcAft>
              <a:buClr>
                <a:schemeClr val="dk1"/>
              </a:buClr>
              <a:buSzPts val="3200"/>
              <a:buChar char="•"/>
            </a:pPr>
            <a:r>
              <a:rPr lang="en-US"/>
              <a:t>B) Transactions can be executed only sequentially. </a:t>
            </a:r>
            <a:endParaRPr/>
          </a:p>
          <a:p>
            <a:pPr marL="342900" lvl="0" indent="-342900" algn="l" rtl="0">
              <a:spcBef>
                <a:spcPts val="640"/>
              </a:spcBef>
              <a:spcAft>
                <a:spcPts val="0"/>
              </a:spcAft>
              <a:buClr>
                <a:schemeClr val="dk1"/>
              </a:buClr>
              <a:buSzPts val="3200"/>
              <a:buChar char="•"/>
            </a:pPr>
            <a:r>
              <a:rPr lang="en-US"/>
              <a:t>C) A transaction cannot update multiple data items. </a:t>
            </a:r>
            <a:endParaRPr/>
          </a:p>
          <a:p>
            <a:pPr marL="342900" lvl="0" indent="-342900" algn="l" rtl="0">
              <a:spcBef>
                <a:spcPts val="640"/>
              </a:spcBef>
              <a:spcAft>
                <a:spcPts val="0"/>
              </a:spcAft>
              <a:buClr>
                <a:schemeClr val="dk1"/>
              </a:buClr>
              <a:buSzPts val="3200"/>
              <a:buChar char="•"/>
            </a:pPr>
            <a:r>
              <a:rPr lang="en-US"/>
              <a:t>D) Transactions do not need to follow ACID properties.</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ACID Properties</a:t>
            </a:r>
            <a:endParaRPr/>
          </a:p>
        </p:txBody>
      </p:sp>
      <p:sp>
        <p:nvSpPr>
          <p:cNvPr id="113" name="Google Shape;113;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a:t>Atomicity:</a:t>
            </a:r>
            <a:r>
              <a:rPr lang="en-US"/>
              <a:t> All operations of a transaction are either fully executed or none at all.</a:t>
            </a:r>
            <a:endParaRPr/>
          </a:p>
          <a:p>
            <a:pPr marL="342900" lvl="0" indent="-342900" algn="l" rtl="0">
              <a:spcBef>
                <a:spcPts val="640"/>
              </a:spcBef>
              <a:spcAft>
                <a:spcPts val="0"/>
              </a:spcAft>
              <a:buClr>
                <a:schemeClr val="dk1"/>
              </a:buClr>
              <a:buSzPts val="3200"/>
              <a:buChar char="•"/>
            </a:pPr>
            <a:r>
              <a:rPr lang="en-US" b="1"/>
              <a:t>Consistency:</a:t>
            </a:r>
            <a:r>
              <a:rPr lang="en-US"/>
              <a:t> Transactions preserve database consistency.</a:t>
            </a:r>
            <a:endParaRPr/>
          </a:p>
          <a:p>
            <a:pPr marL="342900" lvl="0" indent="-342900" algn="l" rtl="0">
              <a:spcBef>
                <a:spcPts val="640"/>
              </a:spcBef>
              <a:spcAft>
                <a:spcPts val="0"/>
              </a:spcAft>
              <a:buClr>
                <a:schemeClr val="dk1"/>
              </a:buClr>
              <a:buSzPts val="3200"/>
              <a:buChar char="•"/>
            </a:pPr>
            <a:r>
              <a:rPr lang="en-US" b="1"/>
              <a:t>Isolation:</a:t>
            </a:r>
            <a:r>
              <a:rPr lang="en-US"/>
              <a:t> Concurrent transactions do not interfere with each other.</a:t>
            </a:r>
            <a:endParaRPr/>
          </a:p>
          <a:p>
            <a:pPr marL="342900" lvl="0" indent="-342900" algn="l" rtl="0">
              <a:spcBef>
                <a:spcPts val="640"/>
              </a:spcBef>
              <a:spcAft>
                <a:spcPts val="0"/>
              </a:spcAft>
              <a:buClr>
                <a:schemeClr val="dk1"/>
              </a:buClr>
              <a:buSzPts val="3200"/>
              <a:buChar char="•"/>
            </a:pPr>
            <a:r>
              <a:rPr lang="en-US" b="1"/>
              <a:t>Durability:</a:t>
            </a:r>
            <a:r>
              <a:rPr lang="en-US"/>
              <a:t> Once a transaction commits, changes persist despite system failures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19" name="Google Shape;119;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a:t>Q</a:t>
            </a:r>
            <a:endParaRPr/>
          </a:p>
          <a:p>
            <a:pPr marL="342900" lvl="0" indent="-342900" algn="l" rtl="0">
              <a:spcBef>
                <a:spcPts val="640"/>
              </a:spcBef>
              <a:spcAft>
                <a:spcPts val="0"/>
              </a:spcAft>
              <a:buClr>
                <a:schemeClr val="dk1"/>
              </a:buClr>
              <a:buSzPts val="3200"/>
              <a:buChar char="•"/>
            </a:pPr>
            <a:r>
              <a:rPr lang="en-US"/>
              <a:t>Consider a transaction transferring $100 from Account A to Account B. Which property ensures that if a failure occurs after debiting A but before crediting B, the transaction is rolled back? </a:t>
            </a:r>
            <a:endParaRPr/>
          </a:p>
          <a:p>
            <a:pPr marL="342900" lvl="0" indent="-342900" algn="l" rtl="0">
              <a:spcBef>
                <a:spcPts val="640"/>
              </a:spcBef>
              <a:spcAft>
                <a:spcPts val="0"/>
              </a:spcAft>
              <a:buClr>
                <a:schemeClr val="dk1"/>
              </a:buClr>
              <a:buSzPts val="3200"/>
              <a:buChar char="•"/>
            </a:pPr>
            <a:r>
              <a:rPr lang="en-US"/>
              <a:t>A) Consistency B) Durability C) Isolation D) Atomicity</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Example of Fund Transfer</a:t>
            </a:r>
            <a:endParaRPr/>
          </a:p>
        </p:txBody>
      </p:sp>
      <p:sp>
        <p:nvSpPr>
          <p:cNvPr id="125" name="Google Shape;125;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ct val="114285"/>
              <a:buChar char="•"/>
            </a:pPr>
            <a:r>
              <a:rPr lang="en-US"/>
              <a:t>Transfer $50 from account A to account B: </a:t>
            </a:r>
            <a:endParaRPr sz="2800"/>
          </a:p>
          <a:p>
            <a:pPr marL="742950" lvl="1" indent="-285750" algn="l" rtl="0">
              <a:spcBef>
                <a:spcPts val="518"/>
              </a:spcBef>
              <a:spcAft>
                <a:spcPts val="0"/>
              </a:spcAft>
              <a:buClr>
                <a:schemeClr val="dk1"/>
              </a:buClr>
              <a:buSzPct val="116666"/>
              <a:buChar char="–"/>
            </a:pPr>
            <a:r>
              <a:rPr lang="en-US"/>
              <a:t>read(A)</a:t>
            </a:r>
            <a:endParaRPr sz="2400"/>
          </a:p>
          <a:p>
            <a:pPr marL="742950" lvl="1" indent="-285750" algn="l" rtl="0">
              <a:spcBef>
                <a:spcPts val="518"/>
              </a:spcBef>
              <a:spcAft>
                <a:spcPts val="0"/>
              </a:spcAft>
              <a:buClr>
                <a:schemeClr val="dk1"/>
              </a:buClr>
              <a:buSzPct val="116666"/>
              <a:buChar char="–"/>
            </a:pPr>
            <a:r>
              <a:rPr lang="en-US"/>
              <a:t>A := A – 50</a:t>
            </a:r>
            <a:endParaRPr sz="2400"/>
          </a:p>
          <a:p>
            <a:pPr marL="742950" lvl="1" indent="-285750" algn="l" rtl="0">
              <a:spcBef>
                <a:spcPts val="518"/>
              </a:spcBef>
              <a:spcAft>
                <a:spcPts val="0"/>
              </a:spcAft>
              <a:buClr>
                <a:schemeClr val="dk1"/>
              </a:buClr>
              <a:buSzPct val="116666"/>
              <a:buChar char="–"/>
            </a:pPr>
            <a:r>
              <a:rPr lang="en-US"/>
              <a:t>write(A)</a:t>
            </a:r>
            <a:endParaRPr sz="2400"/>
          </a:p>
          <a:p>
            <a:pPr marL="742950" lvl="1" indent="-285750" algn="l" rtl="0">
              <a:spcBef>
                <a:spcPts val="518"/>
              </a:spcBef>
              <a:spcAft>
                <a:spcPts val="0"/>
              </a:spcAft>
              <a:buClr>
                <a:schemeClr val="dk1"/>
              </a:buClr>
              <a:buSzPct val="116666"/>
              <a:buChar char="–"/>
            </a:pPr>
            <a:r>
              <a:rPr lang="en-US"/>
              <a:t>read(B)</a:t>
            </a:r>
            <a:endParaRPr sz="2400"/>
          </a:p>
          <a:p>
            <a:pPr marL="742950" lvl="1" indent="-285750" algn="l" rtl="0">
              <a:spcBef>
                <a:spcPts val="518"/>
              </a:spcBef>
              <a:spcAft>
                <a:spcPts val="0"/>
              </a:spcAft>
              <a:buClr>
                <a:schemeClr val="dk1"/>
              </a:buClr>
              <a:buSzPct val="116666"/>
              <a:buChar char="–"/>
            </a:pPr>
            <a:r>
              <a:rPr lang="en-US"/>
              <a:t>B := B + 50</a:t>
            </a:r>
            <a:endParaRPr sz="2400"/>
          </a:p>
          <a:p>
            <a:pPr marL="742950" lvl="1" indent="-285750" algn="l" rtl="0">
              <a:spcBef>
                <a:spcPts val="518"/>
              </a:spcBef>
              <a:spcAft>
                <a:spcPts val="0"/>
              </a:spcAft>
              <a:buClr>
                <a:schemeClr val="dk1"/>
              </a:buClr>
              <a:buSzPct val="116666"/>
              <a:buChar char="–"/>
            </a:pPr>
            <a:r>
              <a:rPr lang="en-US"/>
              <a:t>write(B)</a:t>
            </a:r>
            <a:endParaRPr sz="2400"/>
          </a:p>
          <a:p>
            <a:pPr marL="342900" lvl="0" indent="-342900" algn="l" rtl="0">
              <a:spcBef>
                <a:spcPts val="592"/>
              </a:spcBef>
              <a:spcAft>
                <a:spcPts val="0"/>
              </a:spcAft>
              <a:buClr>
                <a:schemeClr val="dk1"/>
              </a:buClr>
              <a:buSzPct val="114285"/>
              <a:buChar char="•"/>
            </a:pPr>
            <a:r>
              <a:rPr lang="en-US" b="1"/>
              <a:t>Consistency:</a:t>
            </a:r>
            <a:r>
              <a:rPr lang="en-US"/>
              <a:t> Sum of A and B remains unchanged.</a:t>
            </a:r>
            <a:endParaRPr sz="2800"/>
          </a:p>
          <a:p>
            <a:pPr marL="342900" lvl="0" indent="-342900" algn="l" rtl="0">
              <a:spcBef>
                <a:spcPts val="592"/>
              </a:spcBef>
              <a:spcAft>
                <a:spcPts val="0"/>
              </a:spcAft>
              <a:buClr>
                <a:schemeClr val="dk1"/>
              </a:buClr>
              <a:buSzPct val="100000"/>
              <a:buChar char="•"/>
            </a:pPr>
            <a:r>
              <a:rPr lang="en-US" b="1"/>
              <a:t>Atomicity:</a:t>
            </a:r>
            <a:r>
              <a:rPr lang="en-US"/>
              <a:t> If failure occurs between steps 3 and 6, updates should be rolled back</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Transaction States</a:t>
            </a:r>
            <a:endParaRPr/>
          </a:p>
        </p:txBody>
      </p:sp>
      <p:sp>
        <p:nvSpPr>
          <p:cNvPr id="131" name="Google Shape;131;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ct val="114285"/>
              <a:buChar char="•"/>
            </a:pPr>
            <a:r>
              <a:rPr lang="en-US" b="1"/>
              <a:t>Active-:</a:t>
            </a:r>
            <a:r>
              <a:rPr lang="en-US"/>
              <a:t> Initial state during execution.</a:t>
            </a:r>
            <a:endParaRPr sz="2800"/>
          </a:p>
          <a:p>
            <a:pPr marL="342900" lvl="0" indent="-342900" algn="l" rtl="0">
              <a:spcBef>
                <a:spcPts val="592"/>
              </a:spcBef>
              <a:spcAft>
                <a:spcPts val="0"/>
              </a:spcAft>
              <a:buClr>
                <a:schemeClr val="dk1"/>
              </a:buClr>
              <a:buSzPct val="114285"/>
              <a:buChar char="•"/>
            </a:pPr>
            <a:r>
              <a:rPr lang="en-US" b="1"/>
              <a:t>Partially Committed-:</a:t>
            </a:r>
            <a:r>
              <a:rPr lang="en-US"/>
              <a:t> After the final statement executes.</a:t>
            </a:r>
            <a:endParaRPr sz="2800"/>
          </a:p>
          <a:p>
            <a:pPr marL="342900" lvl="0" indent="-342900" algn="l" rtl="0">
              <a:spcBef>
                <a:spcPts val="592"/>
              </a:spcBef>
              <a:spcAft>
                <a:spcPts val="0"/>
              </a:spcAft>
              <a:buClr>
                <a:schemeClr val="dk1"/>
              </a:buClr>
              <a:buSzPct val="114285"/>
              <a:buChar char="•"/>
            </a:pPr>
            <a:r>
              <a:rPr lang="en-US" b="1"/>
              <a:t>Failed-:</a:t>
            </a:r>
            <a:r>
              <a:rPr lang="en-US"/>
              <a:t> When normal execution cannot proceed.</a:t>
            </a:r>
            <a:endParaRPr sz="2800"/>
          </a:p>
          <a:p>
            <a:pPr marL="342900" lvl="0" indent="-342900" algn="l" rtl="0">
              <a:spcBef>
                <a:spcPts val="592"/>
              </a:spcBef>
              <a:spcAft>
                <a:spcPts val="0"/>
              </a:spcAft>
              <a:buClr>
                <a:schemeClr val="dk1"/>
              </a:buClr>
              <a:buSzPct val="100000"/>
              <a:buChar char="•"/>
            </a:pPr>
            <a:r>
              <a:rPr lang="en-US" b="1"/>
              <a:t>Aborted-:</a:t>
            </a:r>
            <a:r>
              <a:rPr lang="en-US"/>
              <a:t> Rolled back, database restored to previous state. </a:t>
            </a:r>
            <a:endParaRPr/>
          </a:p>
          <a:p>
            <a:pPr marL="742950" lvl="1" indent="-285750" algn="l" rtl="0">
              <a:spcBef>
                <a:spcPts val="518"/>
              </a:spcBef>
              <a:spcAft>
                <a:spcPts val="0"/>
              </a:spcAft>
              <a:buClr>
                <a:schemeClr val="dk1"/>
              </a:buClr>
              <a:buSzPct val="116666"/>
              <a:buChar char="–"/>
            </a:pPr>
            <a:r>
              <a:rPr lang="en-US"/>
              <a:t>Options</a:t>
            </a:r>
            <a:endParaRPr sz="2400"/>
          </a:p>
          <a:p>
            <a:pPr marL="1143000" lvl="2" indent="-228600" algn="l" rtl="0">
              <a:spcBef>
                <a:spcPts val="444"/>
              </a:spcBef>
              <a:spcAft>
                <a:spcPts val="0"/>
              </a:spcAft>
              <a:buClr>
                <a:schemeClr val="dk1"/>
              </a:buClr>
              <a:buSzPct val="120000"/>
              <a:buChar char="•"/>
            </a:pPr>
            <a:r>
              <a:rPr lang="en-US"/>
              <a:t>Restart if no logical error</a:t>
            </a:r>
            <a:endParaRPr sz="2000"/>
          </a:p>
          <a:p>
            <a:pPr marL="1143000" lvl="2" indent="-228600" algn="l" rtl="0">
              <a:spcBef>
                <a:spcPts val="444"/>
              </a:spcBef>
              <a:spcAft>
                <a:spcPts val="0"/>
              </a:spcAft>
              <a:buClr>
                <a:schemeClr val="dk1"/>
              </a:buClr>
              <a:buSzPct val="120000"/>
              <a:buChar char="•"/>
            </a:pPr>
            <a:r>
              <a:rPr lang="en-US"/>
              <a:t>Kill the transaction</a:t>
            </a:r>
            <a:endParaRPr sz="2000"/>
          </a:p>
          <a:p>
            <a:pPr marL="342900" lvl="0" indent="-342900" algn="l" rtl="0">
              <a:spcBef>
                <a:spcPts val="592"/>
              </a:spcBef>
              <a:spcAft>
                <a:spcPts val="0"/>
              </a:spcAft>
              <a:buClr>
                <a:schemeClr val="dk1"/>
              </a:buClr>
              <a:buSzPct val="114285"/>
              <a:buChar char="•"/>
            </a:pPr>
            <a:r>
              <a:rPr lang="en-US" b="1"/>
              <a:t>Committed-:</a:t>
            </a:r>
            <a:r>
              <a:rPr lang="en-US"/>
              <a:t> Successfully completed</a:t>
            </a:r>
            <a:endParaRPr sz="2800"/>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37" name="Google Shape;137;p2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ct val="100000"/>
              <a:buChar char="•"/>
            </a:pPr>
            <a:r>
              <a:rPr lang="en-US" b="1"/>
              <a:t>Q</a:t>
            </a:r>
            <a:r>
              <a:rPr lang="en-US"/>
              <a:t> </a:t>
            </a:r>
            <a:endParaRPr/>
          </a:p>
          <a:p>
            <a:pPr marL="342900" lvl="0" indent="-342900" algn="l" rtl="0">
              <a:spcBef>
                <a:spcPts val="544"/>
              </a:spcBef>
              <a:spcAft>
                <a:spcPts val="0"/>
              </a:spcAft>
              <a:buClr>
                <a:schemeClr val="dk1"/>
              </a:buClr>
              <a:buSzPct val="100000"/>
              <a:buChar char="•"/>
            </a:pPr>
            <a:r>
              <a:rPr lang="en-US"/>
              <a:t>Which of the following is NOT a valid transaction state? </a:t>
            </a:r>
            <a:endParaRPr/>
          </a:p>
          <a:p>
            <a:pPr marL="342900" lvl="0" indent="-342900" algn="l" rtl="0">
              <a:spcBef>
                <a:spcPts val="544"/>
              </a:spcBef>
              <a:spcAft>
                <a:spcPts val="0"/>
              </a:spcAft>
              <a:buClr>
                <a:schemeClr val="dk1"/>
              </a:buClr>
              <a:buSzPct val="100000"/>
              <a:buChar char="•"/>
            </a:pPr>
            <a:r>
              <a:rPr lang="en-US"/>
              <a:t>A) Active B) Partially Committed C) Suspended D) Aborted</a:t>
            </a:r>
            <a:endParaRPr/>
          </a:p>
          <a:p>
            <a:pPr marL="342900" lvl="0" indent="-342900" algn="l" rtl="0">
              <a:spcBef>
                <a:spcPts val="544"/>
              </a:spcBef>
              <a:spcAft>
                <a:spcPts val="0"/>
              </a:spcAft>
              <a:buClr>
                <a:schemeClr val="dk1"/>
              </a:buClr>
              <a:buSzPct val="100000"/>
              <a:buChar char="•"/>
            </a:pPr>
            <a:r>
              <a:rPr lang="en-US" b="1"/>
              <a:t>Q</a:t>
            </a:r>
            <a:endParaRPr/>
          </a:p>
          <a:p>
            <a:pPr marL="342900" lvl="0" indent="-342900" algn="l" rtl="0">
              <a:spcBef>
                <a:spcPts val="544"/>
              </a:spcBef>
              <a:spcAft>
                <a:spcPts val="0"/>
              </a:spcAft>
              <a:buClr>
                <a:schemeClr val="dk1"/>
              </a:buClr>
              <a:buSzPct val="100000"/>
              <a:buChar char="•"/>
            </a:pPr>
            <a:r>
              <a:rPr lang="en-US"/>
              <a:t>After a transaction has executed its final operation but before committing, it is in which state? </a:t>
            </a:r>
            <a:endParaRPr/>
          </a:p>
          <a:p>
            <a:pPr marL="342900" lvl="0" indent="-342900" algn="l" rtl="0">
              <a:spcBef>
                <a:spcPts val="544"/>
              </a:spcBef>
              <a:spcAft>
                <a:spcPts val="0"/>
              </a:spcAft>
              <a:buClr>
                <a:schemeClr val="dk1"/>
              </a:buClr>
              <a:buSzPct val="100000"/>
              <a:buChar char="•"/>
            </a:pPr>
            <a:r>
              <a:rPr lang="en-US"/>
              <a:t>A) Active B) Partially Committed C) Aborted D) Committed</a:t>
            </a:r>
            <a:endParaRPr/>
          </a:p>
          <a:p>
            <a:pPr marL="342900" lvl="0" indent="-170180" algn="l" rtl="0">
              <a:spcBef>
                <a:spcPts val="544"/>
              </a:spcBef>
              <a:spcAft>
                <a:spcPts val="0"/>
              </a:spcAft>
              <a:buClr>
                <a:schemeClr val="dk1"/>
              </a:buClr>
              <a:buSzPct val="100000"/>
              <a:buNone/>
            </a:pP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Schedules</a:t>
            </a:r>
            <a:endParaRPr/>
          </a:p>
        </p:txBody>
      </p:sp>
      <p:sp>
        <p:nvSpPr>
          <p:cNvPr id="143" name="Google Shape;143;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ct val="114285"/>
              <a:buChar char="•"/>
            </a:pPr>
            <a:r>
              <a:rPr lang="en-US" b="1"/>
              <a:t>Definition:</a:t>
            </a:r>
            <a:r>
              <a:rPr lang="en-US"/>
              <a:t> Chronological sequences of concurrent transaction execution.</a:t>
            </a:r>
            <a:endParaRPr sz="2800"/>
          </a:p>
          <a:p>
            <a:pPr marL="342900" lvl="0" indent="-342900" algn="l" rtl="0">
              <a:spcBef>
                <a:spcPts val="592"/>
              </a:spcBef>
              <a:spcAft>
                <a:spcPts val="0"/>
              </a:spcAft>
              <a:buClr>
                <a:schemeClr val="dk1"/>
              </a:buClr>
              <a:buSzPct val="114285"/>
              <a:buChar char="•"/>
            </a:pPr>
            <a:r>
              <a:rPr lang="en-US" b="1"/>
              <a:t>Rules:</a:t>
            </a:r>
            <a:r>
              <a:rPr lang="en-US"/>
              <a:t> </a:t>
            </a:r>
            <a:endParaRPr sz="2800"/>
          </a:p>
          <a:p>
            <a:pPr marL="742950" lvl="1" indent="-285750" algn="l" rtl="0">
              <a:spcBef>
                <a:spcPts val="518"/>
              </a:spcBef>
              <a:spcAft>
                <a:spcPts val="0"/>
              </a:spcAft>
              <a:buClr>
                <a:schemeClr val="dk1"/>
              </a:buClr>
              <a:buSzPct val="116666"/>
              <a:buChar char="–"/>
            </a:pPr>
            <a:r>
              <a:rPr lang="en-US"/>
              <a:t>Include all transaction instructions.</a:t>
            </a:r>
            <a:endParaRPr sz="2400"/>
          </a:p>
          <a:p>
            <a:pPr marL="742950" lvl="1" indent="-285750" algn="l" rtl="0">
              <a:spcBef>
                <a:spcPts val="518"/>
              </a:spcBef>
              <a:spcAft>
                <a:spcPts val="0"/>
              </a:spcAft>
              <a:buClr>
                <a:schemeClr val="dk1"/>
              </a:buClr>
              <a:buSzPct val="116666"/>
              <a:buChar char="–"/>
            </a:pPr>
            <a:r>
              <a:rPr lang="en-US"/>
              <a:t>Preserve order within individual transactions.</a:t>
            </a:r>
            <a:endParaRPr sz="2400"/>
          </a:p>
          <a:p>
            <a:pPr marL="342900" lvl="0" indent="-342900" algn="l" rtl="0">
              <a:spcBef>
                <a:spcPts val="592"/>
              </a:spcBef>
              <a:spcAft>
                <a:spcPts val="0"/>
              </a:spcAft>
              <a:buClr>
                <a:schemeClr val="dk1"/>
              </a:buClr>
              <a:buSzPct val="114285"/>
              <a:buChar char="•"/>
            </a:pPr>
            <a:r>
              <a:rPr lang="en-US" b="1"/>
              <a:t>Types:</a:t>
            </a:r>
            <a:r>
              <a:rPr lang="en-US"/>
              <a:t> </a:t>
            </a:r>
            <a:endParaRPr sz="2800"/>
          </a:p>
          <a:p>
            <a:pPr marL="742950" lvl="1" indent="-285750" algn="l" rtl="0">
              <a:spcBef>
                <a:spcPts val="518"/>
              </a:spcBef>
              <a:spcAft>
                <a:spcPts val="0"/>
              </a:spcAft>
              <a:buClr>
                <a:schemeClr val="dk1"/>
              </a:buClr>
              <a:buSzPct val="116666"/>
              <a:buChar char="–"/>
            </a:pPr>
            <a:r>
              <a:rPr lang="en-US" b="1"/>
              <a:t>Serial schedule:</a:t>
            </a:r>
            <a:r>
              <a:rPr lang="en-US"/>
              <a:t> Transactions execute one after another.</a:t>
            </a:r>
            <a:endParaRPr sz="2400"/>
          </a:p>
          <a:p>
            <a:pPr marL="742950" lvl="1" indent="-285750" algn="l" rtl="0">
              <a:spcBef>
                <a:spcPts val="518"/>
              </a:spcBef>
              <a:spcAft>
                <a:spcPts val="0"/>
              </a:spcAft>
              <a:buClr>
                <a:schemeClr val="dk1"/>
              </a:buClr>
              <a:buSzPct val="116666"/>
              <a:buChar char="–"/>
            </a:pPr>
            <a:r>
              <a:rPr lang="en-US" b="1"/>
              <a:t>Concurrent schedule:</a:t>
            </a:r>
            <a:r>
              <a:rPr lang="en-US"/>
              <a:t> </a:t>
            </a:r>
            <a:r>
              <a:rPr lang="en-US" b="1">
                <a:solidFill>
                  <a:srgbClr val="FF0000"/>
                </a:solidFill>
              </a:rPr>
              <a:t>Interleaved execution </a:t>
            </a:r>
            <a:r>
              <a:rPr lang="en-US"/>
              <a:t>of transactions.</a:t>
            </a:r>
            <a:endParaRPr sz="2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Serializability</a:t>
            </a:r>
            <a:endParaRPr/>
          </a:p>
        </p:txBody>
      </p:sp>
      <p:sp>
        <p:nvSpPr>
          <p:cNvPr id="149" name="Google Shape;149;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65100" algn="l" rtl="0">
              <a:spcBef>
                <a:spcPts val="0"/>
              </a:spcBef>
              <a:spcAft>
                <a:spcPts val="0"/>
              </a:spcAft>
              <a:buClr>
                <a:schemeClr val="dk1"/>
              </a:buClr>
              <a:buSzPts val="2800"/>
              <a:buNone/>
            </a:pPr>
            <a:endParaRPr sz="2800"/>
          </a:p>
          <a:p>
            <a:pPr marL="342900" lvl="0" indent="-342900" algn="l" rtl="0">
              <a:spcBef>
                <a:spcPts val="640"/>
              </a:spcBef>
              <a:spcAft>
                <a:spcPts val="0"/>
              </a:spcAft>
              <a:buClr>
                <a:schemeClr val="dk1"/>
              </a:buClr>
              <a:buSzPts val="3200"/>
              <a:buChar char="•"/>
            </a:pPr>
            <a:r>
              <a:rPr lang="en-US"/>
              <a:t>Ensures concurrent execution maintains database consistency.</a:t>
            </a:r>
            <a:endParaRPr sz="2800"/>
          </a:p>
          <a:p>
            <a:pPr marL="342900" lvl="0" indent="-342900" algn="l" rtl="0">
              <a:spcBef>
                <a:spcPts val="640"/>
              </a:spcBef>
              <a:spcAft>
                <a:spcPts val="0"/>
              </a:spcAft>
              <a:buClr>
                <a:schemeClr val="dk1"/>
              </a:buClr>
              <a:buSzPts val="3200"/>
              <a:buChar char="•"/>
            </a:pPr>
            <a:r>
              <a:rPr lang="en-US" b="1"/>
              <a:t>Types:</a:t>
            </a:r>
            <a:r>
              <a:rPr lang="en-US"/>
              <a:t> </a:t>
            </a:r>
            <a:endParaRPr sz="2800"/>
          </a:p>
          <a:p>
            <a:pPr marL="742950" lvl="1" indent="-285750" algn="l" rtl="0">
              <a:spcBef>
                <a:spcPts val="560"/>
              </a:spcBef>
              <a:spcAft>
                <a:spcPts val="0"/>
              </a:spcAft>
              <a:buClr>
                <a:schemeClr val="dk1"/>
              </a:buClr>
              <a:buSzPts val="2800"/>
              <a:buChar char="–"/>
            </a:pPr>
            <a:r>
              <a:rPr lang="en-US" b="1"/>
              <a:t>Conflict serializability:</a:t>
            </a:r>
            <a:r>
              <a:rPr lang="en-US"/>
              <a:t> Based on conflicting operations.</a:t>
            </a:r>
            <a:endParaRPr sz="2400"/>
          </a:p>
          <a:p>
            <a:pPr marL="742950" lvl="1" indent="-285750" algn="l" rtl="0">
              <a:spcBef>
                <a:spcPts val="560"/>
              </a:spcBef>
              <a:spcAft>
                <a:spcPts val="0"/>
              </a:spcAft>
              <a:buClr>
                <a:schemeClr val="dk1"/>
              </a:buClr>
              <a:buSzPts val="2800"/>
              <a:buChar char="–"/>
            </a:pPr>
            <a:r>
              <a:rPr lang="en-US" b="1"/>
              <a:t>View serializability:</a:t>
            </a:r>
            <a:r>
              <a:rPr lang="en-US"/>
              <a:t> Based on read/write operations.</a:t>
            </a:r>
            <a:endParaRPr sz="2400"/>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Conflict Serializability</a:t>
            </a:r>
            <a:endParaRPr/>
          </a:p>
        </p:txBody>
      </p:sp>
      <p:sp>
        <p:nvSpPr>
          <p:cNvPr id="155" name="Google Shape;155;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78435" algn="l" rtl="0">
              <a:spcBef>
                <a:spcPts val="0"/>
              </a:spcBef>
              <a:spcAft>
                <a:spcPts val="0"/>
              </a:spcAft>
              <a:buClr>
                <a:schemeClr val="dk1"/>
              </a:buClr>
              <a:buSzPct val="100000"/>
              <a:buNone/>
            </a:pPr>
            <a:endParaRPr sz="2800"/>
          </a:p>
          <a:p>
            <a:pPr marL="342900" lvl="0" indent="-342900" algn="l" rtl="0">
              <a:spcBef>
                <a:spcPts val="592"/>
              </a:spcBef>
              <a:spcAft>
                <a:spcPts val="0"/>
              </a:spcAft>
              <a:buClr>
                <a:schemeClr val="dk1"/>
              </a:buClr>
              <a:buSzPct val="114285"/>
              <a:buChar char="•"/>
            </a:pPr>
            <a:r>
              <a:rPr lang="en-US"/>
              <a:t>Conflicting operations involve: </a:t>
            </a:r>
            <a:endParaRPr sz="2800"/>
          </a:p>
          <a:p>
            <a:pPr marL="742950" lvl="1" indent="-285750" algn="l" rtl="0">
              <a:spcBef>
                <a:spcPts val="518"/>
              </a:spcBef>
              <a:spcAft>
                <a:spcPts val="0"/>
              </a:spcAft>
              <a:buClr>
                <a:schemeClr val="dk1"/>
              </a:buClr>
              <a:buSzPct val="116666"/>
              <a:buChar char="–"/>
            </a:pPr>
            <a:r>
              <a:rPr lang="en-US" b="1"/>
              <a:t>read(Q)</a:t>
            </a:r>
            <a:r>
              <a:rPr lang="en-US"/>
              <a:t> vs. </a:t>
            </a:r>
            <a:r>
              <a:rPr lang="en-US" b="1"/>
              <a:t>read(Q)</a:t>
            </a:r>
            <a:r>
              <a:rPr lang="en-US"/>
              <a:t> → No conflict.</a:t>
            </a:r>
            <a:endParaRPr sz="2400"/>
          </a:p>
          <a:p>
            <a:pPr marL="742950" lvl="1" indent="-285750" algn="l" rtl="0">
              <a:spcBef>
                <a:spcPts val="518"/>
              </a:spcBef>
              <a:spcAft>
                <a:spcPts val="0"/>
              </a:spcAft>
              <a:buClr>
                <a:schemeClr val="dk1"/>
              </a:buClr>
              <a:buSzPct val="116666"/>
              <a:buChar char="–"/>
            </a:pPr>
            <a:r>
              <a:rPr lang="en-US" b="1"/>
              <a:t>read(Q)</a:t>
            </a:r>
            <a:r>
              <a:rPr lang="en-US"/>
              <a:t> vs. </a:t>
            </a:r>
            <a:r>
              <a:rPr lang="en-US" b="1"/>
              <a:t>write(Q)</a:t>
            </a:r>
            <a:r>
              <a:rPr lang="en-US"/>
              <a:t> → Conflict.</a:t>
            </a:r>
            <a:endParaRPr sz="2400"/>
          </a:p>
          <a:p>
            <a:pPr marL="742950" lvl="1" indent="-285750" algn="l" rtl="0">
              <a:spcBef>
                <a:spcPts val="518"/>
              </a:spcBef>
              <a:spcAft>
                <a:spcPts val="0"/>
              </a:spcAft>
              <a:buClr>
                <a:schemeClr val="dk1"/>
              </a:buClr>
              <a:buSzPct val="116666"/>
              <a:buChar char="–"/>
            </a:pPr>
            <a:r>
              <a:rPr lang="en-US" b="1"/>
              <a:t>write(Q)</a:t>
            </a:r>
            <a:r>
              <a:rPr lang="en-US"/>
              <a:t> vs. </a:t>
            </a:r>
            <a:r>
              <a:rPr lang="en-US" b="1"/>
              <a:t>read(Q)</a:t>
            </a:r>
            <a:r>
              <a:rPr lang="en-US"/>
              <a:t> → Conflict.</a:t>
            </a:r>
            <a:endParaRPr sz="2400"/>
          </a:p>
          <a:p>
            <a:pPr marL="742950" lvl="1" indent="-285750" algn="l" rtl="0">
              <a:spcBef>
                <a:spcPts val="518"/>
              </a:spcBef>
              <a:spcAft>
                <a:spcPts val="0"/>
              </a:spcAft>
              <a:buClr>
                <a:schemeClr val="dk1"/>
              </a:buClr>
              <a:buSzPct val="116666"/>
              <a:buChar char="–"/>
            </a:pPr>
            <a:r>
              <a:rPr lang="en-US" b="1"/>
              <a:t>write(Q)</a:t>
            </a:r>
            <a:r>
              <a:rPr lang="en-US"/>
              <a:t> vs. </a:t>
            </a:r>
            <a:r>
              <a:rPr lang="en-US" b="1"/>
              <a:t>write(Q)</a:t>
            </a:r>
            <a:r>
              <a:rPr lang="en-US"/>
              <a:t> → Conflict.</a:t>
            </a:r>
            <a:endParaRPr sz="2400"/>
          </a:p>
          <a:p>
            <a:pPr marL="342900" lvl="0" indent="-342900" algn="l" rtl="0">
              <a:spcBef>
                <a:spcPts val="592"/>
              </a:spcBef>
              <a:spcAft>
                <a:spcPts val="0"/>
              </a:spcAft>
              <a:buClr>
                <a:schemeClr val="dk1"/>
              </a:buClr>
              <a:buSzPct val="114285"/>
              <a:buChar char="•"/>
            </a:pPr>
            <a:r>
              <a:rPr lang="en-US" b="1"/>
              <a:t>Conflict equivalent schedules:</a:t>
            </a:r>
            <a:r>
              <a:rPr lang="en-US"/>
              <a:t> Can be transformed via swaps of non-conflicting instructions</a:t>
            </a:r>
            <a:endParaRPr sz="2800"/>
          </a:p>
          <a:p>
            <a:pPr marL="342900" lvl="0" indent="-342900" algn="l" rtl="0">
              <a:spcBef>
                <a:spcPts val="592"/>
              </a:spcBef>
              <a:spcAft>
                <a:spcPts val="0"/>
              </a:spcAft>
              <a:buClr>
                <a:schemeClr val="dk1"/>
              </a:buClr>
              <a:buSzPct val="114285"/>
              <a:buChar char="•"/>
            </a:pPr>
            <a:r>
              <a:rPr lang="en-US" b="1"/>
              <a:t>Conflict serializable schedule:</a:t>
            </a:r>
            <a:r>
              <a:rPr lang="en-US"/>
              <a:t> Equivalent to a serial schedule</a:t>
            </a:r>
            <a:endParaRPr sz="2800"/>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Concurrent Execution</a:t>
            </a:r>
            <a:endParaRPr/>
          </a:p>
        </p:txBody>
      </p:sp>
      <p:sp>
        <p:nvSpPr>
          <p:cNvPr id="161" name="Google Shape;161;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Multiple transactions running simultaneously.</a:t>
            </a:r>
            <a:endParaRPr sz="2800"/>
          </a:p>
          <a:p>
            <a:pPr marL="342900" lvl="0" indent="-342900" algn="l" rtl="0">
              <a:spcBef>
                <a:spcPts val="640"/>
              </a:spcBef>
              <a:spcAft>
                <a:spcPts val="0"/>
              </a:spcAft>
              <a:buClr>
                <a:schemeClr val="dk1"/>
              </a:buClr>
              <a:buSzPts val="3200"/>
              <a:buChar char="•"/>
            </a:pPr>
            <a:r>
              <a:rPr lang="en-US" b="1"/>
              <a:t>Advantages:</a:t>
            </a:r>
            <a:r>
              <a:rPr lang="en-US"/>
              <a:t> </a:t>
            </a:r>
            <a:endParaRPr sz="2800"/>
          </a:p>
          <a:p>
            <a:pPr marL="742950" lvl="1" indent="-285750" algn="l" rtl="0">
              <a:spcBef>
                <a:spcPts val="560"/>
              </a:spcBef>
              <a:spcAft>
                <a:spcPts val="0"/>
              </a:spcAft>
              <a:buClr>
                <a:schemeClr val="dk1"/>
              </a:buClr>
              <a:buSzPts val="2800"/>
              <a:buChar char="–"/>
            </a:pPr>
            <a:r>
              <a:rPr lang="en-US"/>
              <a:t>Improved CPU and disk utilization.</a:t>
            </a:r>
            <a:endParaRPr sz="2400"/>
          </a:p>
          <a:p>
            <a:pPr marL="742950" lvl="1" indent="-285750" algn="l" rtl="0">
              <a:spcBef>
                <a:spcPts val="560"/>
              </a:spcBef>
              <a:spcAft>
                <a:spcPts val="0"/>
              </a:spcAft>
              <a:buClr>
                <a:schemeClr val="dk1"/>
              </a:buClr>
              <a:buSzPts val="2800"/>
              <a:buChar char="–"/>
            </a:pPr>
            <a:r>
              <a:rPr lang="en-US"/>
              <a:t>Reduced average response time.</a:t>
            </a:r>
            <a:endParaRPr/>
          </a:p>
          <a:p>
            <a:pPr marL="742950" lvl="1" indent="-133350" algn="l" rtl="0">
              <a:spcBef>
                <a:spcPts val="480"/>
              </a:spcBef>
              <a:spcAft>
                <a:spcPts val="0"/>
              </a:spcAft>
              <a:buClr>
                <a:schemeClr val="dk1"/>
              </a:buClr>
              <a:buSzPts val="2400"/>
              <a:buNone/>
            </a:pPr>
            <a:endParaRPr sz="2400"/>
          </a:p>
          <a:p>
            <a:pPr marL="342900" lvl="0" indent="-342900" algn="l" rtl="0">
              <a:spcBef>
                <a:spcPts val="640"/>
              </a:spcBef>
              <a:spcAft>
                <a:spcPts val="0"/>
              </a:spcAft>
              <a:buClr>
                <a:schemeClr val="dk1"/>
              </a:buClr>
              <a:buSzPts val="3200"/>
              <a:buChar char="•"/>
            </a:pPr>
            <a:r>
              <a:rPr lang="en-US" b="1"/>
              <a:t>Concurrency control:</a:t>
            </a:r>
            <a:r>
              <a:rPr lang="en-US"/>
              <a:t> Ensures isolation to maintain consistency</a:t>
            </a:r>
            <a:endParaRPr sz="2800"/>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View Serializability</a:t>
            </a:r>
            <a:endParaRPr/>
          </a:p>
        </p:txBody>
      </p:sp>
      <p:sp>
        <p:nvSpPr>
          <p:cNvPr id="167" name="Google Shape;167;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78435" algn="l" rtl="0">
              <a:spcBef>
                <a:spcPts val="0"/>
              </a:spcBef>
              <a:spcAft>
                <a:spcPts val="0"/>
              </a:spcAft>
              <a:buClr>
                <a:schemeClr val="dk1"/>
              </a:buClr>
              <a:buSzPct val="100000"/>
              <a:buNone/>
            </a:pPr>
            <a:endParaRPr sz="2800"/>
          </a:p>
          <a:p>
            <a:pPr marL="342900" lvl="0" indent="-342900" algn="l" rtl="0">
              <a:spcBef>
                <a:spcPts val="592"/>
              </a:spcBef>
              <a:spcAft>
                <a:spcPts val="0"/>
              </a:spcAft>
              <a:buClr>
                <a:schemeClr val="dk1"/>
              </a:buClr>
              <a:buSzPct val="114285"/>
              <a:buChar char="•"/>
            </a:pPr>
            <a:r>
              <a:rPr lang="en-US" b="1"/>
              <a:t>View equivalent schedules:</a:t>
            </a:r>
            <a:r>
              <a:rPr lang="en-US"/>
              <a:t> Meet 3 conditions: </a:t>
            </a:r>
            <a:endParaRPr sz="2800"/>
          </a:p>
          <a:p>
            <a:pPr marL="742950" lvl="1" indent="-285750" algn="l" rtl="0">
              <a:spcBef>
                <a:spcPts val="518"/>
              </a:spcBef>
              <a:spcAft>
                <a:spcPts val="0"/>
              </a:spcAft>
              <a:buClr>
                <a:schemeClr val="dk1"/>
              </a:buClr>
              <a:buSzPct val="116666"/>
              <a:buChar char="–"/>
            </a:pPr>
            <a:r>
              <a:rPr lang="en-US"/>
              <a:t>Transactions read the same initial values.</a:t>
            </a:r>
            <a:endParaRPr sz="2400"/>
          </a:p>
          <a:p>
            <a:pPr marL="742950" lvl="1" indent="-285750" algn="l" rtl="0">
              <a:spcBef>
                <a:spcPts val="518"/>
              </a:spcBef>
              <a:spcAft>
                <a:spcPts val="0"/>
              </a:spcAft>
              <a:buClr>
                <a:schemeClr val="dk1"/>
              </a:buClr>
              <a:buSzPct val="116666"/>
              <a:buChar char="–"/>
            </a:pPr>
            <a:r>
              <a:rPr lang="en-US"/>
              <a:t>Transactions read values written by the same transactions.</a:t>
            </a:r>
            <a:endParaRPr sz="2400"/>
          </a:p>
          <a:p>
            <a:pPr marL="742950" lvl="1" indent="-285750" algn="l" rtl="0">
              <a:spcBef>
                <a:spcPts val="518"/>
              </a:spcBef>
              <a:spcAft>
                <a:spcPts val="0"/>
              </a:spcAft>
              <a:buClr>
                <a:schemeClr val="dk1"/>
              </a:buClr>
              <a:buSzPct val="116666"/>
              <a:buChar char="–"/>
            </a:pPr>
            <a:r>
              <a:rPr lang="en-US"/>
              <a:t>Final writes occur in the same order.</a:t>
            </a:r>
            <a:endParaRPr sz="2400"/>
          </a:p>
          <a:p>
            <a:pPr marL="342900" lvl="0" indent="-342900" algn="l" rtl="0">
              <a:spcBef>
                <a:spcPts val="592"/>
              </a:spcBef>
              <a:spcAft>
                <a:spcPts val="0"/>
              </a:spcAft>
              <a:buClr>
                <a:schemeClr val="dk1"/>
              </a:buClr>
              <a:buSzPct val="114285"/>
              <a:buChar char="•"/>
            </a:pPr>
            <a:r>
              <a:rPr lang="en-US" b="1"/>
              <a:t>View serializable schedule:</a:t>
            </a:r>
            <a:r>
              <a:rPr lang="en-US"/>
              <a:t> View equivalent to a serial schedule.</a:t>
            </a:r>
            <a:endParaRPr sz="2800"/>
          </a:p>
          <a:p>
            <a:pPr marL="342900" lvl="0" indent="-342900" algn="l" rtl="0">
              <a:spcBef>
                <a:spcPts val="592"/>
              </a:spcBef>
              <a:spcAft>
                <a:spcPts val="0"/>
              </a:spcAft>
              <a:buClr>
                <a:schemeClr val="dk1"/>
              </a:buClr>
              <a:buSzPct val="114285"/>
              <a:buChar char="•"/>
            </a:pPr>
            <a:r>
              <a:rPr lang="en-US" b="1"/>
              <a:t>Hierarchy:</a:t>
            </a:r>
            <a:r>
              <a:rPr lang="en-US"/>
              <a:t> All conflict serializable schedules are view serializable, but not vice versa.</a:t>
            </a:r>
            <a:endParaRPr sz="2800"/>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en-US" b="1"/>
              <a:t>All conflict serializable schedules are view serializable, but not vice versa</a:t>
            </a:r>
            <a:endParaRPr/>
          </a:p>
        </p:txBody>
      </p:sp>
      <p:sp>
        <p:nvSpPr>
          <p:cNvPr id="173" name="Google Shape;173;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54940" algn="l" rtl="0">
              <a:spcBef>
                <a:spcPts val="0"/>
              </a:spcBef>
              <a:spcAft>
                <a:spcPts val="0"/>
              </a:spcAft>
              <a:buClr>
                <a:schemeClr val="dk1"/>
              </a:buClr>
              <a:buSzPct val="100000"/>
              <a:buNone/>
            </a:pPr>
            <a:endParaRPr dirty="0"/>
          </a:p>
          <a:p>
            <a:pPr marL="342900" lvl="0" indent="-342900" algn="l" rtl="0">
              <a:spcBef>
                <a:spcPts val="592"/>
              </a:spcBef>
              <a:spcAft>
                <a:spcPts val="0"/>
              </a:spcAft>
              <a:buClr>
                <a:schemeClr val="dk1"/>
              </a:buClr>
              <a:buSzPct val="100000"/>
              <a:buChar char="•"/>
            </a:pPr>
            <a:r>
              <a:rPr lang="en-US" dirty="0">
                <a:highlight>
                  <a:srgbClr val="FFFF00"/>
                </a:highlight>
              </a:rPr>
              <a:t>A </a:t>
            </a:r>
            <a:r>
              <a:rPr lang="en-US" b="1" dirty="0">
                <a:highlight>
                  <a:srgbClr val="FFFF00"/>
                </a:highlight>
              </a:rPr>
              <a:t>conflict serializable</a:t>
            </a:r>
            <a:r>
              <a:rPr lang="en-US" dirty="0">
                <a:highlight>
                  <a:srgbClr val="FFFF00"/>
                </a:highlight>
              </a:rPr>
              <a:t> schedule guarantees database consistency by ensuring that conflicting operations are executed in a specific order</a:t>
            </a:r>
            <a:endParaRPr dirty="0">
              <a:highlight>
                <a:srgbClr val="FFFF00"/>
              </a:highlight>
            </a:endParaRPr>
          </a:p>
          <a:p>
            <a:pPr marL="342900" lvl="0" indent="-154940" algn="l" rtl="0">
              <a:spcBef>
                <a:spcPts val="592"/>
              </a:spcBef>
              <a:spcAft>
                <a:spcPts val="0"/>
              </a:spcAft>
              <a:buClr>
                <a:schemeClr val="dk1"/>
              </a:buClr>
              <a:buSzPct val="100000"/>
              <a:buNone/>
            </a:pPr>
            <a:endParaRPr dirty="0"/>
          </a:p>
          <a:p>
            <a:pPr marL="342900" lvl="0" indent="-342900" algn="l" rtl="0">
              <a:spcBef>
                <a:spcPts val="592"/>
              </a:spcBef>
              <a:spcAft>
                <a:spcPts val="0"/>
              </a:spcAft>
              <a:buClr>
                <a:schemeClr val="dk1"/>
              </a:buClr>
              <a:buSzPct val="100000"/>
              <a:buChar char="•"/>
            </a:pPr>
            <a:r>
              <a:rPr lang="en-US" dirty="0">
                <a:highlight>
                  <a:srgbClr val="FFFF00"/>
                </a:highlight>
              </a:rPr>
              <a:t>A </a:t>
            </a:r>
            <a:r>
              <a:rPr lang="en-US" b="1" dirty="0">
                <a:highlight>
                  <a:srgbClr val="FFFF00"/>
                </a:highlight>
              </a:rPr>
              <a:t>view serializable</a:t>
            </a:r>
            <a:r>
              <a:rPr lang="en-US" dirty="0">
                <a:highlight>
                  <a:srgbClr val="FFFF00"/>
                </a:highlight>
              </a:rPr>
              <a:t> schedule is less strict; it ensures that transactions read and write the same final values but may allow certain conflicts</a:t>
            </a:r>
            <a:endParaRPr dirty="0">
              <a:highlight>
                <a:srgbClr val="FFFF00"/>
              </a:highlight>
            </a:endParaRPr>
          </a:p>
          <a:p>
            <a:pPr marL="342900" lvl="0" indent="-154940" algn="l" rtl="0">
              <a:spcBef>
                <a:spcPts val="592"/>
              </a:spcBef>
              <a:spcAft>
                <a:spcPts val="0"/>
              </a:spcAft>
              <a:buClr>
                <a:schemeClr val="dk1"/>
              </a:buClr>
              <a:buSzPct val="100000"/>
              <a:buNone/>
            </a:pPr>
            <a:endParaRP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en-US" b="1"/>
              <a:t>S2 is view serializable but not conflict serializable</a:t>
            </a:r>
            <a:endParaRPr/>
          </a:p>
        </p:txBody>
      </p:sp>
      <p:sp>
        <p:nvSpPr>
          <p:cNvPr id="179" name="Google Shape;179;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a:t>Schedule S1:</a:t>
            </a:r>
            <a:r>
              <a:rPr lang="en-US"/>
              <a:t> T1 reads A, T2 writes A, T1 writes A.</a:t>
            </a:r>
            <a:endParaRPr/>
          </a:p>
          <a:p>
            <a:pPr marL="342900" lvl="0" indent="-342900" algn="l" rtl="0">
              <a:spcBef>
                <a:spcPts val="640"/>
              </a:spcBef>
              <a:spcAft>
                <a:spcPts val="0"/>
              </a:spcAft>
              <a:buClr>
                <a:schemeClr val="dk1"/>
              </a:buClr>
              <a:buSzPts val="3200"/>
              <a:buChar char="•"/>
            </a:pPr>
            <a:r>
              <a:rPr lang="en-US" b="1"/>
              <a:t>Schedule S2:</a:t>
            </a:r>
            <a:r>
              <a:rPr lang="en-US"/>
              <a:t> T2 writes A, T1 reads A, T1 writes A.</a:t>
            </a:r>
            <a:endParaRPr/>
          </a:p>
          <a:p>
            <a:pPr marL="342900" lvl="0" indent="-139700" algn="l" rtl="0">
              <a:spcBef>
                <a:spcPts val="640"/>
              </a:spcBef>
              <a:spcAft>
                <a:spcPts val="0"/>
              </a:spcAft>
              <a:buClr>
                <a:schemeClr val="dk1"/>
              </a:buClr>
              <a:buSzPts val="3200"/>
              <a:buNone/>
            </a:pPr>
            <a:endParaRPr/>
          </a:p>
          <a:p>
            <a:pPr marL="342900" lvl="0" indent="-342900" algn="l" rtl="0">
              <a:spcBef>
                <a:spcPts val="640"/>
              </a:spcBef>
              <a:spcAft>
                <a:spcPts val="0"/>
              </a:spcAft>
              <a:buClr>
                <a:schemeClr val="dk1"/>
              </a:buClr>
              <a:buSzPts val="3200"/>
              <a:buChar char="•"/>
            </a:pPr>
            <a:r>
              <a:rPr lang="en-US"/>
              <a:t>S1 and S2 are </a:t>
            </a:r>
            <a:r>
              <a:rPr lang="en-US" b="1"/>
              <a:t>view equivalent</a:t>
            </a:r>
            <a:r>
              <a:rPr lang="en-US"/>
              <a:t> but not </a:t>
            </a:r>
            <a:r>
              <a:rPr lang="en-US" b="1"/>
              <a:t>conflict equivalent</a:t>
            </a:r>
            <a:r>
              <a:rPr lang="en-US"/>
              <a:t> because the order of operations conflicts.</a:t>
            </a:r>
            <a:endParaRPr/>
          </a:p>
          <a:p>
            <a:pPr marL="0" lvl="0" indent="0" algn="l" rtl="0">
              <a:spcBef>
                <a:spcPts val="640"/>
              </a:spcBef>
              <a:spcAft>
                <a:spcPts val="0"/>
              </a:spcAft>
              <a:buClr>
                <a:schemeClr val="dk1"/>
              </a:buClr>
              <a:buSzPts val="3200"/>
              <a:buNone/>
            </a:pP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Q?  A Schedule is serializable if: </a:t>
            </a:r>
            <a:endParaRPr/>
          </a:p>
        </p:txBody>
      </p:sp>
      <p:sp>
        <p:nvSpPr>
          <p:cNvPr id="185" name="Google Shape;185;p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 It ensures all transactions are executed one by one. </a:t>
            </a:r>
            <a:endParaRPr/>
          </a:p>
          <a:p>
            <a:pPr marL="342900" lvl="0" indent="-342900" algn="l" rtl="0">
              <a:spcBef>
                <a:spcPts val="640"/>
              </a:spcBef>
              <a:spcAft>
                <a:spcPts val="0"/>
              </a:spcAft>
              <a:buClr>
                <a:schemeClr val="dk1"/>
              </a:buClr>
              <a:buSzPts val="3200"/>
              <a:buChar char="•"/>
            </a:pPr>
            <a:r>
              <a:rPr lang="en-US"/>
              <a:t>B) It can be transformed into a serial schedule by swapping non-conflicting operations. </a:t>
            </a:r>
            <a:endParaRPr/>
          </a:p>
          <a:p>
            <a:pPr marL="342900" lvl="0" indent="-342900" algn="l" rtl="0">
              <a:spcBef>
                <a:spcPts val="640"/>
              </a:spcBef>
              <a:spcAft>
                <a:spcPts val="0"/>
              </a:spcAft>
              <a:buClr>
                <a:schemeClr val="dk1"/>
              </a:buClr>
              <a:buSzPts val="3200"/>
              <a:buChar char="•"/>
            </a:pPr>
            <a:r>
              <a:rPr lang="en-US"/>
              <a:t>C) All transactions execute concurrently without any isolation. </a:t>
            </a:r>
            <a:endParaRPr/>
          </a:p>
          <a:p>
            <a:pPr marL="342900" lvl="0" indent="-342900" algn="l" rtl="0">
              <a:spcBef>
                <a:spcPts val="640"/>
              </a:spcBef>
              <a:spcAft>
                <a:spcPts val="0"/>
              </a:spcAft>
              <a:buClr>
                <a:schemeClr val="dk1"/>
              </a:buClr>
              <a:buSzPts val="3200"/>
              <a:buChar char="•"/>
            </a:pPr>
            <a:r>
              <a:rPr lang="en-US"/>
              <a:t>D) It guarantees cascading rollbacks.</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Q?</a:t>
            </a:r>
            <a:endParaRPr/>
          </a:p>
        </p:txBody>
      </p:sp>
      <p:sp>
        <p:nvSpPr>
          <p:cNvPr id="191" name="Google Shape;191;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Conflict serializability checks for conflicts between which types of operations? </a:t>
            </a:r>
            <a:endParaRPr/>
          </a:p>
          <a:p>
            <a:pPr marL="0" lvl="0" indent="0" algn="l" rtl="0">
              <a:spcBef>
                <a:spcPts val="640"/>
              </a:spcBef>
              <a:spcAft>
                <a:spcPts val="0"/>
              </a:spcAft>
              <a:buClr>
                <a:schemeClr val="dk1"/>
              </a:buClr>
              <a:buSzPts val="3200"/>
              <a:buNone/>
            </a:pPr>
            <a:r>
              <a:rPr lang="en-US"/>
              <a:t>A) Read-Read B) Read-Write C) Write-Read D) Both B and C</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Recoverability</a:t>
            </a:r>
            <a:endParaRPr/>
          </a:p>
        </p:txBody>
      </p:sp>
      <p:sp>
        <p:nvSpPr>
          <p:cNvPr id="197" name="Google Shape;197;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218440" algn="l" rtl="0">
              <a:spcBef>
                <a:spcPts val="0"/>
              </a:spcBef>
              <a:spcAft>
                <a:spcPts val="0"/>
              </a:spcAft>
              <a:buClr>
                <a:schemeClr val="dk1"/>
              </a:buClr>
              <a:buSzPct val="100000"/>
              <a:buNone/>
            </a:pPr>
            <a:endParaRPr sz="2800"/>
          </a:p>
          <a:p>
            <a:pPr marL="342900" lvl="0" indent="-342900" algn="l" rtl="0">
              <a:spcBef>
                <a:spcPts val="448"/>
              </a:spcBef>
              <a:spcAft>
                <a:spcPts val="0"/>
              </a:spcAft>
              <a:buClr>
                <a:schemeClr val="dk1"/>
              </a:buClr>
              <a:buSzPct val="114285"/>
              <a:buChar char="•"/>
            </a:pPr>
            <a:r>
              <a:rPr lang="en-US"/>
              <a:t>Addresses transaction failures during concurrent execution.</a:t>
            </a:r>
            <a:endParaRPr sz="2800"/>
          </a:p>
          <a:p>
            <a:pPr marL="342900" lvl="0" indent="-342900" algn="l" rtl="0">
              <a:spcBef>
                <a:spcPts val="448"/>
              </a:spcBef>
              <a:spcAft>
                <a:spcPts val="0"/>
              </a:spcAft>
              <a:buClr>
                <a:schemeClr val="dk1"/>
              </a:buClr>
              <a:buSzPct val="114285"/>
              <a:buChar char="•"/>
            </a:pPr>
            <a:r>
              <a:rPr lang="en-US" b="1"/>
              <a:t>Recoverable schedule:</a:t>
            </a:r>
            <a:r>
              <a:rPr lang="en-US"/>
              <a:t> A transaction reads a data item written by another only after the writer commits.</a:t>
            </a:r>
            <a:endParaRPr sz="2800"/>
          </a:p>
          <a:p>
            <a:pPr marL="342900" lvl="0" indent="-342900" algn="l" rtl="0">
              <a:spcBef>
                <a:spcPts val="448"/>
              </a:spcBef>
              <a:spcAft>
                <a:spcPts val="0"/>
              </a:spcAft>
              <a:buClr>
                <a:schemeClr val="dk1"/>
              </a:buClr>
              <a:buSzPct val="114285"/>
              <a:buChar char="•"/>
            </a:pPr>
            <a:r>
              <a:rPr lang="en-US" b="1"/>
              <a:t>Cascading rollback:</a:t>
            </a:r>
            <a:r>
              <a:rPr lang="en-US"/>
              <a:t> A single failure triggers rollbacks of dependent transactions.</a:t>
            </a:r>
            <a:endParaRPr sz="2800"/>
          </a:p>
          <a:p>
            <a:pPr marL="342900" lvl="0" indent="-342900" algn="l" rtl="0">
              <a:spcBef>
                <a:spcPts val="448"/>
              </a:spcBef>
              <a:spcAft>
                <a:spcPts val="0"/>
              </a:spcAft>
              <a:buClr>
                <a:schemeClr val="dk1"/>
              </a:buClr>
              <a:buSzPct val="114285"/>
              <a:buChar char="•"/>
            </a:pPr>
            <a:r>
              <a:rPr lang="en-US" b="1"/>
              <a:t>Cascadeless schedule:</a:t>
            </a:r>
            <a:r>
              <a:rPr lang="en-US"/>
              <a:t> Prevents cascading rollbacks by ensuring a transaction reads committed data only.</a:t>
            </a:r>
            <a:endParaRPr sz="2800"/>
          </a:p>
          <a:p>
            <a:pPr marL="342900" lvl="0" indent="-342900" algn="l" rtl="0">
              <a:spcBef>
                <a:spcPts val="448"/>
              </a:spcBef>
              <a:spcAft>
                <a:spcPts val="0"/>
              </a:spcAft>
              <a:buClr>
                <a:schemeClr val="dk1"/>
              </a:buClr>
              <a:buSzPct val="114285"/>
              <a:buChar char="•"/>
            </a:pPr>
            <a:r>
              <a:rPr lang="en-US" b="1"/>
              <a:t>Testing for Conflict Serializability:</a:t>
            </a:r>
            <a:endParaRPr sz="2800"/>
          </a:p>
          <a:p>
            <a:pPr marL="342900" lvl="0" indent="-342900" algn="l" rtl="0">
              <a:spcBef>
                <a:spcPts val="448"/>
              </a:spcBef>
              <a:spcAft>
                <a:spcPts val="0"/>
              </a:spcAft>
              <a:buClr>
                <a:schemeClr val="dk1"/>
              </a:buClr>
              <a:buSzPct val="114285"/>
              <a:buChar char="•"/>
            </a:pPr>
            <a:r>
              <a:rPr lang="en-US" b="1"/>
              <a:t>Precedence graph:</a:t>
            </a:r>
            <a:r>
              <a:rPr lang="en-US"/>
              <a:t> </a:t>
            </a:r>
            <a:endParaRPr sz="2800"/>
          </a:p>
          <a:p>
            <a:pPr marL="742950" lvl="1" indent="-285750" algn="l" rtl="0">
              <a:spcBef>
                <a:spcPts val="392"/>
              </a:spcBef>
              <a:spcAft>
                <a:spcPts val="0"/>
              </a:spcAft>
              <a:buClr>
                <a:schemeClr val="dk1"/>
              </a:buClr>
              <a:buSzPct val="116666"/>
              <a:buChar char="–"/>
            </a:pPr>
            <a:r>
              <a:rPr lang="en-US"/>
              <a:t>Nodes: Transactions.</a:t>
            </a:r>
            <a:endParaRPr sz="2400"/>
          </a:p>
          <a:p>
            <a:pPr marL="742950" lvl="1" indent="-285750" algn="l" rtl="0">
              <a:spcBef>
                <a:spcPts val="392"/>
              </a:spcBef>
              <a:spcAft>
                <a:spcPts val="0"/>
              </a:spcAft>
              <a:buClr>
                <a:schemeClr val="dk1"/>
              </a:buClr>
              <a:buSzPct val="116666"/>
              <a:buChar char="–"/>
            </a:pPr>
            <a:r>
              <a:rPr lang="en-US"/>
              <a:t>Edges: Conflict relationships.</a:t>
            </a:r>
            <a:endParaRPr sz="2400"/>
          </a:p>
          <a:p>
            <a:pPr marL="342900" lvl="0" indent="-342900" algn="l" rtl="0">
              <a:spcBef>
                <a:spcPts val="448"/>
              </a:spcBef>
              <a:spcAft>
                <a:spcPts val="0"/>
              </a:spcAft>
              <a:buClr>
                <a:schemeClr val="dk1"/>
              </a:buClr>
              <a:buSzPct val="114285"/>
              <a:buChar char="•"/>
            </a:pPr>
            <a:r>
              <a:rPr lang="en-US" b="1"/>
              <a:t>Acyclic graph:</a:t>
            </a:r>
            <a:r>
              <a:rPr lang="en-US"/>
              <a:t> Indicates conflict serializability.</a:t>
            </a:r>
            <a:endParaRPr sz="2800"/>
          </a:p>
          <a:p>
            <a:pPr marL="342900" lvl="0" indent="-200660" algn="l" rtl="0">
              <a:spcBef>
                <a:spcPts val="448"/>
              </a:spcBef>
              <a:spcAft>
                <a:spcPts val="0"/>
              </a:spcAft>
              <a:buClr>
                <a:schemeClr val="dk1"/>
              </a:buClr>
              <a:buSzPct val="100000"/>
              <a:buNone/>
            </a:pP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Other Notions of Serializability</a:t>
            </a:r>
          </a:p>
        </p:txBody>
      </p:sp>
      <p:sp>
        <p:nvSpPr>
          <p:cNvPr id="27651" name="Rectangle 3"/>
          <p:cNvSpPr>
            <a:spLocks noGrp="1" noChangeArrowheads="1"/>
          </p:cNvSpPr>
          <p:nvPr>
            <p:ph idx="1"/>
          </p:nvPr>
        </p:nvSpPr>
        <p:spPr>
          <a:xfrm>
            <a:off x="683581" y="1102497"/>
            <a:ext cx="7066626" cy="5367972"/>
          </a:xfrm>
        </p:spPr>
        <p:txBody>
          <a:bodyPr/>
          <a:lstStyle/>
          <a:p>
            <a:pPr>
              <a:tabLst>
                <a:tab pos="2120900" algn="l"/>
                <a:tab pos="2568575" algn="l"/>
                <a:tab pos="3600450" algn="l"/>
                <a:tab pos="3940175" algn="l"/>
              </a:tabLst>
            </a:pPr>
            <a:r>
              <a:rPr lang="en-US" altLang="en-US" dirty="0"/>
              <a:t>The schedule below produces same outcome as the serial schedule &lt; </a:t>
            </a:r>
            <a:r>
              <a:rPr lang="en-US" altLang="en-US" i="1" dirty="0"/>
              <a:t>T</a:t>
            </a:r>
            <a:r>
              <a:rPr lang="en-US" altLang="en-US" baseline="-25000" dirty="0"/>
              <a:t>1</a:t>
            </a:r>
            <a:r>
              <a:rPr lang="en-US" altLang="en-US" dirty="0"/>
              <a:t>,</a:t>
            </a:r>
            <a:r>
              <a:rPr lang="en-US" altLang="en-US" baseline="-25000" dirty="0"/>
              <a:t> </a:t>
            </a:r>
            <a:r>
              <a:rPr lang="en-US" altLang="en-US" i="1" dirty="0"/>
              <a:t>T</a:t>
            </a:r>
            <a:r>
              <a:rPr lang="en-US" altLang="en-US" baseline="-25000" dirty="0"/>
              <a:t>5</a:t>
            </a:r>
            <a:r>
              <a:rPr lang="en-US" altLang="en-US" dirty="0"/>
              <a:t> &gt;, yet is not conflict equivalent or view equivalent to it.</a:t>
            </a:r>
          </a:p>
          <a:p>
            <a:pPr>
              <a:buFont typeface="Monotype Sorts" charset="2"/>
              <a:buNone/>
              <a:tabLst>
                <a:tab pos="2120900" algn="l"/>
                <a:tab pos="2568575" algn="l"/>
                <a:tab pos="3600450" algn="l"/>
                <a:tab pos="3940175" algn="l"/>
              </a:tabLst>
            </a:pPr>
            <a:r>
              <a:rPr lang="en-US" altLang="en-US" dirty="0"/>
              <a:t>		</a:t>
            </a:r>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buFont typeface="Monotype Sorts" charset="2"/>
              <a:buNone/>
              <a:tabLst>
                <a:tab pos="2120900" algn="l"/>
                <a:tab pos="2568575" algn="l"/>
                <a:tab pos="3600450" algn="l"/>
                <a:tab pos="3940175" algn="l"/>
              </a:tabLst>
            </a:pPr>
            <a:br>
              <a:rPr lang="en-US" altLang="en-US" dirty="0"/>
            </a:br>
            <a:br>
              <a:rPr lang="en-US" altLang="en-US" dirty="0"/>
            </a:br>
            <a:endParaRPr lang="en-US" altLang="en-US" dirty="0"/>
          </a:p>
          <a:p>
            <a:pPr>
              <a:buFont typeface="Monotype Sorts" charset="2"/>
              <a:buNone/>
              <a:tabLst>
                <a:tab pos="2120900" algn="l"/>
                <a:tab pos="2568575" algn="l"/>
                <a:tab pos="3600450" algn="l"/>
                <a:tab pos="3940175" algn="l"/>
              </a:tabLst>
            </a:pPr>
            <a:endParaRPr lang="en-US" altLang="en-US" dirty="0"/>
          </a:p>
          <a:p>
            <a:pPr>
              <a:tabLst>
                <a:tab pos="2120900" algn="l"/>
                <a:tab pos="2568575" algn="l"/>
                <a:tab pos="3600450" algn="l"/>
                <a:tab pos="3940175" algn="l"/>
              </a:tabLst>
            </a:pPr>
            <a:r>
              <a:rPr lang="en-US" altLang="en-US" dirty="0"/>
              <a:t>Determining such equivalence requires analysis of operations other than read and write.</a:t>
            </a:r>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p:txBody>
      </p:sp>
      <p:pic>
        <p:nvPicPr>
          <p:cNvPr id="27652"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4799" y="1966118"/>
            <a:ext cx="2844800"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pPr>
              <a:defRPr/>
            </a:pPr>
            <a:r>
              <a:rPr lang="en-US" sz="2800" dirty="0">
                <a:effectLst>
                  <a:outerShdw blurRad="38100" dist="38100" dir="2700000" algn="tl">
                    <a:srgbClr val="C0C0C0"/>
                  </a:outerShdw>
                </a:effectLst>
              </a:rPr>
              <a:t>Concurrency Control vs. Serializability Tests</a:t>
            </a:r>
          </a:p>
        </p:txBody>
      </p:sp>
      <p:sp>
        <p:nvSpPr>
          <p:cNvPr id="36867" name="Rectangle 3"/>
          <p:cNvSpPr>
            <a:spLocks noGrp="1" noChangeArrowheads="1"/>
          </p:cNvSpPr>
          <p:nvPr>
            <p:ph idx="1"/>
          </p:nvPr>
        </p:nvSpPr>
        <p:spPr>
          <a:xfrm>
            <a:off x="674702" y="1102497"/>
            <a:ext cx="7794595" cy="5367972"/>
          </a:xfrm>
        </p:spPr>
        <p:txBody>
          <a:bodyPr/>
          <a:lstStyle/>
          <a:p>
            <a:r>
              <a:rPr lang="en-US" altLang="en-US" dirty="0"/>
              <a:t>Concurrency-control protocols allow concurrent schedules, but ensure that the schedules are conflict/view serializable, and are recoverable and cascadeless .</a:t>
            </a:r>
          </a:p>
          <a:p>
            <a:r>
              <a:rPr lang="en-US" altLang="en-US" dirty="0"/>
              <a:t>Concurrency control protocols (generally) do not examine the precedence graph as it is being created</a:t>
            </a:r>
          </a:p>
          <a:p>
            <a:pPr lvl="1"/>
            <a:r>
              <a:rPr lang="en-US" altLang="en-US" dirty="0"/>
              <a:t>Instead a protocol imposes a discipline that avoids non-serializable schedules.</a:t>
            </a:r>
          </a:p>
          <a:p>
            <a:pPr lvl="1"/>
            <a:r>
              <a:rPr lang="en-US" altLang="en-US" dirty="0"/>
              <a:t>We study such protocols in Chapter 16.</a:t>
            </a:r>
          </a:p>
          <a:p>
            <a:r>
              <a:rPr lang="en-US" altLang="en-US" dirty="0"/>
              <a:t>Different concurrency control protocols provide different tradeoffs between the amount of concurrency they allow and the amount of overhead that they incur.</a:t>
            </a:r>
          </a:p>
          <a:p>
            <a:r>
              <a:rPr lang="en-US" altLang="en-US" dirty="0"/>
              <a:t>Tests for serializability help us understand why a concurrency control protocol is correct.   </a:t>
            </a:r>
          </a:p>
          <a:p>
            <a:endParaRPr lang="en-US"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Weak Levels of Consistency</a:t>
            </a:r>
          </a:p>
        </p:txBody>
      </p:sp>
      <p:sp>
        <p:nvSpPr>
          <p:cNvPr id="37891" name="Rectangle 3"/>
          <p:cNvSpPr>
            <a:spLocks noGrp="1" noChangeArrowheads="1"/>
          </p:cNvSpPr>
          <p:nvPr>
            <p:ph idx="1"/>
          </p:nvPr>
        </p:nvSpPr>
        <p:spPr>
          <a:xfrm>
            <a:off x="674702" y="1102497"/>
            <a:ext cx="7750207" cy="5367972"/>
          </a:xfrm>
        </p:spPr>
        <p:txBody>
          <a:bodyPr/>
          <a:lstStyle/>
          <a:p>
            <a:r>
              <a:rPr lang="en-US" altLang="en-US" dirty="0"/>
              <a:t>Some applications are willing to live with weak levels of consistency, allowing schedules that are not serializable</a:t>
            </a:r>
          </a:p>
          <a:p>
            <a:pPr lvl="1"/>
            <a:r>
              <a:rPr lang="en-US" altLang="en-US" dirty="0"/>
              <a:t>E.g., a read-only transaction that wants to get an approximate total balance of all accounts </a:t>
            </a:r>
          </a:p>
          <a:p>
            <a:pPr lvl="1"/>
            <a:r>
              <a:rPr lang="en-US" altLang="en-US" dirty="0"/>
              <a:t>E.g., database statistics computed for query optimization can be approximate (why?)</a:t>
            </a:r>
          </a:p>
          <a:p>
            <a:pPr lvl="1"/>
            <a:r>
              <a:rPr lang="en-US" altLang="en-US" dirty="0"/>
              <a:t>Such transactions need not be serializable with respect to other transactions</a:t>
            </a:r>
          </a:p>
          <a:p>
            <a:r>
              <a:rPr lang="en-US" altLang="en-US" dirty="0"/>
              <a:t>Tradeoff accuracy for performance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Levels of Consistency in SQL-92</a:t>
            </a:r>
          </a:p>
        </p:txBody>
      </p:sp>
      <p:sp>
        <p:nvSpPr>
          <p:cNvPr id="38915" name="Rectangle 3"/>
          <p:cNvSpPr>
            <a:spLocks noGrp="1" noChangeArrowheads="1"/>
          </p:cNvSpPr>
          <p:nvPr>
            <p:ph idx="1"/>
          </p:nvPr>
        </p:nvSpPr>
        <p:spPr>
          <a:xfrm>
            <a:off x="665824" y="1102497"/>
            <a:ext cx="7705819" cy="5367972"/>
          </a:xfrm>
        </p:spPr>
        <p:txBody>
          <a:bodyPr/>
          <a:lstStyle/>
          <a:p>
            <a:r>
              <a:rPr lang="en-US" altLang="en-US" b="1" dirty="0">
                <a:solidFill>
                  <a:srgbClr val="000099"/>
                </a:solidFill>
              </a:rPr>
              <a:t>Serializable</a:t>
            </a:r>
            <a:r>
              <a:rPr lang="en-US" altLang="en-US" b="1" dirty="0"/>
              <a:t> </a:t>
            </a:r>
            <a:r>
              <a:rPr lang="en-US" altLang="en-US" dirty="0"/>
              <a:t>— default</a:t>
            </a:r>
          </a:p>
          <a:p>
            <a:r>
              <a:rPr lang="en-US" altLang="en-US" b="1" dirty="0">
                <a:solidFill>
                  <a:srgbClr val="000099"/>
                </a:solidFill>
              </a:rPr>
              <a:t>Repeatable read</a:t>
            </a:r>
            <a:r>
              <a:rPr lang="en-US" altLang="en-US" b="1" dirty="0"/>
              <a:t> </a:t>
            </a:r>
            <a:r>
              <a:rPr lang="en-US" altLang="en-US" dirty="0"/>
              <a:t>—</a:t>
            </a:r>
            <a:r>
              <a:rPr lang="en-US" altLang="en-US" b="1" dirty="0"/>
              <a:t> </a:t>
            </a:r>
            <a:r>
              <a:rPr lang="en-US" altLang="en-US" dirty="0"/>
              <a:t>only committed records to be read. </a:t>
            </a:r>
          </a:p>
          <a:p>
            <a:pPr lvl="1"/>
            <a:r>
              <a:rPr lang="en-US" altLang="en-US" dirty="0"/>
              <a:t>Repeated reads of same record must return same value.</a:t>
            </a:r>
          </a:p>
          <a:p>
            <a:pPr lvl="1"/>
            <a:r>
              <a:rPr lang="en-US" altLang="en-US" dirty="0"/>
              <a:t>However, a transaction may not be serializable – it may find some records inserted by a transaction but not find others.</a:t>
            </a:r>
          </a:p>
          <a:p>
            <a:r>
              <a:rPr lang="en-US" altLang="en-US" b="1" dirty="0">
                <a:solidFill>
                  <a:srgbClr val="000099"/>
                </a:solidFill>
              </a:rPr>
              <a:t>Read committed</a:t>
            </a:r>
            <a:r>
              <a:rPr lang="en-US" altLang="en-US" b="1" dirty="0"/>
              <a:t> </a:t>
            </a:r>
            <a:r>
              <a:rPr lang="en-US" altLang="en-US" dirty="0"/>
              <a:t>—</a:t>
            </a:r>
            <a:r>
              <a:rPr lang="en-US" altLang="en-US" b="1" dirty="0"/>
              <a:t> </a:t>
            </a:r>
            <a:r>
              <a:rPr lang="en-US" altLang="en-US" dirty="0"/>
              <a:t>only committed records can be read.</a:t>
            </a:r>
          </a:p>
          <a:p>
            <a:pPr lvl="1"/>
            <a:r>
              <a:rPr lang="en-US" altLang="en-US" dirty="0"/>
              <a:t>Successive reads of record may return different (but committed) values.</a:t>
            </a:r>
          </a:p>
          <a:p>
            <a:r>
              <a:rPr lang="en-US" altLang="en-US" b="1" dirty="0">
                <a:solidFill>
                  <a:srgbClr val="000099"/>
                </a:solidFill>
              </a:rPr>
              <a:t>Read uncommitted</a:t>
            </a:r>
            <a:r>
              <a:rPr lang="en-US" altLang="en-US" dirty="0"/>
              <a:t> —</a:t>
            </a:r>
            <a:r>
              <a:rPr lang="en-US" altLang="en-US" b="1" dirty="0"/>
              <a:t> </a:t>
            </a:r>
            <a:r>
              <a:rPr lang="en-US" altLang="en-US" dirty="0"/>
              <a:t>even uncommitted records may be read. </a:t>
            </a:r>
            <a:endParaRPr lang="en-US" altLang="en-US" b="1" dirty="0"/>
          </a:p>
        </p:txBody>
      </p:sp>
      <p:sp>
        <p:nvSpPr>
          <p:cNvPr id="38916" name="Rectangle 5"/>
          <p:cNvSpPr>
            <a:spLocks noChangeArrowheads="1"/>
          </p:cNvSpPr>
          <p:nvPr/>
        </p:nvSpPr>
        <p:spPr bwMode="auto">
          <a:xfrm>
            <a:off x="538163" y="4135438"/>
            <a:ext cx="752792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lang="en-US" altLang="en-US" sz="18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Levels of Consistency</a:t>
            </a:r>
          </a:p>
        </p:txBody>
      </p:sp>
      <p:sp>
        <p:nvSpPr>
          <p:cNvPr id="2" name="Content Placeholder 1">
            <a:extLst>
              <a:ext uri="{FF2B5EF4-FFF2-40B4-BE49-F238E27FC236}">
                <a16:creationId xmlns:a16="http://schemas.microsoft.com/office/drawing/2014/main" id="{E247170A-C2C0-4F36-8AA4-43A13105431D}"/>
              </a:ext>
            </a:extLst>
          </p:cNvPr>
          <p:cNvSpPr>
            <a:spLocks noGrp="1"/>
          </p:cNvSpPr>
          <p:nvPr>
            <p:ph idx="1"/>
          </p:nvPr>
        </p:nvSpPr>
        <p:spPr>
          <a:xfrm>
            <a:off x="692458" y="1102497"/>
            <a:ext cx="7750206" cy="5367972"/>
          </a:xfrm>
        </p:spPr>
        <p:txBody>
          <a:bodyPr/>
          <a:lstStyle/>
          <a:p>
            <a:r>
              <a:rPr lang="en-US" dirty="0"/>
              <a:t>Lower degrees of consistency useful for gathering approximate</a:t>
            </a:r>
            <a:br>
              <a:rPr lang="en-US" dirty="0"/>
            </a:br>
            <a:r>
              <a:rPr lang="en-US" dirty="0"/>
              <a:t>information about the database </a:t>
            </a:r>
          </a:p>
          <a:p>
            <a:r>
              <a:rPr lang="en-US" dirty="0"/>
              <a:t>Warning: some database systems do not ensure serializable schedules by default</a:t>
            </a:r>
          </a:p>
          <a:p>
            <a:r>
              <a:rPr lang="en-US" dirty="0"/>
              <a:t>E.g., Oracle (and PostgreSQL prior to version 9) by default support a level of consistency called snapshot isolation (not part of the SQL standard)</a:t>
            </a:r>
          </a:p>
          <a:p>
            <a:endParaRPr lang="en-IN" dirty="0"/>
          </a:p>
        </p:txBody>
      </p:sp>
      <p:sp>
        <p:nvSpPr>
          <p:cNvPr id="39939" name="Rectangle 5"/>
          <p:cNvSpPr>
            <a:spLocks noChangeArrowheads="1"/>
          </p:cNvSpPr>
          <p:nvPr/>
        </p:nvSpPr>
        <p:spPr bwMode="auto">
          <a:xfrm>
            <a:off x="1147763" y="1163638"/>
            <a:ext cx="7005637" cy="29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lang="en-US" altLang="en-US"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Definition in SQL</a:t>
            </a:r>
          </a:p>
        </p:txBody>
      </p:sp>
      <p:sp>
        <p:nvSpPr>
          <p:cNvPr id="40963" name="Rectangle 3"/>
          <p:cNvSpPr>
            <a:spLocks noGrp="1" noChangeArrowheads="1"/>
          </p:cNvSpPr>
          <p:nvPr>
            <p:ph idx="1"/>
          </p:nvPr>
        </p:nvSpPr>
        <p:spPr>
          <a:xfrm>
            <a:off x="639192" y="1102497"/>
            <a:ext cx="7927759" cy="5367972"/>
          </a:xfrm>
        </p:spPr>
        <p:txBody>
          <a:bodyPr/>
          <a:lstStyle/>
          <a:p>
            <a:r>
              <a:rPr lang="en-US" altLang="en-US" dirty="0"/>
              <a:t>In SQL, a transaction begins implicitly.</a:t>
            </a:r>
          </a:p>
          <a:p>
            <a:r>
              <a:rPr lang="en-US" altLang="en-US" dirty="0"/>
              <a:t>A transaction in SQL ends by:</a:t>
            </a:r>
          </a:p>
          <a:p>
            <a:pPr lvl="1"/>
            <a:r>
              <a:rPr lang="en-US" altLang="en-US" b="1" dirty="0"/>
              <a:t>Commit work</a:t>
            </a:r>
            <a:r>
              <a:rPr lang="en-US" altLang="en-US" dirty="0"/>
              <a:t> commits current transaction and begins a new one.</a:t>
            </a:r>
          </a:p>
          <a:p>
            <a:pPr lvl="1"/>
            <a:r>
              <a:rPr lang="en-US" altLang="en-US" b="1" dirty="0"/>
              <a:t>Rollback work</a:t>
            </a:r>
            <a:r>
              <a:rPr lang="en-US" altLang="en-US" dirty="0"/>
              <a:t> causes current transaction to abort.</a:t>
            </a:r>
          </a:p>
          <a:p>
            <a:r>
              <a:rPr lang="en-US" altLang="en-US" dirty="0"/>
              <a:t>In almost all database systems, by default, every SQL statement also commits implicitly if it executes successfully</a:t>
            </a:r>
          </a:p>
          <a:p>
            <a:pPr lvl="1"/>
            <a:r>
              <a:rPr lang="en-US" altLang="en-US" dirty="0"/>
              <a:t>Implicit commit can be turned off by a database directive</a:t>
            </a:r>
          </a:p>
          <a:p>
            <a:pPr lvl="2"/>
            <a:r>
              <a:rPr lang="en-US" altLang="en-US" dirty="0"/>
              <a:t>E.g., in JDBC -- </a:t>
            </a:r>
            <a:r>
              <a:rPr lang="en-US" altLang="en-US" dirty="0" err="1"/>
              <a:t>connection.setAutoCommit</a:t>
            </a:r>
            <a:r>
              <a:rPr lang="en-US" altLang="en-US" dirty="0"/>
              <a:t>(false);</a:t>
            </a:r>
          </a:p>
          <a:p>
            <a:r>
              <a:rPr lang="en-US" altLang="en-US" dirty="0"/>
              <a:t>Isolation level can be set at database level</a:t>
            </a:r>
          </a:p>
          <a:p>
            <a:r>
              <a:rPr lang="en-US" altLang="en-US" dirty="0"/>
              <a:t>Isolation level can be changed at start of transaction</a:t>
            </a:r>
          </a:p>
          <a:p>
            <a:pPr lvl="2"/>
            <a:r>
              <a:rPr lang="en-US" altLang="en-US" dirty="0"/>
              <a:t>E.g.  In SQL </a:t>
            </a:r>
            <a:r>
              <a:rPr lang="en-US" altLang="en-US" b="1" dirty="0"/>
              <a:t>set transaction isolation level serializable</a:t>
            </a:r>
          </a:p>
          <a:p>
            <a:pPr lvl="2"/>
            <a:r>
              <a:rPr lang="en-US" altLang="en-US" dirty="0"/>
              <a:t>E.g. in JDBC --  </a:t>
            </a:r>
            <a:r>
              <a:rPr lang="en-US" altLang="en-US" dirty="0" err="1"/>
              <a:t>connection.setTransactionIsolation</a:t>
            </a:r>
            <a:r>
              <a:rPr lang="en-US" altLang="en-US" dirty="0"/>
              <a:t>(      </a:t>
            </a:r>
            <a:br>
              <a:rPr lang="en-US" altLang="en-US" dirty="0"/>
            </a:br>
            <a:r>
              <a:rPr lang="en-US" altLang="en-US" dirty="0"/>
              <a:t>                                     </a:t>
            </a:r>
            <a:r>
              <a:rPr lang="en-US" altLang="en-US" dirty="0" err="1"/>
              <a:t>Connection.TRANSACTION_SERIALIZABLE</a:t>
            </a:r>
            <a:r>
              <a:rPr lang="en-US" altLang="en-US" dirty="0"/>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1ACAF-F04B-44BB-A5C2-EAE4A5FBD7DE}"/>
              </a:ext>
            </a:extLst>
          </p:cNvPr>
          <p:cNvSpPr>
            <a:spLocks noGrp="1"/>
          </p:cNvSpPr>
          <p:nvPr>
            <p:ph type="title"/>
          </p:nvPr>
        </p:nvSpPr>
        <p:spPr/>
        <p:txBody>
          <a:bodyPr/>
          <a:lstStyle/>
          <a:p>
            <a:r>
              <a:rPr lang="en-IN" dirty="0"/>
              <a:t>Implementation of Isolation Levels</a:t>
            </a:r>
          </a:p>
        </p:txBody>
      </p:sp>
      <p:sp>
        <p:nvSpPr>
          <p:cNvPr id="3" name="Content Placeholder 2">
            <a:extLst>
              <a:ext uri="{FF2B5EF4-FFF2-40B4-BE49-F238E27FC236}">
                <a16:creationId xmlns:a16="http://schemas.microsoft.com/office/drawing/2014/main" id="{96E06DFC-E228-4A51-A4C2-91BB66D41B27}"/>
              </a:ext>
            </a:extLst>
          </p:cNvPr>
          <p:cNvSpPr>
            <a:spLocks noGrp="1"/>
          </p:cNvSpPr>
          <p:nvPr>
            <p:ph idx="1"/>
          </p:nvPr>
        </p:nvSpPr>
        <p:spPr>
          <a:xfrm>
            <a:off x="674702" y="1102497"/>
            <a:ext cx="7741329" cy="5367972"/>
          </a:xfrm>
        </p:spPr>
        <p:txBody>
          <a:bodyPr/>
          <a:lstStyle/>
          <a:p>
            <a:r>
              <a:rPr lang="en-IN" dirty="0"/>
              <a:t>Locking</a:t>
            </a:r>
          </a:p>
          <a:p>
            <a:pPr lvl="1"/>
            <a:r>
              <a:rPr lang="en-IN" dirty="0"/>
              <a:t>Lock on whole database vs lock on items</a:t>
            </a:r>
          </a:p>
          <a:p>
            <a:pPr lvl="1"/>
            <a:r>
              <a:rPr lang="en-IN" dirty="0"/>
              <a:t>How long to hold lock?</a:t>
            </a:r>
          </a:p>
          <a:p>
            <a:pPr lvl="1"/>
            <a:r>
              <a:rPr lang="en-IN" dirty="0"/>
              <a:t>Shared vs exclusive locks</a:t>
            </a:r>
          </a:p>
          <a:p>
            <a:r>
              <a:rPr lang="en-IN" dirty="0"/>
              <a:t>Timestamps</a:t>
            </a:r>
          </a:p>
          <a:p>
            <a:pPr lvl="1"/>
            <a:r>
              <a:rPr lang="en-IN" dirty="0"/>
              <a:t>Transaction timestamp assigned e.g. when a transaction begins</a:t>
            </a:r>
          </a:p>
          <a:p>
            <a:pPr lvl="1"/>
            <a:r>
              <a:rPr lang="en-IN" dirty="0"/>
              <a:t>Data items store two timestamps</a:t>
            </a:r>
          </a:p>
          <a:p>
            <a:pPr lvl="2"/>
            <a:r>
              <a:rPr lang="en-IN" dirty="0"/>
              <a:t>Read timestamp</a:t>
            </a:r>
          </a:p>
          <a:p>
            <a:pPr lvl="2"/>
            <a:r>
              <a:rPr lang="en-IN" dirty="0"/>
              <a:t>Write timestamp</a:t>
            </a:r>
          </a:p>
          <a:p>
            <a:pPr lvl="1"/>
            <a:r>
              <a:rPr lang="en-IN" dirty="0"/>
              <a:t>Timestamps are used to detect out of order accesses</a:t>
            </a:r>
          </a:p>
          <a:p>
            <a:r>
              <a:rPr lang="en-IN" dirty="0"/>
              <a:t>Multiple versions of each data item</a:t>
            </a:r>
          </a:p>
          <a:p>
            <a:pPr lvl="1"/>
            <a:r>
              <a:rPr lang="en-IN" dirty="0"/>
              <a:t>Allow transactions to read from a “snapshot” of the database</a:t>
            </a:r>
          </a:p>
        </p:txBody>
      </p:sp>
    </p:spTree>
    <p:extLst>
      <p:ext uri="{BB962C8B-B14F-4D97-AF65-F5344CB8AC3E}">
        <p14:creationId xmlns:p14="http://schemas.microsoft.com/office/powerpoint/2010/main" val="33450825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36548-0516-4E04-B705-F7A54C9E8ABE}"/>
              </a:ext>
            </a:extLst>
          </p:cNvPr>
          <p:cNvSpPr>
            <a:spLocks noGrp="1"/>
          </p:cNvSpPr>
          <p:nvPr>
            <p:ph type="title"/>
          </p:nvPr>
        </p:nvSpPr>
        <p:spPr/>
        <p:txBody>
          <a:bodyPr/>
          <a:lstStyle/>
          <a:p>
            <a:r>
              <a:rPr lang="en-IN" dirty="0"/>
              <a:t>Transactions as SQL Statements</a:t>
            </a:r>
          </a:p>
        </p:txBody>
      </p:sp>
      <p:sp>
        <p:nvSpPr>
          <p:cNvPr id="3" name="Content Placeholder 2">
            <a:extLst>
              <a:ext uri="{FF2B5EF4-FFF2-40B4-BE49-F238E27FC236}">
                <a16:creationId xmlns:a16="http://schemas.microsoft.com/office/drawing/2014/main" id="{F275E497-18AF-475A-B6A4-049AF234E8D0}"/>
              </a:ext>
            </a:extLst>
          </p:cNvPr>
          <p:cNvSpPr>
            <a:spLocks noGrp="1"/>
          </p:cNvSpPr>
          <p:nvPr>
            <p:ph idx="1"/>
          </p:nvPr>
        </p:nvSpPr>
        <p:spPr>
          <a:xfrm>
            <a:off x="630314" y="1003107"/>
            <a:ext cx="8215235" cy="5367972"/>
          </a:xfrm>
        </p:spPr>
        <p:txBody>
          <a:bodyPr/>
          <a:lstStyle/>
          <a:p>
            <a:r>
              <a:rPr lang="en-IN" dirty="0"/>
              <a:t>E.g., Transaction 1:</a:t>
            </a:r>
            <a:br>
              <a:rPr lang="en-IN" dirty="0"/>
            </a:br>
            <a:r>
              <a:rPr lang="en-IN" sz="1800" dirty="0"/>
              <a:t>   </a:t>
            </a:r>
            <a:r>
              <a:rPr lang="en-IN" b="1" dirty="0"/>
              <a:t>select</a:t>
            </a:r>
            <a:r>
              <a:rPr lang="en-IN" dirty="0"/>
              <a:t> </a:t>
            </a:r>
            <a:r>
              <a:rPr lang="en-IN" i="1" dirty="0"/>
              <a:t>ID, name  </a:t>
            </a:r>
            <a:r>
              <a:rPr lang="en-IN" dirty="0"/>
              <a:t> </a:t>
            </a:r>
            <a:r>
              <a:rPr lang="en-IN" b="1" dirty="0"/>
              <a:t>from  </a:t>
            </a:r>
            <a:r>
              <a:rPr lang="en-IN" i="1" dirty="0"/>
              <a:t>instructor   </a:t>
            </a:r>
            <a:r>
              <a:rPr lang="en-IN" b="1" dirty="0"/>
              <a:t>where</a:t>
            </a:r>
            <a:r>
              <a:rPr lang="en-IN" dirty="0"/>
              <a:t> </a:t>
            </a:r>
            <a:r>
              <a:rPr lang="en-IN" i="1" dirty="0"/>
              <a:t>salary</a:t>
            </a:r>
            <a:r>
              <a:rPr lang="en-IN" dirty="0"/>
              <a:t> &gt; 90000</a:t>
            </a:r>
            <a:endParaRPr lang="en-IN" sz="1800" dirty="0"/>
          </a:p>
          <a:p>
            <a:r>
              <a:rPr lang="en-IN" dirty="0"/>
              <a:t>E.g., Transaction 2:</a:t>
            </a:r>
            <a:br>
              <a:rPr lang="en-IN" dirty="0"/>
            </a:br>
            <a:r>
              <a:rPr lang="en-IN" dirty="0"/>
              <a:t>   </a:t>
            </a:r>
            <a:r>
              <a:rPr lang="en-IN" b="1" dirty="0"/>
              <a:t>insert into</a:t>
            </a:r>
            <a:r>
              <a:rPr lang="en-IN" dirty="0"/>
              <a:t> </a:t>
            </a:r>
            <a:r>
              <a:rPr lang="en-IN" i="1" dirty="0"/>
              <a:t>instructor</a:t>
            </a:r>
            <a:r>
              <a:rPr lang="en-IN" dirty="0"/>
              <a:t> </a:t>
            </a:r>
            <a:r>
              <a:rPr lang="en-IN" b="1" dirty="0"/>
              <a:t>values</a:t>
            </a:r>
            <a:r>
              <a:rPr lang="en-IN" dirty="0"/>
              <a:t> ('11111', 'James', 'Marketing', 100000)</a:t>
            </a:r>
          </a:p>
          <a:p>
            <a:r>
              <a:rPr lang="en-IN" dirty="0"/>
              <a:t>Suppose </a:t>
            </a:r>
          </a:p>
          <a:p>
            <a:pPr lvl="1"/>
            <a:r>
              <a:rPr lang="en-IN" dirty="0"/>
              <a:t>T1 starts, finds tuples salary &gt; 90000 using index and locks them</a:t>
            </a:r>
          </a:p>
          <a:p>
            <a:pPr lvl="1"/>
            <a:r>
              <a:rPr lang="en-IN" dirty="0"/>
              <a:t>And then T2 executes.  </a:t>
            </a:r>
          </a:p>
          <a:p>
            <a:pPr lvl="1"/>
            <a:r>
              <a:rPr lang="en-IN" dirty="0"/>
              <a:t>Do T1 and T2 conflict?  Does tuple level locking detect the conflict?</a:t>
            </a:r>
          </a:p>
          <a:p>
            <a:pPr lvl="1"/>
            <a:r>
              <a:rPr lang="en-IN" dirty="0"/>
              <a:t>Instance of the </a:t>
            </a:r>
            <a:r>
              <a:rPr lang="en-IN" b="1" dirty="0">
                <a:solidFill>
                  <a:srgbClr val="002060"/>
                </a:solidFill>
              </a:rPr>
              <a:t>phantom phenomenon</a:t>
            </a:r>
          </a:p>
          <a:p>
            <a:r>
              <a:rPr lang="en-IN" dirty="0"/>
              <a:t>Also consider T3 below, with Wu’s salary = 90000 </a:t>
            </a:r>
            <a:br>
              <a:rPr lang="en-IN" dirty="0"/>
            </a:br>
            <a:r>
              <a:rPr lang="en-IN" sz="1800" dirty="0"/>
              <a:t>    </a:t>
            </a:r>
            <a:r>
              <a:rPr lang="en-IN" sz="1800" b="1" dirty="0"/>
              <a:t>update</a:t>
            </a:r>
            <a:r>
              <a:rPr lang="en-IN" sz="1800" dirty="0"/>
              <a:t> </a:t>
            </a:r>
            <a:r>
              <a:rPr lang="en-IN" sz="1800" i="1" dirty="0"/>
              <a:t>instructor</a:t>
            </a:r>
            <a:br>
              <a:rPr lang="en-IN" sz="1800" dirty="0"/>
            </a:br>
            <a:r>
              <a:rPr lang="en-IN" sz="1800" dirty="0"/>
              <a:t>    </a:t>
            </a:r>
            <a:r>
              <a:rPr lang="en-IN" sz="1800" b="1" dirty="0"/>
              <a:t>set</a:t>
            </a:r>
            <a:r>
              <a:rPr lang="en-IN" sz="1800" dirty="0"/>
              <a:t> </a:t>
            </a:r>
            <a:r>
              <a:rPr lang="en-IN" sz="1800" i="1" dirty="0"/>
              <a:t>salary</a:t>
            </a:r>
            <a:r>
              <a:rPr lang="en-IN" sz="1800" dirty="0"/>
              <a:t> = </a:t>
            </a:r>
            <a:r>
              <a:rPr lang="en-IN" sz="1800" i="1" dirty="0"/>
              <a:t>salary</a:t>
            </a:r>
            <a:r>
              <a:rPr lang="en-IN" sz="1800" dirty="0"/>
              <a:t> * 1.1</a:t>
            </a:r>
            <a:br>
              <a:rPr lang="en-IN" sz="1800" dirty="0"/>
            </a:br>
            <a:r>
              <a:rPr lang="en-IN" sz="1800" dirty="0"/>
              <a:t>    </a:t>
            </a:r>
            <a:r>
              <a:rPr lang="en-IN" sz="1800" b="1" dirty="0"/>
              <a:t>where</a:t>
            </a:r>
            <a:r>
              <a:rPr lang="en-IN" sz="1800" dirty="0"/>
              <a:t> </a:t>
            </a:r>
            <a:r>
              <a:rPr lang="en-IN" sz="1800" i="1" dirty="0"/>
              <a:t>name</a:t>
            </a:r>
            <a:r>
              <a:rPr lang="en-IN" sz="1800" dirty="0"/>
              <a:t> = 'Wu’ </a:t>
            </a:r>
          </a:p>
          <a:p>
            <a:r>
              <a:rPr lang="en-IN" dirty="0"/>
              <a:t>Key idea:  Detect “</a:t>
            </a:r>
            <a:r>
              <a:rPr lang="en-IN" b="1" dirty="0">
                <a:solidFill>
                  <a:srgbClr val="002060"/>
                </a:solidFill>
              </a:rPr>
              <a:t>predicate</a:t>
            </a:r>
            <a:r>
              <a:rPr lang="en-IN" dirty="0"/>
              <a:t>” conflicts, and use some form of  “</a:t>
            </a:r>
            <a:r>
              <a:rPr lang="en-IN" b="1" dirty="0">
                <a:solidFill>
                  <a:srgbClr val="002060"/>
                </a:solidFill>
              </a:rPr>
              <a:t>predicate locking</a:t>
            </a:r>
            <a:r>
              <a:rPr lang="en-IN" dirty="0"/>
              <a:t>”</a:t>
            </a:r>
          </a:p>
        </p:txBody>
      </p:sp>
    </p:spTree>
    <p:extLst>
      <p:ext uri="{BB962C8B-B14F-4D97-AF65-F5344CB8AC3E}">
        <p14:creationId xmlns:p14="http://schemas.microsoft.com/office/powerpoint/2010/main" val="2627481864"/>
      </p:ext>
    </p:extLst>
  </p:cSld>
  <p:clrMapOvr>
    <a:masterClrMapping/>
  </p:clrMapOvr>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854B61EF-CFBF-4F4D-90C6-BAB015E35D01}" vid="{BC3EFCCA-7EC7-446B-8189-3ECEF79E326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Template>
  <TotalTime>56973</TotalTime>
  <Words>5222</Words>
  <Application>Microsoft Office PowerPoint</Application>
  <PresentationFormat>On-screen Show (4:3)</PresentationFormat>
  <Paragraphs>645</Paragraphs>
  <Slides>72</Slides>
  <Notes>55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72</vt:i4>
      </vt:variant>
    </vt:vector>
  </HeadingPairs>
  <TitlesOfParts>
    <vt:vector size="82" baseType="lpstr">
      <vt:lpstr>Aptos Narrow</vt:lpstr>
      <vt:lpstr>Arial</vt:lpstr>
      <vt:lpstr>Calibri</vt:lpstr>
      <vt:lpstr>Helvetica</vt:lpstr>
      <vt:lpstr>Monotype Sorts</vt:lpstr>
      <vt:lpstr>Symbol</vt:lpstr>
      <vt:lpstr>Times New Roman</vt:lpstr>
      <vt:lpstr>Webdings</vt:lpstr>
      <vt:lpstr>Wingdings</vt:lpstr>
      <vt:lpstr>db</vt:lpstr>
      <vt:lpstr>Module 17: Transactions </vt:lpstr>
      <vt:lpstr>Outline</vt:lpstr>
      <vt:lpstr>Transaction Concept</vt:lpstr>
      <vt:lpstr>Example of Fund Transfer</vt:lpstr>
      <vt:lpstr>Example of Fund Transfer (Cont.)</vt:lpstr>
      <vt:lpstr>Example of Fund Transfer (Cont.)</vt:lpstr>
      <vt:lpstr>ACID Properties</vt:lpstr>
      <vt:lpstr>PowerPoint Presentation</vt:lpstr>
      <vt:lpstr>Transaction State</vt:lpstr>
      <vt:lpstr>Transaction State (Cont.)</vt:lpstr>
      <vt:lpstr>Concurrent Executions</vt:lpstr>
      <vt:lpstr>five concurrency problems</vt:lpstr>
      <vt:lpstr>DIRTY READ PROBLEM</vt:lpstr>
      <vt:lpstr>Incorrect Summary Problem</vt:lpstr>
      <vt:lpstr>Lost Update Problem</vt:lpstr>
      <vt:lpstr>Unrepeatable Read Problem</vt:lpstr>
      <vt:lpstr>Phantom Read Problem</vt:lpstr>
      <vt:lpstr>Schedules</vt:lpstr>
      <vt:lpstr>Example Schedules</vt:lpstr>
      <vt:lpstr>Continue….</vt:lpstr>
      <vt:lpstr>PowerPoint Presentation</vt:lpstr>
      <vt:lpstr>Recoverable Schedules</vt:lpstr>
      <vt:lpstr>Cascading Rollbacks</vt:lpstr>
      <vt:lpstr>Cascadeless Schedules</vt:lpstr>
      <vt:lpstr>IRRECOVERABLE SCHEDULE</vt:lpstr>
      <vt:lpstr>CASCADDING &amp; CASCADELESS  SCHEDULE</vt:lpstr>
      <vt:lpstr>CASCADDING &amp; CASCADELESS  SCHEDULE</vt:lpstr>
      <vt:lpstr>Serializability</vt:lpstr>
      <vt:lpstr>Serializability</vt:lpstr>
      <vt:lpstr>Conflicting Instructions </vt:lpstr>
      <vt:lpstr>Serializability</vt:lpstr>
      <vt:lpstr>SERIALIZABILITY</vt:lpstr>
      <vt:lpstr>Simplified view of transactions</vt:lpstr>
      <vt:lpstr>Conflict Serializability</vt:lpstr>
      <vt:lpstr>PowerPoint Presentation</vt:lpstr>
      <vt:lpstr>Conflict Serializability (Cont.)</vt:lpstr>
      <vt:lpstr>Conflict Serializability (Cont.)</vt:lpstr>
      <vt:lpstr>Testing for Serializability </vt:lpstr>
      <vt:lpstr>Test for Conflict Serializability</vt:lpstr>
      <vt:lpstr>ARE TWO  SCHEDULES EQUIVALENT</vt:lpstr>
      <vt:lpstr>EXAMPLE-CONFLICT SERIALIZABILITY</vt:lpstr>
      <vt:lpstr>EXAMPLE-CONFLICT SERIALIZABILITY</vt:lpstr>
      <vt:lpstr>Test for View Serializability</vt:lpstr>
      <vt:lpstr>View Serializability</vt:lpstr>
      <vt:lpstr>View Serializability (Cont.)</vt:lpstr>
      <vt:lpstr>Concurrency Control</vt:lpstr>
      <vt:lpstr>Concurrency Control (Cont.)</vt:lpstr>
      <vt:lpstr>Transaction Concept</vt:lpstr>
      <vt:lpstr>Q1: Which of the following is true for a transaction in DBMS? </vt:lpstr>
      <vt:lpstr>ACID Properties</vt:lpstr>
      <vt:lpstr>PowerPoint Presentation</vt:lpstr>
      <vt:lpstr>Example of Fund Transfer</vt:lpstr>
      <vt:lpstr>Transaction States</vt:lpstr>
      <vt:lpstr>PowerPoint Presentation</vt:lpstr>
      <vt:lpstr>Schedules</vt:lpstr>
      <vt:lpstr>Serializability</vt:lpstr>
      <vt:lpstr>Conflict Serializability</vt:lpstr>
      <vt:lpstr>Concurrent Execution</vt:lpstr>
      <vt:lpstr>View Serializability</vt:lpstr>
      <vt:lpstr>All conflict serializable schedules are view serializable, but not vice versa</vt:lpstr>
      <vt:lpstr>S2 is view serializable but not conflict serializable</vt:lpstr>
      <vt:lpstr>Q?  A Schedule is serializable if: </vt:lpstr>
      <vt:lpstr>Q?</vt:lpstr>
      <vt:lpstr>Recoverability</vt:lpstr>
      <vt:lpstr>Other Notions of Serializability</vt:lpstr>
      <vt:lpstr>Concurrency Control vs. Serializability Tests</vt:lpstr>
      <vt:lpstr>Weak Levels of Consistency</vt:lpstr>
      <vt:lpstr>Levels of Consistency in SQL-92</vt:lpstr>
      <vt:lpstr>Levels of Consistency</vt:lpstr>
      <vt:lpstr>Transaction Definition in SQL</vt:lpstr>
      <vt:lpstr>Implementation of Isolation Levels</vt:lpstr>
      <vt:lpstr>Transactions as SQL Statements</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Transactions</dc:title>
  <dc:creator>Silberschatz;Korth and Sudarshan</dc:creator>
  <cp:lastModifiedBy>Nishant Ninawe</cp:lastModifiedBy>
  <cp:revision>645</cp:revision>
  <cp:lastPrinted>1999-06-28T19:27:31Z</cp:lastPrinted>
  <dcterms:created xsi:type="dcterms:W3CDTF">2009-12-21T15:40:23Z</dcterms:created>
  <dcterms:modified xsi:type="dcterms:W3CDTF">2025-11-22T13:15:39Z</dcterms:modified>
</cp:coreProperties>
</file>